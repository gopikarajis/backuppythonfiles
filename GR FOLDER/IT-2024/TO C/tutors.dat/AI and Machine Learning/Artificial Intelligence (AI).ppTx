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57" r:id="rId3"/>
    <p:sldId id="258" r:id="rId4"/>
    <p:sldId id="259" r:id="rId5"/>
    <p:sldId id="260" r:id="rId6"/>
    <p:sldId id="261" r:id="rId7"/>
    <p:sldId id="263" r:id="rId8"/>
    <p:sldId id="262"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2" r:id="rId47"/>
    <p:sldId id="303" r:id="rId48"/>
    <p:sldId id="304" r:id="rId49"/>
    <p:sldId id="305" r:id="rId50"/>
    <p:sldId id="306" r:id="rId51"/>
    <p:sldId id="307" r:id="rId5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5" autoAdjust="0"/>
    <p:restoredTop sz="94660"/>
  </p:normalViewPr>
  <p:slideViewPr>
    <p:cSldViewPr snapToGrid="0">
      <p:cViewPr varScale="1">
        <p:scale>
          <a:sx n="68" d="100"/>
          <a:sy n="68" d="100"/>
        </p:scale>
        <p:origin x="90"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openxmlformats.org/officeDocument/2006/relationships/slide" Target="slides/slide38.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41" Type="http://schemas.openxmlformats.org/officeDocument/2006/relationships/slide" Target="slides/slide40.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microsoft.com/office/2016/11/relationships/changesInfo" Target="changesInfos/changesInfo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tableStyles" Target="tableStyles.xml"/><Relationship Id="rId8" Type="http://schemas.openxmlformats.org/officeDocument/2006/relationships/slide" Target="slides/slide7.xml"/><Relationship Id="rId51" Type="http://schemas.openxmlformats.org/officeDocument/2006/relationships/slide" Target="slides/slide50.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RAKESH KC" userId="df5499a37cae8259" providerId="LiveId" clId="{DF20ACC0-41EB-4F47-8F92-73A3E05B2E18}"/>
    <pc:docChg chg="modSld modMainMaster">
      <pc:chgData name="RAKESH KC" userId="df5499a37cae8259" providerId="LiveId" clId="{DF20ACC0-41EB-4F47-8F92-73A3E05B2E18}" dt="2023-05-20T10:25:44.197" v="24" actId="1076"/>
      <pc:docMkLst>
        <pc:docMk/>
      </pc:docMkLst>
      <pc:sldChg chg="setBg">
        <pc:chgData name="RAKESH KC" userId="df5499a37cae8259" providerId="LiveId" clId="{DF20ACC0-41EB-4F47-8F92-73A3E05B2E18}" dt="2023-05-20T10:22:16.286" v="3"/>
        <pc:sldMkLst>
          <pc:docMk/>
          <pc:sldMk cId="4247715622" sldId="256"/>
        </pc:sldMkLst>
      </pc:sldChg>
      <pc:sldChg chg="modSp mod">
        <pc:chgData name="RAKESH KC" userId="df5499a37cae8259" providerId="LiveId" clId="{DF20ACC0-41EB-4F47-8F92-73A3E05B2E18}" dt="2023-05-20T10:22:29.836" v="7" actId="1076"/>
        <pc:sldMkLst>
          <pc:docMk/>
          <pc:sldMk cId="4060348834" sldId="259"/>
        </pc:sldMkLst>
        <pc:spChg chg="mod">
          <ac:chgData name="RAKESH KC" userId="df5499a37cae8259" providerId="LiveId" clId="{DF20ACC0-41EB-4F47-8F92-73A3E05B2E18}" dt="2023-05-20T10:22:29.836" v="7" actId="1076"/>
          <ac:spMkLst>
            <pc:docMk/>
            <pc:sldMk cId="4060348834" sldId="259"/>
            <ac:spMk id="2" creationId="{9969EEC0-DD11-3701-F7C6-B3E285F5BC3F}"/>
          </ac:spMkLst>
        </pc:spChg>
      </pc:sldChg>
      <pc:sldChg chg="modSp mod">
        <pc:chgData name="RAKESH KC" userId="df5499a37cae8259" providerId="LiveId" clId="{DF20ACC0-41EB-4F47-8F92-73A3E05B2E18}" dt="2023-05-20T10:22:42.742" v="9" actId="1076"/>
        <pc:sldMkLst>
          <pc:docMk/>
          <pc:sldMk cId="3774146003" sldId="260"/>
        </pc:sldMkLst>
        <pc:spChg chg="mod">
          <ac:chgData name="RAKESH KC" userId="df5499a37cae8259" providerId="LiveId" clId="{DF20ACC0-41EB-4F47-8F92-73A3E05B2E18}" dt="2023-05-20T10:22:42.742" v="9" actId="1076"/>
          <ac:spMkLst>
            <pc:docMk/>
            <pc:sldMk cId="3774146003" sldId="260"/>
            <ac:spMk id="2" creationId="{929CFFCC-83E1-F931-F255-437FC077813C}"/>
          </ac:spMkLst>
        </pc:spChg>
      </pc:sldChg>
      <pc:sldChg chg="modSp mod">
        <pc:chgData name="RAKESH KC" userId="df5499a37cae8259" providerId="LiveId" clId="{DF20ACC0-41EB-4F47-8F92-73A3E05B2E18}" dt="2023-05-20T10:23:11.382" v="11" actId="1076"/>
        <pc:sldMkLst>
          <pc:docMk/>
          <pc:sldMk cId="2343107675" sldId="262"/>
        </pc:sldMkLst>
        <pc:spChg chg="mod">
          <ac:chgData name="RAKESH KC" userId="df5499a37cae8259" providerId="LiveId" clId="{DF20ACC0-41EB-4F47-8F92-73A3E05B2E18}" dt="2023-05-20T10:23:11.382" v="11" actId="1076"/>
          <ac:spMkLst>
            <pc:docMk/>
            <pc:sldMk cId="2343107675" sldId="262"/>
            <ac:spMk id="5" creationId="{B0A7701C-E45A-618D-A9D5-6688FE2DEF19}"/>
          </ac:spMkLst>
        </pc:spChg>
      </pc:sldChg>
      <pc:sldChg chg="modSp mod">
        <pc:chgData name="RAKESH KC" userId="df5499a37cae8259" providerId="LiveId" clId="{DF20ACC0-41EB-4F47-8F92-73A3E05B2E18}" dt="2023-05-20T10:23:25.622" v="13" actId="1076"/>
        <pc:sldMkLst>
          <pc:docMk/>
          <pc:sldMk cId="4266396223" sldId="264"/>
        </pc:sldMkLst>
        <pc:spChg chg="mod">
          <ac:chgData name="RAKESH KC" userId="df5499a37cae8259" providerId="LiveId" clId="{DF20ACC0-41EB-4F47-8F92-73A3E05B2E18}" dt="2023-05-20T10:23:25.622" v="13" actId="1076"/>
          <ac:spMkLst>
            <pc:docMk/>
            <pc:sldMk cId="4266396223" sldId="264"/>
            <ac:spMk id="2" creationId="{800034E6-F635-A745-526F-CB2461AE21DB}"/>
          </ac:spMkLst>
        </pc:spChg>
      </pc:sldChg>
      <pc:sldChg chg="modSp mod">
        <pc:chgData name="RAKESH KC" userId="df5499a37cae8259" providerId="LiveId" clId="{DF20ACC0-41EB-4F47-8F92-73A3E05B2E18}" dt="2023-05-20T10:23:31.775" v="15" actId="1076"/>
        <pc:sldMkLst>
          <pc:docMk/>
          <pc:sldMk cId="2291159669" sldId="265"/>
        </pc:sldMkLst>
        <pc:spChg chg="mod">
          <ac:chgData name="RAKESH KC" userId="df5499a37cae8259" providerId="LiveId" clId="{DF20ACC0-41EB-4F47-8F92-73A3E05B2E18}" dt="2023-05-20T10:23:31.775" v="15" actId="1076"/>
          <ac:spMkLst>
            <pc:docMk/>
            <pc:sldMk cId="2291159669" sldId="265"/>
            <ac:spMk id="2" creationId="{478D6C6B-314D-33EC-A447-C23EF4EA7103}"/>
          </ac:spMkLst>
        </pc:spChg>
      </pc:sldChg>
      <pc:sldChg chg="modSp mod">
        <pc:chgData name="RAKESH KC" userId="df5499a37cae8259" providerId="LiveId" clId="{DF20ACC0-41EB-4F47-8F92-73A3E05B2E18}" dt="2023-05-20T10:24:49.582" v="16" actId="1076"/>
        <pc:sldMkLst>
          <pc:docMk/>
          <pc:sldMk cId="1448684813" sldId="266"/>
        </pc:sldMkLst>
        <pc:spChg chg="mod">
          <ac:chgData name="RAKESH KC" userId="df5499a37cae8259" providerId="LiveId" clId="{DF20ACC0-41EB-4F47-8F92-73A3E05B2E18}" dt="2023-05-20T10:24:49.582" v="16" actId="1076"/>
          <ac:spMkLst>
            <pc:docMk/>
            <pc:sldMk cId="1448684813" sldId="266"/>
            <ac:spMk id="2" creationId="{07480D7E-2C47-E62B-F7D1-60D7150BBF9B}"/>
          </ac:spMkLst>
        </pc:spChg>
      </pc:sldChg>
      <pc:sldChg chg="modSp mod">
        <pc:chgData name="RAKESH KC" userId="df5499a37cae8259" providerId="LiveId" clId="{DF20ACC0-41EB-4F47-8F92-73A3E05B2E18}" dt="2023-05-20T10:25:08.709" v="18" actId="1076"/>
        <pc:sldMkLst>
          <pc:docMk/>
          <pc:sldMk cId="2521957717" sldId="267"/>
        </pc:sldMkLst>
        <pc:spChg chg="mod">
          <ac:chgData name="RAKESH KC" userId="df5499a37cae8259" providerId="LiveId" clId="{DF20ACC0-41EB-4F47-8F92-73A3E05B2E18}" dt="2023-05-20T10:25:08.709" v="18" actId="1076"/>
          <ac:spMkLst>
            <pc:docMk/>
            <pc:sldMk cId="2521957717" sldId="267"/>
            <ac:spMk id="2" creationId="{94C3ED4D-1184-82BD-47BD-39E1E7C75A58}"/>
          </ac:spMkLst>
        </pc:spChg>
      </pc:sldChg>
      <pc:sldChg chg="modSp mod">
        <pc:chgData name="RAKESH KC" userId="df5499a37cae8259" providerId="LiveId" clId="{DF20ACC0-41EB-4F47-8F92-73A3E05B2E18}" dt="2023-05-20T10:25:16.726" v="20" actId="1076"/>
        <pc:sldMkLst>
          <pc:docMk/>
          <pc:sldMk cId="963342661" sldId="268"/>
        </pc:sldMkLst>
        <pc:spChg chg="mod">
          <ac:chgData name="RAKESH KC" userId="df5499a37cae8259" providerId="LiveId" clId="{DF20ACC0-41EB-4F47-8F92-73A3E05B2E18}" dt="2023-05-20T10:25:16.726" v="20" actId="1076"/>
          <ac:spMkLst>
            <pc:docMk/>
            <pc:sldMk cId="963342661" sldId="268"/>
            <ac:spMk id="2" creationId="{696C3776-5FD0-1A96-FAB4-E00ABB084BF7}"/>
          </ac:spMkLst>
        </pc:spChg>
      </pc:sldChg>
      <pc:sldChg chg="modSp mod">
        <pc:chgData name="RAKESH KC" userId="df5499a37cae8259" providerId="LiveId" clId="{DF20ACC0-41EB-4F47-8F92-73A3E05B2E18}" dt="2023-05-20T10:25:23.325" v="21" actId="1076"/>
        <pc:sldMkLst>
          <pc:docMk/>
          <pc:sldMk cId="813240780" sldId="270"/>
        </pc:sldMkLst>
        <pc:spChg chg="mod">
          <ac:chgData name="RAKESH KC" userId="df5499a37cae8259" providerId="LiveId" clId="{DF20ACC0-41EB-4F47-8F92-73A3E05B2E18}" dt="2023-05-20T10:25:23.325" v="21" actId="1076"/>
          <ac:spMkLst>
            <pc:docMk/>
            <pc:sldMk cId="813240780" sldId="270"/>
            <ac:spMk id="2" creationId="{5B3875AC-E01B-2FEF-F2E7-AEC9B69CEE98}"/>
          </ac:spMkLst>
        </pc:spChg>
      </pc:sldChg>
      <pc:sldChg chg="modSp mod">
        <pc:chgData name="RAKESH KC" userId="df5499a37cae8259" providerId="LiveId" clId="{DF20ACC0-41EB-4F47-8F92-73A3E05B2E18}" dt="2023-05-20T10:25:28.526" v="23" actId="1076"/>
        <pc:sldMkLst>
          <pc:docMk/>
          <pc:sldMk cId="4287650421" sldId="271"/>
        </pc:sldMkLst>
        <pc:spChg chg="mod">
          <ac:chgData name="RAKESH KC" userId="df5499a37cae8259" providerId="LiveId" clId="{DF20ACC0-41EB-4F47-8F92-73A3E05B2E18}" dt="2023-05-20T10:25:28.526" v="23" actId="1076"/>
          <ac:spMkLst>
            <pc:docMk/>
            <pc:sldMk cId="4287650421" sldId="271"/>
            <ac:spMk id="2" creationId="{381FA81E-2927-3364-569E-C6DAA653AA33}"/>
          </ac:spMkLst>
        </pc:spChg>
      </pc:sldChg>
      <pc:sldChg chg="modSp mod">
        <pc:chgData name="RAKESH KC" userId="df5499a37cae8259" providerId="LiveId" clId="{DF20ACC0-41EB-4F47-8F92-73A3E05B2E18}" dt="2023-05-20T10:25:44.197" v="24" actId="1076"/>
        <pc:sldMkLst>
          <pc:docMk/>
          <pc:sldMk cId="687098425" sldId="279"/>
        </pc:sldMkLst>
        <pc:spChg chg="mod">
          <ac:chgData name="RAKESH KC" userId="df5499a37cae8259" providerId="LiveId" clId="{DF20ACC0-41EB-4F47-8F92-73A3E05B2E18}" dt="2023-05-20T10:25:44.197" v="24" actId="1076"/>
          <ac:spMkLst>
            <pc:docMk/>
            <pc:sldMk cId="687098425" sldId="279"/>
            <ac:spMk id="2" creationId="{1385E16F-F5C6-C103-802A-B4770BFC594A}"/>
          </ac:spMkLst>
        </pc:spChg>
      </pc:sldChg>
      <pc:sldMasterChg chg="setBg modSldLayout">
        <pc:chgData name="RAKESH KC" userId="df5499a37cae8259" providerId="LiveId" clId="{DF20ACC0-41EB-4F47-8F92-73A3E05B2E18}" dt="2023-05-20T10:22:16.286" v="3"/>
        <pc:sldMasterMkLst>
          <pc:docMk/>
          <pc:sldMasterMk cId="3558623327" sldId="2147483648"/>
        </pc:sldMasterMkLst>
        <pc:sldLayoutChg chg="setBg">
          <pc:chgData name="RAKESH KC" userId="df5499a37cae8259" providerId="LiveId" clId="{DF20ACC0-41EB-4F47-8F92-73A3E05B2E18}" dt="2023-05-20T10:22:16.286" v="3"/>
          <pc:sldLayoutMkLst>
            <pc:docMk/>
            <pc:sldMasterMk cId="3558623327" sldId="2147483648"/>
            <pc:sldLayoutMk cId="377100634" sldId="2147483649"/>
          </pc:sldLayoutMkLst>
        </pc:sldLayoutChg>
        <pc:sldLayoutChg chg="setBg">
          <pc:chgData name="RAKESH KC" userId="df5499a37cae8259" providerId="LiveId" clId="{DF20ACC0-41EB-4F47-8F92-73A3E05B2E18}" dt="2023-05-20T10:22:16.286" v="3"/>
          <pc:sldLayoutMkLst>
            <pc:docMk/>
            <pc:sldMasterMk cId="3558623327" sldId="2147483648"/>
            <pc:sldLayoutMk cId="3639534054" sldId="2147483650"/>
          </pc:sldLayoutMkLst>
        </pc:sldLayoutChg>
        <pc:sldLayoutChg chg="setBg">
          <pc:chgData name="RAKESH KC" userId="df5499a37cae8259" providerId="LiveId" clId="{DF20ACC0-41EB-4F47-8F92-73A3E05B2E18}" dt="2023-05-20T10:22:16.286" v="3"/>
          <pc:sldLayoutMkLst>
            <pc:docMk/>
            <pc:sldMasterMk cId="3558623327" sldId="2147483648"/>
            <pc:sldLayoutMk cId="3886331864" sldId="2147483651"/>
          </pc:sldLayoutMkLst>
        </pc:sldLayoutChg>
        <pc:sldLayoutChg chg="setBg">
          <pc:chgData name="RAKESH KC" userId="df5499a37cae8259" providerId="LiveId" clId="{DF20ACC0-41EB-4F47-8F92-73A3E05B2E18}" dt="2023-05-20T10:22:16.286" v="3"/>
          <pc:sldLayoutMkLst>
            <pc:docMk/>
            <pc:sldMasterMk cId="3558623327" sldId="2147483648"/>
            <pc:sldLayoutMk cId="4134034458" sldId="2147483652"/>
          </pc:sldLayoutMkLst>
        </pc:sldLayoutChg>
        <pc:sldLayoutChg chg="setBg">
          <pc:chgData name="RAKESH KC" userId="df5499a37cae8259" providerId="LiveId" clId="{DF20ACC0-41EB-4F47-8F92-73A3E05B2E18}" dt="2023-05-20T10:22:16.286" v="3"/>
          <pc:sldLayoutMkLst>
            <pc:docMk/>
            <pc:sldMasterMk cId="3558623327" sldId="2147483648"/>
            <pc:sldLayoutMk cId="1444262887" sldId="2147483653"/>
          </pc:sldLayoutMkLst>
        </pc:sldLayoutChg>
        <pc:sldLayoutChg chg="setBg">
          <pc:chgData name="RAKESH KC" userId="df5499a37cae8259" providerId="LiveId" clId="{DF20ACC0-41EB-4F47-8F92-73A3E05B2E18}" dt="2023-05-20T10:22:16.286" v="3"/>
          <pc:sldLayoutMkLst>
            <pc:docMk/>
            <pc:sldMasterMk cId="3558623327" sldId="2147483648"/>
            <pc:sldLayoutMk cId="4217596476" sldId="2147483654"/>
          </pc:sldLayoutMkLst>
        </pc:sldLayoutChg>
        <pc:sldLayoutChg chg="setBg">
          <pc:chgData name="RAKESH KC" userId="df5499a37cae8259" providerId="LiveId" clId="{DF20ACC0-41EB-4F47-8F92-73A3E05B2E18}" dt="2023-05-20T10:22:16.286" v="3"/>
          <pc:sldLayoutMkLst>
            <pc:docMk/>
            <pc:sldMasterMk cId="3558623327" sldId="2147483648"/>
            <pc:sldLayoutMk cId="3179694457" sldId="2147483655"/>
          </pc:sldLayoutMkLst>
        </pc:sldLayoutChg>
        <pc:sldLayoutChg chg="setBg">
          <pc:chgData name="RAKESH KC" userId="df5499a37cae8259" providerId="LiveId" clId="{DF20ACC0-41EB-4F47-8F92-73A3E05B2E18}" dt="2023-05-20T10:22:16.286" v="3"/>
          <pc:sldLayoutMkLst>
            <pc:docMk/>
            <pc:sldMasterMk cId="3558623327" sldId="2147483648"/>
            <pc:sldLayoutMk cId="2469251511" sldId="2147483656"/>
          </pc:sldLayoutMkLst>
        </pc:sldLayoutChg>
        <pc:sldLayoutChg chg="setBg">
          <pc:chgData name="RAKESH KC" userId="df5499a37cae8259" providerId="LiveId" clId="{DF20ACC0-41EB-4F47-8F92-73A3E05B2E18}" dt="2023-05-20T10:22:16.286" v="3"/>
          <pc:sldLayoutMkLst>
            <pc:docMk/>
            <pc:sldMasterMk cId="3558623327" sldId="2147483648"/>
            <pc:sldLayoutMk cId="318830241" sldId="2147483657"/>
          </pc:sldLayoutMkLst>
        </pc:sldLayoutChg>
        <pc:sldLayoutChg chg="setBg">
          <pc:chgData name="RAKESH KC" userId="df5499a37cae8259" providerId="LiveId" clId="{DF20ACC0-41EB-4F47-8F92-73A3E05B2E18}" dt="2023-05-20T10:22:16.286" v="3"/>
          <pc:sldLayoutMkLst>
            <pc:docMk/>
            <pc:sldMasterMk cId="3558623327" sldId="2147483648"/>
            <pc:sldLayoutMk cId="367785590" sldId="2147483658"/>
          </pc:sldLayoutMkLst>
        </pc:sldLayoutChg>
        <pc:sldLayoutChg chg="setBg">
          <pc:chgData name="RAKESH KC" userId="df5499a37cae8259" providerId="LiveId" clId="{DF20ACC0-41EB-4F47-8F92-73A3E05B2E18}" dt="2023-05-20T10:22:16.286" v="3"/>
          <pc:sldLayoutMkLst>
            <pc:docMk/>
            <pc:sldMasterMk cId="3558623327" sldId="2147483648"/>
            <pc:sldLayoutMk cId="2615773942" sldId="2147483659"/>
          </pc:sldLayoutMkLst>
        </pc:sldLayoutChg>
      </pc:sldMasterChg>
    </pc:docChg>
  </pc:docChgLst>
</pc:chgInfo>
</file>

<file path=ppt/diagrams/colors1.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679CC3B3-111C-4D5D-9873-D25920E8F7C5}" type="doc">
      <dgm:prSet loTypeId="urn:microsoft.com/office/officeart/2005/8/layout/vList2" loCatId="list" qsTypeId="urn:microsoft.com/office/officeart/2005/8/quickstyle/simple1" qsCatId="simple" csTypeId="urn:microsoft.com/office/officeart/2005/8/colors/accent0_3" csCatId="mainScheme"/>
      <dgm:spPr/>
      <dgm:t>
        <a:bodyPr/>
        <a:lstStyle/>
        <a:p>
          <a:endParaRPr lang="en-IN"/>
        </a:p>
      </dgm:t>
    </dgm:pt>
    <dgm:pt modelId="{58FA47B7-6D6A-4535-88B6-C59306C7AB4A}">
      <dgm:prSet/>
      <dgm:spPr/>
      <dgm:t>
        <a:bodyPr/>
        <a:lstStyle/>
        <a:p>
          <a:r>
            <a:rPr lang="en-US" b="0" i="0" dirty="0"/>
            <a:t>As we can see, the first city’s distance to itself is, of course, 0, and, for example, its distance to the third city is 500. One can see that the third city’s distance to the first is also 500 (the first entry of the third array), as it should.</a:t>
          </a:r>
          <a:endParaRPr lang="en-IN" dirty="0"/>
        </a:p>
      </dgm:t>
    </dgm:pt>
    <dgm:pt modelId="{571462CA-D44E-44EE-BEBF-47040E0FBF4E}" type="parTrans" cxnId="{1D7FFD2D-D0AF-4782-BF87-9495946361CF}">
      <dgm:prSet/>
      <dgm:spPr/>
      <dgm:t>
        <a:bodyPr/>
        <a:lstStyle/>
        <a:p>
          <a:endParaRPr lang="en-IN"/>
        </a:p>
      </dgm:t>
    </dgm:pt>
    <dgm:pt modelId="{927E8F7F-C81F-4BDA-9C7E-3CD4E8EA6D88}" type="sibTrans" cxnId="{1D7FFD2D-D0AF-4782-BF87-9495946361CF}">
      <dgm:prSet/>
      <dgm:spPr/>
      <dgm:t>
        <a:bodyPr/>
        <a:lstStyle/>
        <a:p>
          <a:endParaRPr lang="en-IN"/>
        </a:p>
      </dgm:t>
    </dgm:pt>
    <dgm:pt modelId="{3E7FB2D8-BDA5-45D4-A719-07C107B7B8F6}" type="pres">
      <dgm:prSet presAssocID="{679CC3B3-111C-4D5D-9873-D25920E8F7C5}" presName="linear" presStyleCnt="0">
        <dgm:presLayoutVars>
          <dgm:animLvl val="lvl"/>
          <dgm:resizeHandles val="exact"/>
        </dgm:presLayoutVars>
      </dgm:prSet>
      <dgm:spPr/>
    </dgm:pt>
    <dgm:pt modelId="{2AEAD108-E8B5-475B-85F9-D963E2F3B7B0}" type="pres">
      <dgm:prSet presAssocID="{58FA47B7-6D6A-4535-88B6-C59306C7AB4A}" presName="parentText" presStyleLbl="node1" presStyleIdx="0" presStyleCnt="1" custLinFactY="94344" custLinFactNeighborX="17991" custLinFactNeighborY="100000">
        <dgm:presLayoutVars>
          <dgm:chMax val="0"/>
          <dgm:bulletEnabled val="1"/>
        </dgm:presLayoutVars>
      </dgm:prSet>
      <dgm:spPr/>
    </dgm:pt>
  </dgm:ptLst>
  <dgm:cxnLst>
    <dgm:cxn modelId="{1D7FFD2D-D0AF-4782-BF87-9495946361CF}" srcId="{679CC3B3-111C-4D5D-9873-D25920E8F7C5}" destId="{58FA47B7-6D6A-4535-88B6-C59306C7AB4A}" srcOrd="0" destOrd="0" parTransId="{571462CA-D44E-44EE-BEBF-47040E0FBF4E}" sibTransId="{927E8F7F-C81F-4BDA-9C7E-3CD4E8EA6D88}"/>
    <dgm:cxn modelId="{E1A98159-79D1-44A2-A251-0F3D0BC71388}" type="presOf" srcId="{679CC3B3-111C-4D5D-9873-D25920E8F7C5}" destId="{3E7FB2D8-BDA5-45D4-A719-07C107B7B8F6}" srcOrd="0" destOrd="0" presId="urn:microsoft.com/office/officeart/2005/8/layout/vList2"/>
    <dgm:cxn modelId="{DB40B8B7-D0B0-4976-A905-1C7EA1C1529D}" type="presOf" srcId="{58FA47B7-6D6A-4535-88B6-C59306C7AB4A}" destId="{2AEAD108-E8B5-475B-85F9-D963E2F3B7B0}" srcOrd="0" destOrd="0" presId="urn:microsoft.com/office/officeart/2005/8/layout/vList2"/>
    <dgm:cxn modelId="{27457717-0254-436D-9E01-3F926CD353FE}" type="presParOf" srcId="{3E7FB2D8-BDA5-45D4-A719-07C107B7B8F6}" destId="{2AEAD108-E8B5-475B-85F9-D963E2F3B7B0}" srcOrd="0"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AEAD108-E8B5-475B-85F9-D963E2F3B7B0}">
      <dsp:nvSpPr>
        <dsp:cNvPr id="0" name=""/>
        <dsp:cNvSpPr/>
      </dsp:nvSpPr>
      <dsp:spPr>
        <a:xfrm>
          <a:off x="0" y="23659"/>
          <a:ext cx="7741119" cy="1641509"/>
        </a:xfrm>
        <a:prstGeom prst="roundRect">
          <a:avLst/>
        </a:prstGeom>
        <a:solidFill>
          <a:schemeClr val="dk2">
            <a:hueOff val="0"/>
            <a:satOff val="0"/>
            <a:lumOff val="0"/>
            <a:alphaOff val="0"/>
          </a:schemeClr>
        </a:solidFill>
        <a:ln w="1270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7630" tIns="87630" rIns="87630" bIns="87630" numCol="1" spcCol="1270" anchor="ctr" anchorCtr="0">
          <a:noAutofit/>
        </a:bodyPr>
        <a:lstStyle/>
        <a:p>
          <a:pPr marL="0" lvl="0" indent="0" algn="l" defTabSz="1022350">
            <a:lnSpc>
              <a:spcPct val="90000"/>
            </a:lnSpc>
            <a:spcBef>
              <a:spcPct val="0"/>
            </a:spcBef>
            <a:spcAft>
              <a:spcPct val="35000"/>
            </a:spcAft>
            <a:buNone/>
          </a:pPr>
          <a:r>
            <a:rPr lang="en-US" sz="2300" b="0" i="0" kern="1200" dirty="0"/>
            <a:t>As we can see, the first city’s distance to itself is, of course, 0, and, for example, its distance to the third city is 500. One can see that the third city’s distance to the first is also 500 (the first entry of the third array), as it should.</a:t>
          </a:r>
          <a:endParaRPr lang="en-IN" sz="2300" kern="1200" dirty="0"/>
        </a:p>
      </dsp:txBody>
      <dsp:txXfrm>
        <a:off x="80132" y="103791"/>
        <a:ext cx="7580855" cy="1481245"/>
      </dsp:txXfrm>
    </dsp:sp>
  </dsp:spTree>
</dsp:drawing>
</file>

<file path=ppt/diagrams/layout1.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C4C75E-9841-F7B5-50F8-B29141FFEC15}"/>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2CA6D745-828C-2984-ECD8-F9998AD240B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6E246A6-1EED-C415-C73C-18A2722293FC}"/>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5" name="Footer Placeholder 4">
            <a:extLst>
              <a:ext uri="{FF2B5EF4-FFF2-40B4-BE49-F238E27FC236}">
                <a16:creationId xmlns:a16="http://schemas.microsoft.com/office/drawing/2014/main" id="{B0F6465F-159C-DB73-155F-8E89F53D20EF}"/>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4E76DEB-F446-37FB-F097-01B7A39C4ECF}"/>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377100634"/>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2F0D0F0-7767-F3B4-5FAC-45391A58CFFF}"/>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365B7B2-1877-482D-4792-1F9FB9662612}"/>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D46B18-7E15-B956-B95F-E26323A1C6EA}"/>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5" name="Footer Placeholder 4">
            <a:extLst>
              <a:ext uri="{FF2B5EF4-FFF2-40B4-BE49-F238E27FC236}">
                <a16:creationId xmlns:a16="http://schemas.microsoft.com/office/drawing/2014/main" id="{1A7D6893-0B84-C96E-E728-96BA07F0B42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C2A6B2C-221C-1E26-8C66-224CEF590F92}"/>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36395340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C8EDDF5-F392-52D4-0EDF-682205B9DAA9}"/>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1083DB84-7BF4-3DE7-62A1-2D1FE2D462D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9A144251-0D78-6A54-9159-F82601671FDB}"/>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5" name="Footer Placeholder 4">
            <a:extLst>
              <a:ext uri="{FF2B5EF4-FFF2-40B4-BE49-F238E27FC236}">
                <a16:creationId xmlns:a16="http://schemas.microsoft.com/office/drawing/2014/main" id="{5F26AE74-AC38-D08C-7604-338E35031D79}"/>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632EE40-55A3-05F0-14E3-69C6F73F5C56}"/>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388633186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587382-A5D3-9CD4-D58D-796DB9F053C6}"/>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B4900331-7201-E5AA-7820-0E816A3EB94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D2AA23F1-2D66-4068-5BF5-A311336037E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3D76CBD1-4C6B-9E97-99EB-5D27DAEBDA57}"/>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6" name="Footer Placeholder 5">
            <a:extLst>
              <a:ext uri="{FF2B5EF4-FFF2-40B4-BE49-F238E27FC236}">
                <a16:creationId xmlns:a16="http://schemas.microsoft.com/office/drawing/2014/main" id="{0BF0164B-93D0-9D73-DDF9-86E35A13D1AA}"/>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0030C50-DF7A-A56E-4DF2-1DCC1B123D27}"/>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413403445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0C3F23C-6BDA-9DB5-60CD-9A885B538C9C}"/>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C34DEEDB-D33C-8232-9F05-DBFB6E451FB1}"/>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FC95F898-5C44-0711-DE5D-51C0435697E4}"/>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5FEE1909-3181-8763-0453-77BF659BDC4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93CFBB80-A2BF-D4B9-6B60-08E7AAB20E73}"/>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2BA7461F-EDD3-4460-1ECB-191046D50AD7}"/>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8" name="Footer Placeholder 7">
            <a:extLst>
              <a:ext uri="{FF2B5EF4-FFF2-40B4-BE49-F238E27FC236}">
                <a16:creationId xmlns:a16="http://schemas.microsoft.com/office/drawing/2014/main" id="{041A5F25-7270-B683-C9A2-4C737E5457EE}"/>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55AB321-ECA0-1660-FA45-01042F52DDF8}"/>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144426288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CBDAA45-56B8-23CB-B31D-B538DC2A51F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C114A1BD-3717-B156-77D1-85B30B2A6479}"/>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4" name="Footer Placeholder 3">
            <a:extLst>
              <a:ext uri="{FF2B5EF4-FFF2-40B4-BE49-F238E27FC236}">
                <a16:creationId xmlns:a16="http://schemas.microsoft.com/office/drawing/2014/main" id="{E2DBD38B-D000-8B02-E5D3-BEBE09DA99F5}"/>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0379B2B2-BDB1-443B-C896-CB5CF9CCB66E}"/>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42175964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C8F29A1B-57B1-F6D0-429E-B61BAC39B514}"/>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3" name="Footer Placeholder 2">
            <a:extLst>
              <a:ext uri="{FF2B5EF4-FFF2-40B4-BE49-F238E27FC236}">
                <a16:creationId xmlns:a16="http://schemas.microsoft.com/office/drawing/2014/main" id="{E884607C-A683-3FFB-4270-2C1B7349E1EA}"/>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7D8C7735-6443-6AA4-071C-C82EEC845153}"/>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3179694457"/>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A7E8CA5-4FBE-9DE6-130D-4C32C18F5E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0BB8D591-8E14-0ACB-DA55-241CEAAE929A}"/>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D4D167FD-F0E1-94C3-5468-37FED56C721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D7B867EC-C047-8483-1329-694489AF37A1}"/>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6" name="Footer Placeholder 5">
            <a:extLst>
              <a:ext uri="{FF2B5EF4-FFF2-40B4-BE49-F238E27FC236}">
                <a16:creationId xmlns:a16="http://schemas.microsoft.com/office/drawing/2014/main" id="{5166F2B7-FC2C-FEC5-BF42-78F20CF178B1}"/>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8A6D76C-C0F7-573C-B520-F0251F6EB197}"/>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24692515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FDF5AC6-383E-13C3-0C0D-EA917180A2D8}"/>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29F690E5-6641-29F1-167A-78286E573399}"/>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4A903882-AA5B-C1BE-F7C4-9B30B13DD39F}"/>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2064A8A4-E6D4-2D8C-5EF7-90C0DF026B4B}"/>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6" name="Footer Placeholder 5">
            <a:extLst>
              <a:ext uri="{FF2B5EF4-FFF2-40B4-BE49-F238E27FC236}">
                <a16:creationId xmlns:a16="http://schemas.microsoft.com/office/drawing/2014/main" id="{E86C0065-F8A2-B977-4406-8287E2F0DCA7}"/>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F3FB1E7-ADF4-1F61-702B-03E09153C306}"/>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31883024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24BB1A-456D-96D6-FFFB-68DC8ADB9627}"/>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8BE9337B-9344-DA7A-7161-E551344030B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ED5A94C6-708A-BA4D-9870-55759C4CB293}"/>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5" name="Footer Placeholder 4">
            <a:extLst>
              <a:ext uri="{FF2B5EF4-FFF2-40B4-BE49-F238E27FC236}">
                <a16:creationId xmlns:a16="http://schemas.microsoft.com/office/drawing/2014/main" id="{9AA2D7C6-7449-210A-7515-AC65EE34029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61FF896-BC68-4154-3194-2D2D71235C8A}"/>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3677855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5A9B4DB9-EFA3-0CF8-49D3-1C8A07B5855E}"/>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DA4FD54-DC4A-D0B2-87E7-FCE8A581D95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67AC65A3-13A5-B9EF-9C05-4FF4F7DFDA4C}"/>
              </a:ext>
            </a:extLst>
          </p:cNvPr>
          <p:cNvSpPr>
            <a:spLocks noGrp="1"/>
          </p:cNvSpPr>
          <p:nvPr>
            <p:ph type="dt" sz="half" idx="10"/>
          </p:nvPr>
        </p:nvSpPr>
        <p:spPr/>
        <p:txBody>
          <a:bodyPr/>
          <a:lstStyle/>
          <a:p>
            <a:fld id="{255EAC6D-D7CE-4497-BAD5-82D0E16EB65F}" type="datetimeFigureOut">
              <a:rPr lang="en-IN" smtClean="0"/>
              <a:t>20-05-2023</a:t>
            </a:fld>
            <a:endParaRPr lang="en-IN"/>
          </a:p>
        </p:txBody>
      </p:sp>
      <p:sp>
        <p:nvSpPr>
          <p:cNvPr id="5" name="Footer Placeholder 4">
            <a:extLst>
              <a:ext uri="{FF2B5EF4-FFF2-40B4-BE49-F238E27FC236}">
                <a16:creationId xmlns:a16="http://schemas.microsoft.com/office/drawing/2014/main" id="{D806DA75-A2A7-F168-EDA6-4314218933F4}"/>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B59847E3-AC91-737E-E194-F3E9465FE4B1}"/>
              </a:ext>
            </a:extLst>
          </p:cNvPr>
          <p:cNvSpPr>
            <a:spLocks noGrp="1"/>
          </p:cNvSpPr>
          <p:nvPr>
            <p:ph type="sldNum" sz="quarter" idx="12"/>
          </p:nvPr>
        </p:nvSpPr>
        <p:spPr/>
        <p:txBody>
          <a:bodyPr/>
          <a:lstStyle/>
          <a:p>
            <a:fld id="{453C2B54-C0CA-42C1-95C7-0785C41ADEED}" type="slidenum">
              <a:rPr lang="en-IN" smtClean="0"/>
              <a:t>‹#›</a:t>
            </a:fld>
            <a:endParaRPr lang="en-IN"/>
          </a:p>
        </p:txBody>
      </p:sp>
    </p:spTree>
    <p:extLst>
      <p:ext uri="{BB962C8B-B14F-4D97-AF65-F5344CB8AC3E}">
        <p14:creationId xmlns:p14="http://schemas.microsoft.com/office/powerpoint/2010/main" val="261577394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jp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56380949-53A2-126C-E0B9-578B32EFD2C9}"/>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01DA8258-9C03-785F-AA98-4C52EB9EB83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CC44A3E9-E4A4-B3D5-C3BD-89F379A06B4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255EAC6D-D7CE-4497-BAD5-82D0E16EB65F}" type="datetimeFigureOut">
              <a:rPr lang="en-IN" smtClean="0"/>
              <a:t>20-05-2023</a:t>
            </a:fld>
            <a:endParaRPr lang="en-IN"/>
          </a:p>
        </p:txBody>
      </p:sp>
      <p:sp>
        <p:nvSpPr>
          <p:cNvPr id="5" name="Footer Placeholder 4">
            <a:extLst>
              <a:ext uri="{FF2B5EF4-FFF2-40B4-BE49-F238E27FC236}">
                <a16:creationId xmlns:a16="http://schemas.microsoft.com/office/drawing/2014/main" id="{1F965BF1-A13F-1BF0-533A-1AF3195160A0}"/>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478EEEC4-6F19-3401-CB0F-04BED13CF5B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453C2B54-C0CA-42C1-95C7-0785C41ADEED}" type="slidenum">
              <a:rPr lang="en-IN" smtClean="0"/>
              <a:t>‹#›</a:t>
            </a:fld>
            <a:endParaRPr lang="en-IN"/>
          </a:p>
        </p:txBody>
      </p:sp>
    </p:spTree>
    <p:extLst>
      <p:ext uri="{BB962C8B-B14F-4D97-AF65-F5344CB8AC3E}">
        <p14:creationId xmlns:p14="http://schemas.microsoft.com/office/powerpoint/2010/main" val="355862332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hyperlink" Target="https://en.wikipedia.org/wiki/Hill_climbing" TargetMode="External"/><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7.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7.xml"/></Relationships>
</file>

<file path=ppt/slides/_rels/slide47.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7.xml"/></Relationships>
</file>

<file path=ppt/slides/_rels/slide48.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7.xml"/></Relationships>
</file>

<file path=ppt/slides/_rels/slide49.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68739CEC-C74D-E192-FBA9-30760287F86D}"/>
              </a:ext>
            </a:extLst>
          </p:cNvPr>
          <p:cNvSpPr txBox="1"/>
          <p:nvPr/>
        </p:nvSpPr>
        <p:spPr>
          <a:xfrm>
            <a:off x="2704700" y="2705725"/>
            <a:ext cx="6112042" cy="1446550"/>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IN" sz="4400" b="1" i="0" dirty="0">
                <a:effectLst/>
              </a:rPr>
              <a:t>Artificial Intelligence (AI)</a:t>
            </a:r>
          </a:p>
          <a:p>
            <a:endParaRPr lang="en-IN" sz="4400" b="1" dirty="0"/>
          </a:p>
        </p:txBody>
      </p:sp>
    </p:spTree>
    <p:extLst>
      <p:ext uri="{BB962C8B-B14F-4D97-AF65-F5344CB8AC3E}">
        <p14:creationId xmlns:p14="http://schemas.microsoft.com/office/powerpoint/2010/main" val="424771562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8C563BC-4C92-4473-4412-5AB70010243E}"/>
              </a:ext>
            </a:extLst>
          </p:cNvPr>
          <p:cNvSpPr txBox="1"/>
          <p:nvPr/>
        </p:nvSpPr>
        <p:spPr>
          <a:xfrm>
            <a:off x="125128" y="154004"/>
            <a:ext cx="11752447" cy="5589351"/>
          </a:xfrm>
          <a:prstGeom prst="rect">
            <a:avLst/>
          </a:prstGeom>
          <a:noFill/>
        </p:spPr>
        <p:txBody>
          <a:bodyPr wrap="square" rtlCol="0">
            <a:spAutoFit/>
          </a:bodyPr>
          <a:lstStyle/>
          <a:p>
            <a:pPr algn="just">
              <a:lnSpc>
                <a:spcPct val="150000"/>
              </a:lnSpc>
            </a:pPr>
            <a:r>
              <a:rPr lang="en-US" sz="2400" b="1" i="0" dirty="0">
                <a:effectLst/>
              </a:rPr>
              <a:t>What is Artificial Intelligence (AI)?</a:t>
            </a:r>
          </a:p>
          <a:p>
            <a:pPr marL="285750" indent="-285750" algn="just">
              <a:lnSpc>
                <a:spcPct val="150000"/>
              </a:lnSpc>
              <a:buFont typeface="Wingdings" panose="05000000000000000000" pitchFamily="2" charset="2"/>
              <a:buChar char="q"/>
            </a:pPr>
            <a:r>
              <a:rPr lang="en-US" b="0" i="0" dirty="0">
                <a:solidFill>
                  <a:srgbClr val="333333"/>
                </a:solidFill>
                <a:effectLst/>
              </a:rPr>
              <a:t>In today's world, technology is growing very fast, and we are getting in touch with different new technologies day by day.</a:t>
            </a:r>
          </a:p>
          <a:p>
            <a:pPr marL="285750" indent="-285750" algn="just">
              <a:lnSpc>
                <a:spcPct val="150000"/>
              </a:lnSpc>
              <a:buFont typeface="Wingdings" panose="05000000000000000000" pitchFamily="2" charset="2"/>
              <a:buChar char="q"/>
            </a:pPr>
            <a:r>
              <a:rPr lang="en-US" b="0" i="0" dirty="0">
                <a:solidFill>
                  <a:srgbClr val="333333"/>
                </a:solidFill>
                <a:effectLst/>
              </a:rPr>
              <a:t>Here, one of the booming technologies of computer science is Artificial Intelligence which is ready to create a new revolution in the world by making intelligent machines.</a:t>
            </a:r>
          </a:p>
          <a:p>
            <a:pPr marL="285750" indent="-285750" algn="just">
              <a:lnSpc>
                <a:spcPct val="150000"/>
              </a:lnSpc>
              <a:buFont typeface="Wingdings" panose="05000000000000000000" pitchFamily="2" charset="2"/>
              <a:buChar char="q"/>
            </a:pPr>
            <a:r>
              <a:rPr lang="en-US" b="0" i="0" dirty="0">
                <a:solidFill>
                  <a:srgbClr val="333333"/>
                </a:solidFill>
                <a:effectLst/>
              </a:rPr>
              <a:t>The Artificial Intelligence is now all around us. </a:t>
            </a:r>
          </a:p>
          <a:p>
            <a:pPr marL="285750" indent="-285750" algn="just">
              <a:lnSpc>
                <a:spcPct val="150000"/>
              </a:lnSpc>
              <a:buFont typeface="Wingdings" panose="05000000000000000000" pitchFamily="2" charset="2"/>
              <a:buChar char="q"/>
            </a:pPr>
            <a:r>
              <a:rPr lang="en-US" b="0" i="0" dirty="0">
                <a:solidFill>
                  <a:srgbClr val="333333"/>
                </a:solidFill>
                <a:effectLst/>
              </a:rPr>
              <a:t>It is currently working with a variety of subfields, ranging from general to specific, such as self-driving cars, playing chess, proving theorems, playing music, Painting, etc.</a:t>
            </a:r>
          </a:p>
          <a:p>
            <a:pPr marL="285750" indent="-285750">
              <a:lnSpc>
                <a:spcPct val="150000"/>
              </a:lnSpc>
              <a:buFont typeface="Wingdings" panose="05000000000000000000" pitchFamily="2" charset="2"/>
              <a:buChar char="q"/>
            </a:pPr>
            <a:endParaRPr lang="en-IN" dirty="0"/>
          </a:p>
          <a:p>
            <a:pPr marL="285750" indent="-285750">
              <a:lnSpc>
                <a:spcPct val="150000"/>
              </a:lnSpc>
              <a:buFont typeface="Wingdings" panose="05000000000000000000" pitchFamily="2" charset="2"/>
              <a:buChar char="q"/>
            </a:pPr>
            <a:r>
              <a:rPr lang="en-US" b="0" i="0" dirty="0">
                <a:solidFill>
                  <a:srgbClr val="333333"/>
                </a:solidFill>
                <a:effectLst/>
              </a:rPr>
              <a:t>AI is one of the fascinating and universal fields of Computer science which has a great scope in future. AI holds a tendency to cause a machine to work as a human.</a:t>
            </a:r>
            <a:endParaRPr lang="en-IN" b="0" i="0" dirty="0">
              <a:solidFill>
                <a:srgbClr val="333333"/>
              </a:solidFill>
              <a:effectLst/>
            </a:endParaRPr>
          </a:p>
          <a:p>
            <a:pPr marL="285750" indent="-285750">
              <a:lnSpc>
                <a:spcPct val="150000"/>
              </a:lnSpc>
              <a:buFont typeface="Wingdings" panose="05000000000000000000" pitchFamily="2" charset="2"/>
              <a:buChar char="q"/>
            </a:pPr>
            <a:endParaRPr lang="en-IN" dirty="0">
              <a:solidFill>
                <a:srgbClr val="333333"/>
              </a:solidFill>
            </a:endParaRPr>
          </a:p>
          <a:p>
            <a:pPr marL="285750" indent="-285750">
              <a:lnSpc>
                <a:spcPct val="150000"/>
              </a:lnSpc>
              <a:buFont typeface="Wingdings" panose="05000000000000000000" pitchFamily="2" charset="2"/>
              <a:buChar char="q"/>
            </a:pPr>
            <a:r>
              <a:rPr lang="en-US" b="0" i="0" dirty="0">
                <a:solidFill>
                  <a:srgbClr val="333333"/>
                </a:solidFill>
                <a:effectLst/>
              </a:rPr>
              <a:t>Artificial Intelligence is composed of two words </a:t>
            </a:r>
            <a:r>
              <a:rPr lang="en-US" b="1" i="0" dirty="0">
                <a:solidFill>
                  <a:srgbClr val="333333"/>
                </a:solidFill>
                <a:effectLst/>
              </a:rPr>
              <a:t>Artificial</a:t>
            </a:r>
            <a:r>
              <a:rPr lang="en-US" b="0" i="0" dirty="0">
                <a:solidFill>
                  <a:srgbClr val="333333"/>
                </a:solidFill>
                <a:effectLst/>
              </a:rPr>
              <a:t> and </a:t>
            </a:r>
            <a:r>
              <a:rPr lang="en-US" b="1" i="0" dirty="0">
                <a:solidFill>
                  <a:srgbClr val="333333"/>
                </a:solidFill>
                <a:effectLst/>
              </a:rPr>
              <a:t>Intelligence</a:t>
            </a:r>
            <a:r>
              <a:rPr lang="en-US" b="0" i="0" dirty="0">
                <a:solidFill>
                  <a:srgbClr val="333333"/>
                </a:solidFill>
                <a:effectLst/>
              </a:rPr>
              <a:t>, where Artificial defines </a:t>
            </a:r>
            <a:r>
              <a:rPr lang="en-US" b="0" dirty="0">
                <a:solidFill>
                  <a:srgbClr val="333333"/>
                </a:solidFill>
                <a:effectLst/>
              </a:rPr>
              <a:t>"man-made," </a:t>
            </a:r>
            <a:r>
              <a:rPr lang="en-US" b="0" i="0" dirty="0">
                <a:solidFill>
                  <a:srgbClr val="333333"/>
                </a:solidFill>
                <a:effectLst/>
              </a:rPr>
              <a:t>and intelligence defines </a:t>
            </a:r>
            <a:r>
              <a:rPr lang="en-US" b="0" i="1" dirty="0">
                <a:solidFill>
                  <a:srgbClr val="333333"/>
                </a:solidFill>
                <a:effectLst/>
              </a:rPr>
              <a:t>"</a:t>
            </a:r>
            <a:r>
              <a:rPr lang="en-US" b="0" dirty="0">
                <a:solidFill>
                  <a:srgbClr val="333333"/>
                </a:solidFill>
                <a:effectLst/>
              </a:rPr>
              <a:t>thinking power", hence AI means "a man-made thinking power."</a:t>
            </a:r>
            <a:endParaRPr lang="en-IN" dirty="0"/>
          </a:p>
        </p:txBody>
      </p:sp>
    </p:spTree>
    <p:extLst>
      <p:ext uri="{BB962C8B-B14F-4D97-AF65-F5344CB8AC3E}">
        <p14:creationId xmlns:p14="http://schemas.microsoft.com/office/powerpoint/2010/main" val="4106278173"/>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2B5F6EC-CE9F-819D-8D79-9FDC60065408}"/>
              </a:ext>
            </a:extLst>
          </p:cNvPr>
          <p:cNvSpPr txBox="1"/>
          <p:nvPr/>
        </p:nvSpPr>
        <p:spPr>
          <a:xfrm>
            <a:off x="144379" y="134754"/>
            <a:ext cx="11608067" cy="4827604"/>
          </a:xfrm>
          <a:prstGeom prst="rect">
            <a:avLst/>
          </a:prstGeom>
          <a:noFill/>
        </p:spPr>
        <p:txBody>
          <a:bodyPr wrap="square" rtlCol="0">
            <a:spAutoFit/>
          </a:bodyPr>
          <a:lstStyle/>
          <a:p>
            <a:pPr marL="285750" indent="-285750" algn="just">
              <a:lnSpc>
                <a:spcPct val="250000"/>
              </a:lnSpc>
              <a:buFont typeface="Wingdings" panose="05000000000000000000" pitchFamily="2" charset="2"/>
              <a:buChar char="q"/>
            </a:pPr>
            <a:r>
              <a:rPr lang="en-US" b="0" i="0" dirty="0">
                <a:solidFill>
                  <a:srgbClr val="333333"/>
                </a:solidFill>
                <a:effectLst/>
              </a:rPr>
              <a:t>Artificial Intelligence exists when a machine can have human based skills such as learning, reasoning, and solving problems</a:t>
            </a:r>
          </a:p>
          <a:p>
            <a:pPr marL="285750" indent="-285750" algn="just">
              <a:lnSpc>
                <a:spcPct val="250000"/>
              </a:lnSpc>
              <a:buFont typeface="Wingdings" panose="05000000000000000000" pitchFamily="2" charset="2"/>
              <a:buChar char="q"/>
            </a:pPr>
            <a:r>
              <a:rPr lang="en-US" b="0" i="0" dirty="0">
                <a:solidFill>
                  <a:srgbClr val="333333"/>
                </a:solidFill>
                <a:effectLst/>
              </a:rPr>
              <a:t>With Artificial Intelligence you do not need to preprogram a machine to do some work, despite that you can create a machine with programmed algorithms which can work with own intelligence, and that is the awesomeness of AI.</a:t>
            </a:r>
          </a:p>
          <a:p>
            <a:pPr marL="285750" indent="-285750" algn="just">
              <a:lnSpc>
                <a:spcPct val="250000"/>
              </a:lnSpc>
              <a:buFont typeface="Wingdings" panose="05000000000000000000" pitchFamily="2" charset="2"/>
              <a:buChar char="q"/>
            </a:pPr>
            <a:r>
              <a:rPr lang="en-US" b="0" i="0" dirty="0">
                <a:solidFill>
                  <a:srgbClr val="333333"/>
                </a:solidFill>
                <a:effectLst/>
              </a:rPr>
              <a:t>It is believed that AI is not a new technology, and some people says that as per Greek myth, there were Mechanical men in early days which can work and behave like humans.</a:t>
            </a:r>
          </a:p>
          <a:p>
            <a:pPr>
              <a:lnSpc>
                <a:spcPct val="250000"/>
              </a:lnSpc>
            </a:pPr>
            <a:endParaRPr lang="en-IN" dirty="0"/>
          </a:p>
        </p:txBody>
      </p:sp>
    </p:spTree>
    <p:extLst>
      <p:ext uri="{BB962C8B-B14F-4D97-AF65-F5344CB8AC3E}">
        <p14:creationId xmlns:p14="http://schemas.microsoft.com/office/powerpoint/2010/main" val="174133807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969EEC0-DD11-3701-F7C6-B3E285F5BC3F}"/>
              </a:ext>
            </a:extLst>
          </p:cNvPr>
          <p:cNvSpPr txBox="1"/>
          <p:nvPr/>
        </p:nvSpPr>
        <p:spPr>
          <a:xfrm>
            <a:off x="150302" y="707087"/>
            <a:ext cx="11685070" cy="5170646"/>
          </a:xfrm>
          <a:prstGeom prst="rect">
            <a:avLst/>
          </a:prstGeom>
          <a:noFill/>
        </p:spPr>
        <p:txBody>
          <a:bodyPr wrap="square" rtlCol="0">
            <a:spAutoFit/>
          </a:bodyPr>
          <a:lstStyle/>
          <a:p>
            <a:pPr algn="just"/>
            <a:r>
              <a:rPr lang="en-US" sz="2400" b="1" i="0" dirty="0">
                <a:effectLst/>
              </a:rPr>
              <a:t>Why Artificial Intelligence?</a:t>
            </a:r>
          </a:p>
          <a:p>
            <a:pPr algn="just">
              <a:lnSpc>
                <a:spcPct val="200000"/>
              </a:lnSpc>
            </a:pPr>
            <a:r>
              <a:rPr lang="en-US" b="0" i="0" dirty="0">
                <a:solidFill>
                  <a:srgbClr val="333333"/>
                </a:solidFill>
                <a:effectLst/>
              </a:rPr>
              <a:t>Before Learning about Artificial Intelligence, we should know that what is the importance of AI and why should we learn it. Following are some main reasons to learn about AI:</a:t>
            </a:r>
          </a:p>
          <a:p>
            <a:pPr marL="285750" indent="-285750">
              <a:lnSpc>
                <a:spcPct val="200000"/>
              </a:lnSpc>
              <a:buFont typeface="Wingdings" panose="05000000000000000000" pitchFamily="2" charset="2"/>
              <a:buChar char="q"/>
            </a:pPr>
            <a:r>
              <a:rPr lang="en-US" b="0" i="0" dirty="0">
                <a:solidFill>
                  <a:srgbClr val="000000"/>
                </a:solidFill>
                <a:effectLst/>
              </a:rPr>
              <a:t>With the help of AI, you can create such software or devices which can solve real-world problems very easily and with accuracy such as health issues, marketing, traffic issues, etc.</a:t>
            </a:r>
          </a:p>
          <a:p>
            <a:pPr marL="285750" indent="-285750">
              <a:lnSpc>
                <a:spcPct val="200000"/>
              </a:lnSpc>
              <a:buFont typeface="Wingdings" panose="05000000000000000000" pitchFamily="2" charset="2"/>
              <a:buChar char="q"/>
            </a:pPr>
            <a:r>
              <a:rPr lang="en-US" b="0" i="0" dirty="0">
                <a:solidFill>
                  <a:srgbClr val="000000"/>
                </a:solidFill>
                <a:effectLst/>
              </a:rPr>
              <a:t>With the help of AI, you can create your personal virtual Assistant, such as Cortana, Google Assistant, Siri, etc.</a:t>
            </a:r>
          </a:p>
          <a:p>
            <a:pPr marL="285750" indent="-285750">
              <a:lnSpc>
                <a:spcPct val="200000"/>
              </a:lnSpc>
              <a:buFont typeface="Wingdings" panose="05000000000000000000" pitchFamily="2" charset="2"/>
              <a:buChar char="q"/>
            </a:pPr>
            <a:r>
              <a:rPr lang="en-US" b="0" i="0" dirty="0">
                <a:solidFill>
                  <a:srgbClr val="000000"/>
                </a:solidFill>
                <a:effectLst/>
              </a:rPr>
              <a:t>With the help of AI, you can build such Robots which can work in an environment where survival of humans can be at risk.</a:t>
            </a:r>
          </a:p>
          <a:p>
            <a:pPr marL="285750" indent="-285750">
              <a:lnSpc>
                <a:spcPct val="200000"/>
              </a:lnSpc>
              <a:buFont typeface="Wingdings" panose="05000000000000000000" pitchFamily="2" charset="2"/>
              <a:buChar char="q"/>
            </a:pPr>
            <a:r>
              <a:rPr lang="en-US" b="0" i="0" dirty="0">
                <a:solidFill>
                  <a:srgbClr val="000000"/>
                </a:solidFill>
                <a:effectLst/>
              </a:rPr>
              <a:t>AI opens a path for other new technologies, new devices, and new Opportunities.</a:t>
            </a:r>
          </a:p>
          <a:p>
            <a:endParaRPr lang="en-IN" dirty="0"/>
          </a:p>
        </p:txBody>
      </p:sp>
    </p:spTree>
    <p:extLst>
      <p:ext uri="{BB962C8B-B14F-4D97-AF65-F5344CB8AC3E}">
        <p14:creationId xmlns:p14="http://schemas.microsoft.com/office/powerpoint/2010/main" val="406034883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29CFFCC-83E1-F931-F255-437FC077813C}"/>
              </a:ext>
            </a:extLst>
          </p:cNvPr>
          <p:cNvSpPr txBox="1"/>
          <p:nvPr/>
        </p:nvSpPr>
        <p:spPr>
          <a:xfrm>
            <a:off x="183621" y="628233"/>
            <a:ext cx="11608067" cy="5601533"/>
          </a:xfrm>
          <a:prstGeom prst="rect">
            <a:avLst/>
          </a:prstGeom>
          <a:noFill/>
        </p:spPr>
        <p:txBody>
          <a:bodyPr wrap="square" rtlCol="0">
            <a:spAutoFit/>
          </a:bodyPr>
          <a:lstStyle/>
          <a:p>
            <a:pPr algn="just"/>
            <a:r>
              <a:rPr lang="en-US" sz="2000" b="1" i="0" dirty="0">
                <a:effectLst/>
              </a:rPr>
              <a:t>Goals of Artificial Intelligence:</a:t>
            </a:r>
          </a:p>
          <a:p>
            <a:pPr algn="just"/>
            <a:r>
              <a:rPr lang="en-US" sz="1600" b="0" i="0" dirty="0">
                <a:solidFill>
                  <a:srgbClr val="333333"/>
                </a:solidFill>
                <a:effectLst/>
              </a:rPr>
              <a:t>Following are the main goals of Artificial Intelligence:</a:t>
            </a:r>
          </a:p>
          <a:p>
            <a:endParaRPr lang="en-IN" sz="1600" dirty="0"/>
          </a:p>
          <a:p>
            <a:pPr marL="285750" indent="-285750">
              <a:lnSpc>
                <a:spcPct val="200000"/>
              </a:lnSpc>
              <a:buFont typeface="Wingdings" panose="05000000000000000000" pitchFamily="2" charset="2"/>
              <a:buChar char="q"/>
            </a:pPr>
            <a:r>
              <a:rPr lang="en-US" sz="1600" b="0" i="0" dirty="0">
                <a:solidFill>
                  <a:srgbClr val="000000"/>
                </a:solidFill>
                <a:effectLst/>
              </a:rPr>
              <a:t>Replicate human intelligence</a:t>
            </a:r>
          </a:p>
          <a:p>
            <a:pPr marL="285750" indent="-285750">
              <a:lnSpc>
                <a:spcPct val="200000"/>
              </a:lnSpc>
              <a:buFont typeface="Wingdings" panose="05000000000000000000" pitchFamily="2" charset="2"/>
              <a:buChar char="q"/>
            </a:pPr>
            <a:r>
              <a:rPr lang="en-US" sz="1600" b="0" i="0" dirty="0">
                <a:solidFill>
                  <a:srgbClr val="000000"/>
                </a:solidFill>
                <a:effectLst/>
              </a:rPr>
              <a:t>Solve Knowledge-intensive tasks</a:t>
            </a:r>
          </a:p>
          <a:p>
            <a:pPr marL="285750" indent="-285750">
              <a:lnSpc>
                <a:spcPct val="200000"/>
              </a:lnSpc>
              <a:buFont typeface="Wingdings" panose="05000000000000000000" pitchFamily="2" charset="2"/>
              <a:buChar char="q"/>
            </a:pPr>
            <a:r>
              <a:rPr lang="en-US" sz="1600" b="0" i="0" dirty="0">
                <a:solidFill>
                  <a:srgbClr val="000000"/>
                </a:solidFill>
                <a:effectLst/>
              </a:rPr>
              <a:t>An intelligent connection of perception and action</a:t>
            </a:r>
          </a:p>
          <a:p>
            <a:pPr marL="285750" indent="-285750">
              <a:lnSpc>
                <a:spcPct val="200000"/>
              </a:lnSpc>
              <a:buFont typeface="Wingdings" panose="05000000000000000000" pitchFamily="2" charset="2"/>
              <a:buChar char="q"/>
            </a:pPr>
            <a:r>
              <a:rPr lang="en-US" sz="1600" b="0" i="0" dirty="0">
                <a:solidFill>
                  <a:srgbClr val="000000"/>
                </a:solidFill>
                <a:effectLst/>
              </a:rPr>
              <a:t>Building a machine which can perform tasks that requires human intelligence such as:</a:t>
            </a:r>
          </a:p>
          <a:p>
            <a:pPr marL="742950" lvl="1" indent="-285750">
              <a:lnSpc>
                <a:spcPct val="200000"/>
              </a:lnSpc>
              <a:buFont typeface="Wingdings" panose="05000000000000000000" pitchFamily="2" charset="2"/>
              <a:buChar char="ü"/>
            </a:pPr>
            <a:r>
              <a:rPr lang="en-US" sz="1600" b="0" i="0" dirty="0">
                <a:solidFill>
                  <a:srgbClr val="000000"/>
                </a:solidFill>
                <a:effectLst/>
              </a:rPr>
              <a:t>Proving a theorem</a:t>
            </a:r>
          </a:p>
          <a:p>
            <a:pPr marL="742950" lvl="1" indent="-285750">
              <a:lnSpc>
                <a:spcPct val="200000"/>
              </a:lnSpc>
              <a:buFont typeface="Wingdings" panose="05000000000000000000" pitchFamily="2" charset="2"/>
              <a:buChar char="ü"/>
            </a:pPr>
            <a:r>
              <a:rPr lang="en-US" sz="1600" b="0" i="0" dirty="0">
                <a:solidFill>
                  <a:srgbClr val="000000"/>
                </a:solidFill>
                <a:effectLst/>
              </a:rPr>
              <a:t>Playing chess</a:t>
            </a:r>
          </a:p>
          <a:p>
            <a:pPr marL="742950" lvl="1" indent="-285750">
              <a:lnSpc>
                <a:spcPct val="200000"/>
              </a:lnSpc>
              <a:buFont typeface="Wingdings" panose="05000000000000000000" pitchFamily="2" charset="2"/>
              <a:buChar char="ü"/>
            </a:pPr>
            <a:r>
              <a:rPr lang="en-US" sz="1600" b="0" i="0" dirty="0">
                <a:solidFill>
                  <a:srgbClr val="000000"/>
                </a:solidFill>
                <a:effectLst/>
              </a:rPr>
              <a:t>Plan some surgical operation</a:t>
            </a:r>
          </a:p>
          <a:p>
            <a:pPr marL="742950" lvl="1" indent="-285750">
              <a:lnSpc>
                <a:spcPct val="200000"/>
              </a:lnSpc>
              <a:buFont typeface="Wingdings" panose="05000000000000000000" pitchFamily="2" charset="2"/>
              <a:buChar char="ü"/>
            </a:pPr>
            <a:r>
              <a:rPr lang="en-US" sz="1600" b="0" i="0" dirty="0">
                <a:solidFill>
                  <a:srgbClr val="000000"/>
                </a:solidFill>
                <a:effectLst/>
              </a:rPr>
              <a:t>Driving a car in traffic</a:t>
            </a:r>
          </a:p>
          <a:p>
            <a:pPr marL="285750" indent="-285750">
              <a:lnSpc>
                <a:spcPct val="200000"/>
              </a:lnSpc>
              <a:buFont typeface="Wingdings" panose="05000000000000000000" pitchFamily="2" charset="2"/>
              <a:buChar char="q"/>
            </a:pPr>
            <a:r>
              <a:rPr lang="en-US" sz="1600" b="0" i="0" dirty="0">
                <a:solidFill>
                  <a:srgbClr val="000000"/>
                </a:solidFill>
                <a:effectLst/>
              </a:rPr>
              <a:t>Creating some system which can exhibit intelligent behavior, learn new things by itself, demonstrate, explain, and can advise to its user.</a:t>
            </a:r>
          </a:p>
          <a:p>
            <a:endParaRPr lang="en-IN" sz="1600" dirty="0"/>
          </a:p>
        </p:txBody>
      </p:sp>
    </p:spTree>
    <p:extLst>
      <p:ext uri="{BB962C8B-B14F-4D97-AF65-F5344CB8AC3E}">
        <p14:creationId xmlns:p14="http://schemas.microsoft.com/office/powerpoint/2010/main" val="3774146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3E4C7AD-DF59-3211-AB2D-24933470EDC9}"/>
              </a:ext>
            </a:extLst>
          </p:cNvPr>
          <p:cNvSpPr txBox="1"/>
          <p:nvPr/>
        </p:nvSpPr>
        <p:spPr>
          <a:xfrm>
            <a:off x="144380" y="134754"/>
            <a:ext cx="11713944" cy="6832640"/>
          </a:xfrm>
          <a:prstGeom prst="rect">
            <a:avLst/>
          </a:prstGeom>
          <a:noFill/>
        </p:spPr>
        <p:txBody>
          <a:bodyPr wrap="square" rtlCol="0">
            <a:spAutoFit/>
          </a:bodyPr>
          <a:lstStyle/>
          <a:p>
            <a:pPr algn="just"/>
            <a:r>
              <a:rPr lang="en-US" sz="2400" b="1" i="0" dirty="0">
                <a:effectLst/>
              </a:rPr>
              <a:t>What Comprises to Artificial Intelligence?</a:t>
            </a:r>
          </a:p>
          <a:p>
            <a:pPr algn="just">
              <a:lnSpc>
                <a:spcPct val="200000"/>
              </a:lnSpc>
            </a:pPr>
            <a:r>
              <a:rPr lang="en-US" b="0" i="0" dirty="0">
                <a:solidFill>
                  <a:srgbClr val="333333"/>
                </a:solidFill>
                <a:effectLst/>
              </a:rPr>
              <a:t>Artificial Intelligence is not just a part of computer science even it's so vast and requires lots of other factors which can contribute to it. To create the AI first we should know that how intelligence is composed, so the Intelligence is an intangible part of our brain which is a combination of </a:t>
            </a:r>
            <a:r>
              <a:rPr lang="en-US" b="1" i="0" dirty="0">
                <a:solidFill>
                  <a:srgbClr val="333333"/>
                </a:solidFill>
                <a:effectLst/>
              </a:rPr>
              <a:t>Reasoning, learning, problem-solving perception, language understanding, etc</a:t>
            </a:r>
            <a:r>
              <a:rPr lang="en-US" b="0" i="0" dirty="0">
                <a:solidFill>
                  <a:srgbClr val="333333"/>
                </a:solidFill>
                <a:effectLst/>
              </a:rPr>
              <a:t>.</a:t>
            </a:r>
          </a:p>
          <a:p>
            <a:pPr algn="just">
              <a:lnSpc>
                <a:spcPct val="200000"/>
              </a:lnSpc>
            </a:pPr>
            <a:r>
              <a:rPr lang="en-US" b="0" i="0" dirty="0">
                <a:solidFill>
                  <a:srgbClr val="333333"/>
                </a:solidFill>
                <a:effectLst/>
              </a:rPr>
              <a:t>To achieve the above factors for a machine or software Artificial Intelligence requires the following discipline:</a:t>
            </a:r>
          </a:p>
          <a:p>
            <a:pPr marL="742950" lvl="1" indent="-285750" algn="just">
              <a:lnSpc>
                <a:spcPct val="200000"/>
              </a:lnSpc>
              <a:buFont typeface="Wingdings" panose="05000000000000000000" pitchFamily="2" charset="2"/>
              <a:buChar char="q"/>
            </a:pPr>
            <a:r>
              <a:rPr lang="en-US" b="0" i="0" dirty="0">
                <a:solidFill>
                  <a:srgbClr val="000000"/>
                </a:solidFill>
                <a:effectLst/>
              </a:rPr>
              <a:t>Mathematics</a:t>
            </a:r>
          </a:p>
          <a:p>
            <a:pPr marL="742950" lvl="1" indent="-285750" algn="just">
              <a:lnSpc>
                <a:spcPct val="200000"/>
              </a:lnSpc>
              <a:buFont typeface="Wingdings" panose="05000000000000000000" pitchFamily="2" charset="2"/>
              <a:buChar char="q"/>
            </a:pPr>
            <a:r>
              <a:rPr lang="en-US" b="0" i="0" dirty="0">
                <a:solidFill>
                  <a:srgbClr val="000000"/>
                </a:solidFill>
                <a:effectLst/>
              </a:rPr>
              <a:t>Biology</a:t>
            </a:r>
          </a:p>
          <a:p>
            <a:pPr marL="742950" lvl="1" indent="-285750" algn="just">
              <a:lnSpc>
                <a:spcPct val="200000"/>
              </a:lnSpc>
              <a:buFont typeface="Wingdings" panose="05000000000000000000" pitchFamily="2" charset="2"/>
              <a:buChar char="q"/>
            </a:pPr>
            <a:r>
              <a:rPr lang="en-US" b="0" i="0" dirty="0">
                <a:solidFill>
                  <a:srgbClr val="000000"/>
                </a:solidFill>
                <a:effectLst/>
              </a:rPr>
              <a:t>Psychology</a:t>
            </a:r>
          </a:p>
          <a:p>
            <a:pPr marL="742950" lvl="1" indent="-285750" algn="just">
              <a:lnSpc>
                <a:spcPct val="200000"/>
              </a:lnSpc>
              <a:buFont typeface="Wingdings" panose="05000000000000000000" pitchFamily="2" charset="2"/>
              <a:buChar char="q"/>
            </a:pPr>
            <a:r>
              <a:rPr lang="en-US" b="0" i="0" dirty="0">
                <a:solidFill>
                  <a:srgbClr val="000000"/>
                </a:solidFill>
                <a:effectLst/>
              </a:rPr>
              <a:t>Sociology</a:t>
            </a:r>
          </a:p>
          <a:p>
            <a:pPr marL="742950" lvl="1" indent="-285750" algn="just">
              <a:lnSpc>
                <a:spcPct val="200000"/>
              </a:lnSpc>
              <a:buFont typeface="Wingdings" panose="05000000000000000000" pitchFamily="2" charset="2"/>
              <a:buChar char="q"/>
            </a:pPr>
            <a:r>
              <a:rPr lang="en-US" b="0" i="0" dirty="0">
                <a:solidFill>
                  <a:srgbClr val="000000"/>
                </a:solidFill>
                <a:effectLst/>
              </a:rPr>
              <a:t>Computer Science</a:t>
            </a:r>
          </a:p>
          <a:p>
            <a:pPr marL="742950" lvl="1" indent="-285750" algn="just">
              <a:lnSpc>
                <a:spcPct val="200000"/>
              </a:lnSpc>
              <a:buFont typeface="Wingdings" panose="05000000000000000000" pitchFamily="2" charset="2"/>
              <a:buChar char="q"/>
            </a:pPr>
            <a:r>
              <a:rPr lang="en-US" b="0" i="0" dirty="0">
                <a:solidFill>
                  <a:srgbClr val="000000"/>
                </a:solidFill>
                <a:effectLst/>
              </a:rPr>
              <a:t>Neurons Study</a:t>
            </a:r>
          </a:p>
          <a:p>
            <a:pPr marL="742950" lvl="1" indent="-285750" algn="just">
              <a:lnSpc>
                <a:spcPct val="200000"/>
              </a:lnSpc>
              <a:buFont typeface="Wingdings" panose="05000000000000000000" pitchFamily="2" charset="2"/>
              <a:buChar char="q"/>
            </a:pPr>
            <a:r>
              <a:rPr lang="en-US" b="0" i="0" dirty="0">
                <a:solidFill>
                  <a:srgbClr val="000000"/>
                </a:solidFill>
                <a:effectLst/>
              </a:rPr>
              <a:t>Statistics</a:t>
            </a:r>
          </a:p>
          <a:p>
            <a:endParaRPr lang="en-IN" dirty="0"/>
          </a:p>
        </p:txBody>
      </p:sp>
    </p:spTree>
    <p:extLst>
      <p:ext uri="{BB962C8B-B14F-4D97-AF65-F5344CB8AC3E}">
        <p14:creationId xmlns:p14="http://schemas.microsoft.com/office/powerpoint/2010/main" val="37021851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Introduction to AI">
            <a:extLst>
              <a:ext uri="{FF2B5EF4-FFF2-40B4-BE49-F238E27FC236}">
                <a16:creationId xmlns:a16="http://schemas.microsoft.com/office/drawing/2014/main" id="{58D725EF-6285-10BE-78F3-812FE0AAC3A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30943" y="943427"/>
            <a:ext cx="6330114" cy="4764013"/>
          </a:xfrm>
          <a:prstGeom prst="rect">
            <a:avLst/>
          </a:prstGeom>
          <a:solidFill>
            <a:srgbClr val="FFFFFF">
              <a:shade val="85000"/>
            </a:srgbClr>
          </a:solidFill>
          <a:ln w="190500" cap="rnd">
            <a:solidFill>
              <a:srgbClr val="FFFFFF"/>
            </a:solidFill>
          </a:ln>
          <a:effectLst>
            <a:outerShdw blurRad="50000" algn="tl" rotWithShape="0">
              <a:srgbClr val="000000">
                <a:alpha val="41000"/>
              </a:srgbClr>
            </a:outerShdw>
          </a:effectLst>
          <a:scene3d>
            <a:camera prst="orthographicFront"/>
            <a:lightRig rig="twoPt" dir="t">
              <a:rot lat="0" lon="0" rev="7800000"/>
            </a:lightRig>
          </a:scene3d>
          <a:sp3d contourW="6350">
            <a:bevelT w="50800" h="16510"/>
            <a:contourClr>
              <a:srgbClr val="C0C0C0"/>
            </a:contourClr>
          </a:sp3d>
        </p:spPr>
      </p:pic>
    </p:spTree>
    <p:extLst>
      <p:ext uri="{BB962C8B-B14F-4D97-AF65-F5344CB8AC3E}">
        <p14:creationId xmlns:p14="http://schemas.microsoft.com/office/powerpoint/2010/main" val="854980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Box 4">
            <a:extLst>
              <a:ext uri="{FF2B5EF4-FFF2-40B4-BE49-F238E27FC236}">
                <a16:creationId xmlns:a16="http://schemas.microsoft.com/office/drawing/2014/main" id="{B0A7701C-E45A-618D-A9D5-6688FE2DEF19}"/>
              </a:ext>
            </a:extLst>
          </p:cNvPr>
          <p:cNvSpPr txBox="1"/>
          <p:nvPr/>
        </p:nvSpPr>
        <p:spPr>
          <a:xfrm>
            <a:off x="166837" y="428178"/>
            <a:ext cx="11858325" cy="6001643"/>
          </a:xfrm>
          <a:prstGeom prst="rect">
            <a:avLst/>
          </a:prstGeom>
          <a:noFill/>
        </p:spPr>
        <p:txBody>
          <a:bodyPr wrap="square" rtlCol="0">
            <a:spAutoFit/>
          </a:bodyPr>
          <a:lstStyle/>
          <a:p>
            <a:r>
              <a:rPr lang="en-US" sz="2400" b="1" dirty="0"/>
              <a:t>How does AI Works?</a:t>
            </a:r>
            <a:endParaRPr lang="en-US" dirty="0"/>
          </a:p>
          <a:p>
            <a:pPr marL="742950" lvl="1" indent="-285750">
              <a:buFont typeface="Wingdings" panose="05000000000000000000" pitchFamily="2" charset="2"/>
              <a:buChar char="q"/>
            </a:pPr>
            <a:r>
              <a:rPr lang="en-US" dirty="0"/>
              <a:t>Business problem understanding: A clear understanding of the problem statement is necessary to get the desired outcome. ask the client as many questions as possible. Gather relevant information. Focus on what changes the client expecting in the business from the conclusion of this project. Analyze risks and challenges. </a:t>
            </a:r>
          </a:p>
          <a:p>
            <a:pPr lvl="1"/>
            <a:r>
              <a:rPr lang="en-US" dirty="0"/>
              <a:t> </a:t>
            </a:r>
          </a:p>
          <a:p>
            <a:pPr marL="742950" lvl="1" indent="-285750">
              <a:buFont typeface="Wingdings" panose="05000000000000000000" pitchFamily="2" charset="2"/>
              <a:buChar char="q"/>
            </a:pPr>
            <a:r>
              <a:rPr lang="en-US" dirty="0"/>
              <a:t>Data collection &amp; Data Wrangling: Collect relevant data. The amount of data defines the model performance. So more data, the accurate the model is. Data Wrangling is preprocessing the data before feeding the model. Clean the noise data, identify missing values, outliers, skewness, etc. The perfect the data is, the better the outcome.</a:t>
            </a:r>
          </a:p>
          <a:p>
            <a:pPr lvl="1"/>
            <a:endParaRPr lang="en-US" dirty="0"/>
          </a:p>
          <a:p>
            <a:pPr marL="742950" lvl="1" indent="-285750">
              <a:buFont typeface="Wingdings" panose="05000000000000000000" pitchFamily="2" charset="2"/>
              <a:buChar char="q"/>
            </a:pPr>
            <a:r>
              <a:rPr lang="en-US" dirty="0"/>
              <a:t>Exploratory &amp; Statistical analysis of Data: Explore the data derive insights and relations between the features. Eliminate the features that are less correlated or not correlated with the target feature. Perform statistical analysis to under the data better. This step is crucial to know the nature and hidden patterns of the data that helps to choose the model.</a:t>
            </a:r>
          </a:p>
          <a:p>
            <a:pPr lvl="1"/>
            <a:endParaRPr lang="en-US" dirty="0"/>
          </a:p>
          <a:p>
            <a:pPr marL="742950" lvl="1" indent="-285750">
              <a:buFont typeface="Wingdings" panose="05000000000000000000" pitchFamily="2" charset="2"/>
              <a:buChar char="q"/>
            </a:pPr>
            <a:r>
              <a:rPr lang="en-US" dirty="0"/>
              <a:t>Model building: The crucial step of the entire process is model building. Split the dataset into train and test data to train the model and check its performance on test data. Build the appropriate model according to the problem statement.</a:t>
            </a:r>
          </a:p>
          <a:p>
            <a:pPr lvl="1"/>
            <a:endParaRPr lang="en-US" dirty="0"/>
          </a:p>
          <a:p>
            <a:pPr marL="742950" lvl="1" indent="-285750">
              <a:buFont typeface="Wingdings" panose="05000000000000000000" pitchFamily="2" charset="2"/>
              <a:buChar char="q"/>
            </a:pPr>
            <a:r>
              <a:rPr lang="en-US" dirty="0"/>
              <a:t>Model evaluation: Validation is always necessary to obtain an accurate outcome. Evaluate the model’s performance using accuracy score, R2 score, classification report, etc. Improve the performance with respective methodologies if necessary.</a:t>
            </a:r>
            <a:endParaRPr lang="en-IN" dirty="0"/>
          </a:p>
        </p:txBody>
      </p:sp>
    </p:spTree>
    <p:extLst>
      <p:ext uri="{BB962C8B-B14F-4D97-AF65-F5344CB8AC3E}">
        <p14:creationId xmlns:p14="http://schemas.microsoft.com/office/powerpoint/2010/main" val="234310767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00034E6-F635-A745-526F-CB2461AE21DB}"/>
              </a:ext>
            </a:extLst>
          </p:cNvPr>
          <p:cNvSpPr txBox="1"/>
          <p:nvPr/>
        </p:nvSpPr>
        <p:spPr>
          <a:xfrm>
            <a:off x="171650" y="289679"/>
            <a:ext cx="11848699" cy="6278642"/>
          </a:xfrm>
          <a:prstGeom prst="rect">
            <a:avLst/>
          </a:prstGeom>
          <a:noFill/>
        </p:spPr>
        <p:txBody>
          <a:bodyPr wrap="square" rtlCol="0">
            <a:spAutoFit/>
          </a:bodyPr>
          <a:lstStyle/>
          <a:p>
            <a:pPr algn="just"/>
            <a:r>
              <a:rPr lang="en-US" sz="2400" b="1" i="0" dirty="0">
                <a:effectLst/>
              </a:rPr>
              <a:t>Advantages of Artificial Intelligence:</a:t>
            </a:r>
          </a:p>
          <a:p>
            <a:pPr algn="just"/>
            <a:r>
              <a:rPr lang="en-US" b="0" i="0" dirty="0">
                <a:solidFill>
                  <a:srgbClr val="333333"/>
                </a:solidFill>
                <a:effectLst/>
              </a:rPr>
              <a:t>Following are some main advantages of Artificial Intelligence:</a:t>
            </a:r>
          </a:p>
          <a:p>
            <a:pPr algn="just"/>
            <a:endParaRPr lang="en-US" b="0" i="0" dirty="0">
              <a:solidFill>
                <a:srgbClr val="333333"/>
              </a:solidFill>
              <a:effectLst/>
            </a:endParaRPr>
          </a:p>
          <a:p>
            <a:pPr marL="285750" indent="-285750" algn="just">
              <a:lnSpc>
                <a:spcPct val="150000"/>
              </a:lnSpc>
              <a:buFont typeface="Wingdings" panose="05000000000000000000" pitchFamily="2" charset="2"/>
              <a:buChar char="q"/>
            </a:pPr>
            <a:r>
              <a:rPr lang="en-US" b="1" i="0" dirty="0">
                <a:solidFill>
                  <a:srgbClr val="000000"/>
                </a:solidFill>
                <a:effectLst/>
              </a:rPr>
              <a:t>High Accuracy with less errors:</a:t>
            </a:r>
            <a:r>
              <a:rPr lang="en-US" b="0" i="0" dirty="0">
                <a:solidFill>
                  <a:srgbClr val="000000"/>
                </a:solidFill>
                <a:effectLst/>
              </a:rPr>
              <a:t> AI machines or systems are prone to less errors and high accuracy as it takes decisions as per pre-experience or information.</a:t>
            </a:r>
          </a:p>
          <a:p>
            <a:pPr marL="285750" indent="-285750" algn="just">
              <a:lnSpc>
                <a:spcPct val="150000"/>
              </a:lnSpc>
              <a:buFont typeface="Wingdings" panose="05000000000000000000" pitchFamily="2" charset="2"/>
              <a:buChar char="q"/>
            </a:pPr>
            <a:r>
              <a:rPr lang="en-US" b="1" i="0" dirty="0">
                <a:solidFill>
                  <a:srgbClr val="000000"/>
                </a:solidFill>
                <a:effectLst/>
              </a:rPr>
              <a:t>High-Speed:</a:t>
            </a:r>
            <a:r>
              <a:rPr lang="en-US" b="0" i="0" dirty="0">
                <a:solidFill>
                  <a:srgbClr val="000000"/>
                </a:solidFill>
                <a:effectLst/>
              </a:rPr>
              <a:t> AI systems can be of very high-speed and fast-decision making, because of that AI systems can beat a chess champion in the Chess game.</a:t>
            </a:r>
          </a:p>
          <a:p>
            <a:pPr marL="285750" indent="-285750" algn="just">
              <a:lnSpc>
                <a:spcPct val="150000"/>
              </a:lnSpc>
              <a:buFont typeface="Wingdings" panose="05000000000000000000" pitchFamily="2" charset="2"/>
              <a:buChar char="q"/>
            </a:pPr>
            <a:r>
              <a:rPr lang="en-US" b="1" i="0" dirty="0">
                <a:solidFill>
                  <a:srgbClr val="000000"/>
                </a:solidFill>
                <a:effectLst/>
              </a:rPr>
              <a:t>High reliability:</a:t>
            </a:r>
            <a:r>
              <a:rPr lang="en-US" b="0" i="0" dirty="0">
                <a:solidFill>
                  <a:srgbClr val="000000"/>
                </a:solidFill>
                <a:effectLst/>
              </a:rPr>
              <a:t> AI machines are highly reliable and can perform the same action multiple times with high accuracy.</a:t>
            </a:r>
          </a:p>
          <a:p>
            <a:pPr marL="285750" indent="-285750" algn="just">
              <a:lnSpc>
                <a:spcPct val="150000"/>
              </a:lnSpc>
              <a:buFont typeface="Wingdings" panose="05000000000000000000" pitchFamily="2" charset="2"/>
              <a:buChar char="q"/>
            </a:pPr>
            <a:r>
              <a:rPr lang="en-US" b="1" i="0" dirty="0">
                <a:solidFill>
                  <a:srgbClr val="000000"/>
                </a:solidFill>
                <a:effectLst/>
              </a:rPr>
              <a:t>Useful for risky areas:</a:t>
            </a:r>
            <a:r>
              <a:rPr lang="en-US" b="0" i="0" dirty="0">
                <a:solidFill>
                  <a:srgbClr val="000000"/>
                </a:solidFill>
                <a:effectLst/>
              </a:rPr>
              <a:t> AI machines can be helpful in situations such as defusing a bomb, exploring the ocean floor, where to employ a human can be risky.</a:t>
            </a:r>
          </a:p>
          <a:p>
            <a:pPr marL="285750" indent="-285750" algn="just">
              <a:lnSpc>
                <a:spcPct val="150000"/>
              </a:lnSpc>
              <a:buFont typeface="Wingdings" panose="05000000000000000000" pitchFamily="2" charset="2"/>
              <a:buChar char="q"/>
            </a:pPr>
            <a:r>
              <a:rPr lang="en-US" b="1" i="0" dirty="0">
                <a:solidFill>
                  <a:srgbClr val="000000"/>
                </a:solidFill>
                <a:effectLst/>
              </a:rPr>
              <a:t>Digital Assistant:</a:t>
            </a:r>
            <a:r>
              <a:rPr lang="en-US" b="0" i="0" dirty="0">
                <a:solidFill>
                  <a:srgbClr val="000000"/>
                </a:solidFill>
                <a:effectLst/>
              </a:rPr>
              <a:t> AI can be very useful to provide digital assistant to the users such as AI technology is currently used by various E-commerce websites to show the products as per customer requirement.</a:t>
            </a:r>
          </a:p>
          <a:p>
            <a:pPr marL="285750" indent="-285750" algn="just">
              <a:lnSpc>
                <a:spcPct val="150000"/>
              </a:lnSpc>
              <a:buFont typeface="Wingdings" panose="05000000000000000000" pitchFamily="2" charset="2"/>
              <a:buChar char="q"/>
            </a:pPr>
            <a:r>
              <a:rPr lang="en-US" b="1" i="0" dirty="0">
                <a:solidFill>
                  <a:srgbClr val="000000"/>
                </a:solidFill>
                <a:effectLst/>
              </a:rPr>
              <a:t>Useful as a public utility:</a:t>
            </a:r>
            <a:r>
              <a:rPr lang="en-US" b="0" i="0" dirty="0">
                <a:solidFill>
                  <a:srgbClr val="000000"/>
                </a:solidFill>
                <a:effectLst/>
              </a:rPr>
              <a:t> AI can be very useful for public utilities such as a self-driving car which can make our journey safer and hassle-free, facial recognition for security purpose, Natural language processing to communicate with the human in human-language, etc.</a:t>
            </a:r>
          </a:p>
          <a:p>
            <a:endParaRPr lang="en-IN" dirty="0"/>
          </a:p>
        </p:txBody>
      </p:sp>
    </p:spTree>
    <p:extLst>
      <p:ext uri="{BB962C8B-B14F-4D97-AF65-F5344CB8AC3E}">
        <p14:creationId xmlns:p14="http://schemas.microsoft.com/office/powerpoint/2010/main" val="426639622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78D6C6B-314D-33EC-A447-C23EF4EA7103}"/>
              </a:ext>
            </a:extLst>
          </p:cNvPr>
          <p:cNvSpPr txBox="1"/>
          <p:nvPr/>
        </p:nvSpPr>
        <p:spPr>
          <a:xfrm>
            <a:off x="0" y="370521"/>
            <a:ext cx="11964202" cy="6417141"/>
          </a:xfrm>
          <a:prstGeom prst="rect">
            <a:avLst/>
          </a:prstGeom>
          <a:noFill/>
        </p:spPr>
        <p:txBody>
          <a:bodyPr wrap="square" rtlCol="0">
            <a:spAutoFit/>
          </a:bodyPr>
          <a:lstStyle/>
          <a:p>
            <a:pPr algn="just"/>
            <a:r>
              <a:rPr lang="en-US" sz="2400" b="1" i="0" dirty="0">
                <a:effectLst/>
              </a:rPr>
              <a:t>Disadvantages of Artificial Intelligence:</a:t>
            </a:r>
          </a:p>
          <a:p>
            <a:pPr marL="285750" indent="-285750" algn="just">
              <a:buFont typeface="Arial" panose="020B0604020202020204" pitchFamily="34" charset="0"/>
              <a:buChar char="•"/>
            </a:pPr>
            <a:r>
              <a:rPr lang="en-US" b="0" i="0" dirty="0">
                <a:solidFill>
                  <a:srgbClr val="333333"/>
                </a:solidFill>
                <a:effectLst/>
              </a:rPr>
              <a:t>Every technology has some disadvantages, and </a:t>
            </a:r>
            <a:r>
              <a:rPr lang="en-US" b="0" i="0" dirty="0" err="1">
                <a:solidFill>
                  <a:srgbClr val="333333"/>
                </a:solidFill>
                <a:effectLst/>
              </a:rPr>
              <a:t>thesame</a:t>
            </a:r>
            <a:r>
              <a:rPr lang="en-US" b="0" i="0" dirty="0">
                <a:solidFill>
                  <a:srgbClr val="333333"/>
                </a:solidFill>
                <a:effectLst/>
              </a:rPr>
              <a:t> goes for Artificial intelligence. Being so advantageous technology still, it has some disadvantages which we need to keep in our mind while creating an AI system. </a:t>
            </a:r>
          </a:p>
          <a:p>
            <a:pPr marL="285750" indent="-285750" algn="just">
              <a:buFont typeface="Arial" panose="020B0604020202020204" pitchFamily="34" charset="0"/>
              <a:buChar char="•"/>
            </a:pPr>
            <a:r>
              <a:rPr lang="en-US" b="0" i="0" dirty="0">
                <a:solidFill>
                  <a:srgbClr val="333333"/>
                </a:solidFill>
                <a:effectLst/>
              </a:rPr>
              <a:t>Following are the disadvantages of AI:</a:t>
            </a:r>
          </a:p>
          <a:p>
            <a:pPr algn="just"/>
            <a:endParaRPr lang="en-US" b="0" i="0" dirty="0">
              <a:solidFill>
                <a:srgbClr val="333333"/>
              </a:solidFill>
              <a:effectLst/>
            </a:endParaRPr>
          </a:p>
          <a:p>
            <a:pPr marL="285750" indent="-285750" algn="just">
              <a:lnSpc>
                <a:spcPct val="150000"/>
              </a:lnSpc>
              <a:buFont typeface="Wingdings" panose="05000000000000000000" pitchFamily="2" charset="2"/>
              <a:buChar char="q"/>
            </a:pPr>
            <a:r>
              <a:rPr lang="en-US" b="1" i="0" dirty="0">
                <a:solidFill>
                  <a:srgbClr val="000000"/>
                </a:solidFill>
                <a:effectLst/>
              </a:rPr>
              <a:t>High Cost:</a:t>
            </a:r>
            <a:r>
              <a:rPr lang="en-US" b="0" i="0" dirty="0">
                <a:solidFill>
                  <a:srgbClr val="000000"/>
                </a:solidFill>
                <a:effectLst/>
              </a:rPr>
              <a:t> The hardware and software requirement of AI is very costly as it requires lots of maintenance to meet current world requirements.</a:t>
            </a:r>
          </a:p>
          <a:p>
            <a:pPr marL="285750" indent="-285750" algn="just">
              <a:lnSpc>
                <a:spcPct val="150000"/>
              </a:lnSpc>
              <a:buFont typeface="Wingdings" panose="05000000000000000000" pitchFamily="2" charset="2"/>
              <a:buChar char="q"/>
            </a:pPr>
            <a:r>
              <a:rPr lang="en-US" b="1" i="0" dirty="0">
                <a:solidFill>
                  <a:srgbClr val="000000"/>
                </a:solidFill>
                <a:effectLst/>
              </a:rPr>
              <a:t>Can't think out of the box:</a:t>
            </a:r>
            <a:r>
              <a:rPr lang="en-US" b="0" i="0" dirty="0">
                <a:solidFill>
                  <a:srgbClr val="000000"/>
                </a:solidFill>
                <a:effectLst/>
              </a:rPr>
              <a:t> Even we are making smarter machines with AI, but still they cannot work out of the box, as the robot will only do that work for which they are trained, or programmed.</a:t>
            </a:r>
          </a:p>
          <a:p>
            <a:pPr marL="285750" indent="-285750" algn="just">
              <a:lnSpc>
                <a:spcPct val="150000"/>
              </a:lnSpc>
              <a:buFont typeface="Wingdings" panose="05000000000000000000" pitchFamily="2" charset="2"/>
              <a:buChar char="q"/>
            </a:pPr>
            <a:r>
              <a:rPr lang="en-US" b="1" i="0" dirty="0">
                <a:solidFill>
                  <a:srgbClr val="000000"/>
                </a:solidFill>
                <a:effectLst/>
              </a:rPr>
              <a:t>No feelings and emotions:</a:t>
            </a:r>
            <a:r>
              <a:rPr lang="en-US" b="0" i="0" dirty="0">
                <a:solidFill>
                  <a:srgbClr val="000000"/>
                </a:solidFill>
                <a:effectLst/>
              </a:rPr>
              <a:t> AI machines can be an outstanding performer, but still it does not have the feeling so it cannot make any kind of emotional attachment with human, and may sometime be harmful for users if the proper care is not taken.</a:t>
            </a:r>
          </a:p>
          <a:p>
            <a:pPr marL="285750" indent="-285750" algn="just">
              <a:lnSpc>
                <a:spcPct val="150000"/>
              </a:lnSpc>
              <a:buFont typeface="Wingdings" panose="05000000000000000000" pitchFamily="2" charset="2"/>
              <a:buChar char="q"/>
            </a:pPr>
            <a:r>
              <a:rPr lang="en-US" b="1" i="0" dirty="0">
                <a:solidFill>
                  <a:srgbClr val="000000"/>
                </a:solidFill>
                <a:effectLst/>
              </a:rPr>
              <a:t>Increase dependency on machines:</a:t>
            </a:r>
            <a:r>
              <a:rPr lang="en-US" b="0" i="0" dirty="0">
                <a:solidFill>
                  <a:srgbClr val="000000"/>
                </a:solidFill>
                <a:effectLst/>
              </a:rPr>
              <a:t> With the increment of technology, people are getting more dependent on devices and hence they are losing their mental capabilities.</a:t>
            </a:r>
          </a:p>
          <a:p>
            <a:pPr marL="285750" indent="-285750" algn="just">
              <a:lnSpc>
                <a:spcPct val="150000"/>
              </a:lnSpc>
              <a:buFont typeface="Wingdings" panose="05000000000000000000" pitchFamily="2" charset="2"/>
              <a:buChar char="q"/>
            </a:pPr>
            <a:r>
              <a:rPr lang="en-US" b="1" i="0" dirty="0">
                <a:solidFill>
                  <a:srgbClr val="000000"/>
                </a:solidFill>
                <a:effectLst/>
              </a:rPr>
              <a:t>No Original Creativity:</a:t>
            </a:r>
            <a:r>
              <a:rPr lang="en-US" b="0" i="0" dirty="0">
                <a:solidFill>
                  <a:srgbClr val="000000"/>
                </a:solidFill>
                <a:effectLst/>
              </a:rPr>
              <a:t> As humans are so creative and can imagine some new ideas but still AI machines cannot beat this power of human intelligence and cannot be creative and imaginative.</a:t>
            </a:r>
          </a:p>
          <a:p>
            <a:endParaRPr lang="en-IN" dirty="0"/>
          </a:p>
        </p:txBody>
      </p:sp>
    </p:spTree>
    <p:extLst>
      <p:ext uri="{BB962C8B-B14F-4D97-AF65-F5344CB8AC3E}">
        <p14:creationId xmlns:p14="http://schemas.microsoft.com/office/powerpoint/2010/main" val="229115966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07480D7E-2C47-E62B-F7D1-60D7150BBF9B}"/>
              </a:ext>
            </a:extLst>
          </p:cNvPr>
          <p:cNvSpPr txBox="1"/>
          <p:nvPr/>
        </p:nvSpPr>
        <p:spPr>
          <a:xfrm>
            <a:off x="214963" y="336883"/>
            <a:ext cx="11762072" cy="1846659"/>
          </a:xfrm>
          <a:prstGeom prst="rect">
            <a:avLst/>
          </a:prstGeom>
          <a:noFill/>
        </p:spPr>
        <p:txBody>
          <a:bodyPr wrap="square" rtlCol="0">
            <a:spAutoFit/>
          </a:bodyPr>
          <a:lstStyle/>
          <a:p>
            <a:r>
              <a:rPr lang="en-US" sz="2400" b="1" i="0" dirty="0">
                <a:effectLst/>
              </a:rPr>
              <a:t>Application of AI:</a:t>
            </a:r>
          </a:p>
          <a:p>
            <a:pPr marL="285750" indent="-285750">
              <a:buFont typeface="Arial" panose="020B0604020202020204" pitchFamily="34" charset="0"/>
              <a:buChar char="•"/>
            </a:pPr>
            <a:r>
              <a:rPr lang="en-US" b="0" i="0" dirty="0">
                <a:solidFill>
                  <a:srgbClr val="333333"/>
                </a:solidFill>
                <a:effectLst/>
              </a:rPr>
              <a:t>Artificial Intelligence has various applications in today's society. It is becoming essential for today's time because it can solve complex problems with an efficient way in multiple industries, such as Healthcare, entertainment, finance, education, etc. AI is making our daily life more comfortable and fast.</a:t>
            </a:r>
          </a:p>
          <a:p>
            <a:r>
              <a:rPr lang="en-US" b="0" i="0" dirty="0">
                <a:solidFill>
                  <a:srgbClr val="333333"/>
                </a:solidFill>
                <a:effectLst/>
              </a:rPr>
              <a:t>Following are some sectors which have the application of Artificial Intelligence:</a:t>
            </a:r>
          </a:p>
          <a:p>
            <a:endParaRPr lang="en-IN" dirty="0"/>
          </a:p>
        </p:txBody>
      </p:sp>
      <p:pic>
        <p:nvPicPr>
          <p:cNvPr id="4098" name="Picture 2" descr="Application of AI">
            <a:extLst>
              <a:ext uri="{FF2B5EF4-FFF2-40B4-BE49-F238E27FC236}">
                <a16:creationId xmlns:a16="http://schemas.microsoft.com/office/drawing/2014/main" id="{81DB1507-9A94-8865-6922-CEED6D62B57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43287" y="2177717"/>
            <a:ext cx="5305425" cy="4343400"/>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44868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4C3ED4D-1184-82BD-47BD-39E1E7C75A58}"/>
              </a:ext>
            </a:extLst>
          </p:cNvPr>
          <p:cNvSpPr txBox="1"/>
          <p:nvPr/>
        </p:nvSpPr>
        <p:spPr>
          <a:xfrm>
            <a:off x="166837" y="348526"/>
            <a:ext cx="11858325" cy="6509474"/>
          </a:xfrm>
          <a:prstGeom prst="rect">
            <a:avLst/>
          </a:prstGeom>
          <a:noFill/>
        </p:spPr>
        <p:txBody>
          <a:bodyPr wrap="square" rtlCol="0">
            <a:spAutoFit/>
          </a:bodyPr>
          <a:lstStyle/>
          <a:p>
            <a:pPr marL="457200" indent="-457200">
              <a:buAutoNum type="arabicPeriod"/>
            </a:pPr>
            <a:r>
              <a:rPr lang="en-US" sz="2400" b="1" i="0" dirty="0">
                <a:effectLst/>
              </a:rPr>
              <a:t>AI in Astronomy</a:t>
            </a:r>
          </a:p>
          <a:p>
            <a:pPr marL="285750" indent="-285750">
              <a:lnSpc>
                <a:spcPct val="150000"/>
              </a:lnSpc>
              <a:buFont typeface="Wingdings" panose="05000000000000000000" pitchFamily="2" charset="2"/>
              <a:buChar char="q"/>
            </a:pPr>
            <a:r>
              <a:rPr lang="en-US" b="0" i="0" dirty="0">
                <a:solidFill>
                  <a:srgbClr val="000000"/>
                </a:solidFill>
                <a:effectLst/>
              </a:rPr>
              <a:t>Artificial Intelligence can be very useful to solve complex universe problems. AI technology can be helpful for understanding the universe such as how it works, origin, etc.</a:t>
            </a:r>
          </a:p>
          <a:p>
            <a:pPr>
              <a:buFont typeface="Arial" panose="020B0604020202020204" pitchFamily="34" charset="0"/>
              <a:buChar char="•"/>
            </a:pPr>
            <a:endParaRPr lang="en-US" b="0" i="0" dirty="0">
              <a:solidFill>
                <a:srgbClr val="000000"/>
              </a:solidFill>
              <a:effectLst/>
            </a:endParaRPr>
          </a:p>
          <a:p>
            <a:r>
              <a:rPr lang="en-US" sz="2400" b="1" i="0" dirty="0">
                <a:effectLst/>
              </a:rPr>
              <a:t>2. AI in Healthcare</a:t>
            </a:r>
          </a:p>
          <a:p>
            <a:endParaRPr lang="en-US" sz="2400" b="1" i="0" dirty="0">
              <a:effectLst/>
            </a:endParaRPr>
          </a:p>
          <a:p>
            <a:pPr marL="285750" indent="-285750">
              <a:lnSpc>
                <a:spcPct val="150000"/>
              </a:lnSpc>
              <a:buFont typeface="Wingdings" panose="05000000000000000000" pitchFamily="2" charset="2"/>
              <a:buChar char="q"/>
            </a:pPr>
            <a:r>
              <a:rPr lang="en-US" b="0" i="0" dirty="0">
                <a:solidFill>
                  <a:srgbClr val="000000"/>
                </a:solidFill>
                <a:effectLst/>
              </a:rPr>
              <a:t>In the last, five to ten years, AI becoming more advantageous for the healthcare industry and going to have a significant impact on this industry.</a:t>
            </a:r>
          </a:p>
          <a:p>
            <a:pPr marL="285750" indent="-285750">
              <a:lnSpc>
                <a:spcPct val="150000"/>
              </a:lnSpc>
              <a:buFont typeface="Wingdings" panose="05000000000000000000" pitchFamily="2" charset="2"/>
              <a:buChar char="q"/>
            </a:pPr>
            <a:r>
              <a:rPr lang="en-US" b="0" i="0" dirty="0">
                <a:solidFill>
                  <a:srgbClr val="000000"/>
                </a:solidFill>
                <a:effectLst/>
              </a:rPr>
              <a:t>Healthcare Industries are applying AI to make a better and faster diagnosis than humans. AI can help doctors with diagnoses and can inform when patients are worsening so that medical help can reach to the patient before hospitalization.</a:t>
            </a:r>
          </a:p>
          <a:p>
            <a:pPr>
              <a:buFont typeface="Arial" panose="020B0604020202020204" pitchFamily="34" charset="0"/>
              <a:buChar char="•"/>
            </a:pPr>
            <a:endParaRPr lang="en-US" b="0" i="0" dirty="0">
              <a:solidFill>
                <a:srgbClr val="000000"/>
              </a:solidFill>
              <a:effectLst/>
            </a:endParaRPr>
          </a:p>
          <a:p>
            <a:r>
              <a:rPr lang="en-US" sz="2400" b="1" i="0" dirty="0">
                <a:effectLst/>
              </a:rPr>
              <a:t>3. AI in Gaming</a:t>
            </a:r>
          </a:p>
          <a:p>
            <a:endParaRPr lang="en-US" sz="2400" b="1" i="0" dirty="0">
              <a:effectLst/>
            </a:endParaRPr>
          </a:p>
          <a:p>
            <a:pPr marL="285750" indent="-285750">
              <a:lnSpc>
                <a:spcPct val="150000"/>
              </a:lnSpc>
              <a:buFont typeface="Wingdings" panose="05000000000000000000" pitchFamily="2" charset="2"/>
              <a:buChar char="q"/>
            </a:pPr>
            <a:r>
              <a:rPr lang="en-US" b="0" i="0" dirty="0">
                <a:solidFill>
                  <a:srgbClr val="000000"/>
                </a:solidFill>
                <a:effectLst/>
              </a:rPr>
              <a:t>AI can be used for gaming purpose. The AI machines can play strategic games like chess, where the machine needs to think of a large number of possible places.</a:t>
            </a:r>
          </a:p>
          <a:p>
            <a:endParaRPr lang="en-IN" dirty="0"/>
          </a:p>
        </p:txBody>
      </p:sp>
    </p:spTree>
    <p:extLst>
      <p:ext uri="{BB962C8B-B14F-4D97-AF65-F5344CB8AC3E}">
        <p14:creationId xmlns:p14="http://schemas.microsoft.com/office/powerpoint/2010/main" val="25219577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6C3776-5FD0-1A96-FAB4-E00ABB084BF7}"/>
              </a:ext>
            </a:extLst>
          </p:cNvPr>
          <p:cNvSpPr txBox="1"/>
          <p:nvPr/>
        </p:nvSpPr>
        <p:spPr>
          <a:xfrm>
            <a:off x="181276" y="335845"/>
            <a:ext cx="11829448" cy="6186309"/>
          </a:xfrm>
          <a:prstGeom prst="rect">
            <a:avLst/>
          </a:prstGeom>
          <a:noFill/>
        </p:spPr>
        <p:txBody>
          <a:bodyPr wrap="square" rtlCol="0">
            <a:spAutoFit/>
          </a:bodyPr>
          <a:lstStyle/>
          <a:p>
            <a:r>
              <a:rPr lang="en-US" sz="2400" b="1" i="0" dirty="0">
                <a:effectLst/>
              </a:rPr>
              <a:t>4. AI in Finance:</a:t>
            </a:r>
          </a:p>
          <a:p>
            <a:pPr marL="285750" indent="-285750">
              <a:lnSpc>
                <a:spcPct val="150000"/>
              </a:lnSpc>
              <a:buFont typeface="Wingdings" panose="05000000000000000000" pitchFamily="2" charset="2"/>
              <a:buChar char="q"/>
            </a:pPr>
            <a:r>
              <a:rPr lang="en-US" b="0" i="0" dirty="0">
                <a:solidFill>
                  <a:srgbClr val="000000"/>
                </a:solidFill>
                <a:effectLst/>
              </a:rPr>
              <a:t>AI and finance industries are the best matches for each other. The finance industry is implementing automation, chatbot, adaptive intelligence, algorithm trading, and machine learning into financial processes.</a:t>
            </a:r>
          </a:p>
          <a:p>
            <a:pPr>
              <a:buFont typeface="Arial" panose="020B0604020202020204" pitchFamily="34" charset="0"/>
              <a:buChar char="•"/>
            </a:pPr>
            <a:endParaRPr lang="en-US" b="0" i="0" dirty="0">
              <a:solidFill>
                <a:srgbClr val="000000"/>
              </a:solidFill>
              <a:effectLst/>
            </a:endParaRPr>
          </a:p>
          <a:p>
            <a:r>
              <a:rPr lang="en-US" sz="2400" b="1" i="0" dirty="0">
                <a:effectLst/>
              </a:rPr>
              <a:t>5. AI in Data Security:</a:t>
            </a:r>
          </a:p>
          <a:p>
            <a:endParaRPr lang="en-US" sz="2400" b="1" i="0" dirty="0">
              <a:effectLst/>
            </a:endParaRPr>
          </a:p>
          <a:p>
            <a:pPr marL="285750" indent="-285750">
              <a:lnSpc>
                <a:spcPct val="150000"/>
              </a:lnSpc>
              <a:buFont typeface="Wingdings" panose="05000000000000000000" pitchFamily="2" charset="2"/>
              <a:buChar char="q"/>
            </a:pPr>
            <a:r>
              <a:rPr lang="en-US" b="0" i="0" dirty="0">
                <a:solidFill>
                  <a:srgbClr val="000000"/>
                </a:solidFill>
                <a:effectLst/>
              </a:rPr>
              <a:t>The security of data is crucial for every company and cyber-attacks are growing very rapidly in the digital world. AI can be used to make your data more safe and secure. Some examples such as AEG bot, AI2 </a:t>
            </a:r>
            <a:r>
              <a:rPr lang="en-US" b="0" i="0" dirty="0" err="1">
                <a:solidFill>
                  <a:srgbClr val="000000"/>
                </a:solidFill>
                <a:effectLst/>
              </a:rPr>
              <a:t>Platform,are</a:t>
            </a:r>
            <a:r>
              <a:rPr lang="en-US" b="0" i="0" dirty="0">
                <a:solidFill>
                  <a:srgbClr val="000000"/>
                </a:solidFill>
                <a:effectLst/>
              </a:rPr>
              <a:t> used to determine software bug and cyber-attacks in a better way.</a:t>
            </a:r>
          </a:p>
          <a:p>
            <a:endParaRPr lang="en-US" sz="2400" b="1" i="0" dirty="0">
              <a:effectLst/>
            </a:endParaRPr>
          </a:p>
          <a:p>
            <a:r>
              <a:rPr lang="en-US" sz="2400" b="1" i="0" dirty="0">
                <a:effectLst/>
              </a:rPr>
              <a:t>6. AI in Social Media:</a:t>
            </a:r>
          </a:p>
          <a:p>
            <a:endParaRPr lang="en-US" sz="2400" b="1" i="0" dirty="0">
              <a:effectLst/>
            </a:endParaRPr>
          </a:p>
          <a:p>
            <a:pPr marL="285750" indent="-285750">
              <a:lnSpc>
                <a:spcPct val="150000"/>
              </a:lnSpc>
              <a:buFont typeface="Wingdings" panose="05000000000000000000" pitchFamily="2" charset="2"/>
              <a:buChar char="q"/>
            </a:pPr>
            <a:r>
              <a:rPr lang="en-US" b="0" i="0" dirty="0">
                <a:solidFill>
                  <a:srgbClr val="000000"/>
                </a:solidFill>
                <a:effectLst/>
              </a:rPr>
              <a:t>Social Media sites such as Facebook, Twitter, and Snapchat contain billions of user profiles, which need to be stored and managed in a very efficient way. AI can organize and manage massive amounts of data. AI can analyze lots of data to identify the latest trends, hashtag, and requirement of different users.</a:t>
            </a:r>
          </a:p>
          <a:p>
            <a:endParaRPr lang="en-IN" dirty="0"/>
          </a:p>
        </p:txBody>
      </p:sp>
    </p:spTree>
    <p:extLst>
      <p:ext uri="{BB962C8B-B14F-4D97-AF65-F5344CB8AC3E}">
        <p14:creationId xmlns:p14="http://schemas.microsoft.com/office/powerpoint/2010/main" val="9633426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B858B88-2BBD-5575-DE32-1B472A62FE49}"/>
              </a:ext>
            </a:extLst>
          </p:cNvPr>
          <p:cNvSpPr txBox="1"/>
          <p:nvPr/>
        </p:nvSpPr>
        <p:spPr>
          <a:xfrm>
            <a:off x="77002" y="105878"/>
            <a:ext cx="11944952" cy="6878806"/>
          </a:xfrm>
          <a:prstGeom prst="rect">
            <a:avLst/>
          </a:prstGeom>
          <a:noFill/>
        </p:spPr>
        <p:txBody>
          <a:bodyPr wrap="square" rtlCol="0">
            <a:spAutoFit/>
          </a:bodyPr>
          <a:lstStyle/>
          <a:p>
            <a:pPr algn="just"/>
            <a:r>
              <a:rPr lang="en-US" sz="2400" b="1" i="0" dirty="0">
                <a:effectLst/>
              </a:rPr>
              <a:t>7. AI in Travel &amp; Transport</a:t>
            </a:r>
          </a:p>
          <a:p>
            <a:pPr algn="just"/>
            <a:endParaRPr lang="en-US" sz="2400" b="1" i="0" dirty="0">
              <a:effectLst/>
            </a:endParaRPr>
          </a:p>
          <a:p>
            <a:pPr marL="285750" indent="-285750">
              <a:buFont typeface="Wingdings" panose="05000000000000000000" pitchFamily="2" charset="2"/>
              <a:buChar char="q"/>
            </a:pPr>
            <a:r>
              <a:rPr lang="en-US" b="0" i="0" dirty="0">
                <a:solidFill>
                  <a:srgbClr val="000000"/>
                </a:solidFill>
                <a:effectLst/>
              </a:rPr>
              <a:t>AI is becoming highly demanding for travel industries. AI is capable of doing various travel related works such as from making travel arrangement to suggesting the hotels, flights, and best routes to the customers. Travel industries are using AI-powered chatbots which can make human-like interaction with customers for better and fast response.</a:t>
            </a:r>
          </a:p>
          <a:p>
            <a:pPr algn="just"/>
            <a:endParaRPr lang="en-US" b="0" i="0" dirty="0">
              <a:solidFill>
                <a:srgbClr val="000000"/>
              </a:solidFill>
              <a:effectLst/>
            </a:endParaRPr>
          </a:p>
          <a:p>
            <a:pPr algn="just"/>
            <a:r>
              <a:rPr lang="en-US" sz="2400" b="1" i="0" dirty="0">
                <a:effectLst/>
              </a:rPr>
              <a:t>8. AI in Automotive Industry</a:t>
            </a:r>
          </a:p>
          <a:p>
            <a:pPr algn="just"/>
            <a:endParaRPr lang="en-US" sz="2400" b="1" i="0" dirty="0">
              <a:effectLst/>
            </a:endParaRPr>
          </a:p>
          <a:p>
            <a:pPr marL="285750" indent="-285750">
              <a:buFont typeface="Wingdings" panose="05000000000000000000" pitchFamily="2" charset="2"/>
              <a:buChar char="q"/>
            </a:pPr>
            <a:r>
              <a:rPr lang="en-US" b="0" i="0" dirty="0">
                <a:solidFill>
                  <a:srgbClr val="000000"/>
                </a:solidFill>
                <a:effectLst/>
              </a:rPr>
              <a:t>Some Automotive industries are using AI to provide virtual assistant to their user for better performance. Such as Tesla has introduced </a:t>
            </a:r>
            <a:r>
              <a:rPr lang="en-US" b="0" i="0" dirty="0" err="1">
                <a:solidFill>
                  <a:srgbClr val="000000"/>
                </a:solidFill>
                <a:effectLst/>
              </a:rPr>
              <a:t>TeslaBot</a:t>
            </a:r>
            <a:r>
              <a:rPr lang="en-US" b="0" i="0" dirty="0">
                <a:solidFill>
                  <a:srgbClr val="000000"/>
                </a:solidFill>
                <a:effectLst/>
              </a:rPr>
              <a:t>, an intelligent virtual assistant.</a:t>
            </a:r>
          </a:p>
          <a:p>
            <a:pPr marL="285750" indent="-285750">
              <a:buFont typeface="Wingdings" panose="05000000000000000000" pitchFamily="2" charset="2"/>
              <a:buChar char="q"/>
            </a:pPr>
            <a:r>
              <a:rPr lang="en-US" b="0" i="0" dirty="0">
                <a:solidFill>
                  <a:srgbClr val="000000"/>
                </a:solidFill>
                <a:effectLst/>
              </a:rPr>
              <a:t>Various Industries are currently working for developing self-driven cars which can make your journey more safe and secure.</a:t>
            </a:r>
          </a:p>
          <a:p>
            <a:pPr algn="just"/>
            <a:endParaRPr lang="en-US" b="0" i="0" dirty="0">
              <a:solidFill>
                <a:srgbClr val="000000"/>
              </a:solidFill>
              <a:effectLst/>
            </a:endParaRPr>
          </a:p>
          <a:p>
            <a:pPr algn="just"/>
            <a:r>
              <a:rPr lang="en-US" sz="2400" b="1" i="0" dirty="0">
                <a:effectLst/>
              </a:rPr>
              <a:t>9. AI in Robotics:</a:t>
            </a:r>
          </a:p>
          <a:p>
            <a:pPr algn="just"/>
            <a:endParaRPr lang="en-US" sz="2400" b="1" i="0" dirty="0">
              <a:effectLst/>
            </a:endParaRPr>
          </a:p>
          <a:p>
            <a:pPr marL="285750" indent="-285750">
              <a:lnSpc>
                <a:spcPct val="150000"/>
              </a:lnSpc>
              <a:buFont typeface="Wingdings" panose="05000000000000000000" pitchFamily="2" charset="2"/>
              <a:buChar char="q"/>
            </a:pPr>
            <a:r>
              <a:rPr lang="en-US" b="0" i="0" dirty="0">
                <a:solidFill>
                  <a:srgbClr val="000000"/>
                </a:solidFill>
                <a:effectLst/>
              </a:rPr>
              <a:t>Artificial Intelligence has a remarkable role in Robotics. Usually, general robots are programmed such that they can perform some repetitive task, but with the help of AI, we can create intelligent robots which can perform tasks with their own experiences without pre-programmed.</a:t>
            </a:r>
          </a:p>
          <a:p>
            <a:pPr marL="285750" indent="-285750">
              <a:lnSpc>
                <a:spcPct val="150000"/>
              </a:lnSpc>
              <a:buFont typeface="Wingdings" panose="05000000000000000000" pitchFamily="2" charset="2"/>
              <a:buChar char="q"/>
            </a:pPr>
            <a:r>
              <a:rPr lang="en-US" b="0" i="0" dirty="0">
                <a:solidFill>
                  <a:srgbClr val="000000"/>
                </a:solidFill>
                <a:effectLst/>
              </a:rPr>
              <a:t>Humanoid Robots are best examples for AI in robotics, recently the intelligent Humanoid robot named as Erica and Sophia has been developed which can talk and behave like humans.</a:t>
            </a:r>
          </a:p>
          <a:p>
            <a:endParaRPr lang="en-IN" dirty="0"/>
          </a:p>
        </p:txBody>
      </p:sp>
    </p:spTree>
    <p:extLst>
      <p:ext uri="{BB962C8B-B14F-4D97-AF65-F5344CB8AC3E}">
        <p14:creationId xmlns:p14="http://schemas.microsoft.com/office/powerpoint/2010/main" val="3488461575"/>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3875AC-E01B-2FEF-F2E7-AEC9B69CEE98}"/>
              </a:ext>
            </a:extLst>
          </p:cNvPr>
          <p:cNvSpPr txBox="1"/>
          <p:nvPr/>
        </p:nvSpPr>
        <p:spPr>
          <a:xfrm>
            <a:off x="105878" y="401929"/>
            <a:ext cx="11752446" cy="1477328"/>
          </a:xfrm>
          <a:prstGeom prst="rect">
            <a:avLst/>
          </a:prstGeom>
          <a:noFill/>
        </p:spPr>
        <p:txBody>
          <a:bodyPr wrap="square" rtlCol="0">
            <a:spAutoFit/>
          </a:bodyPr>
          <a:lstStyle/>
          <a:p>
            <a:pPr algn="just"/>
            <a:r>
              <a:rPr lang="en-US" b="1" i="0" dirty="0">
                <a:effectLst/>
              </a:rPr>
              <a:t>Types of Artificial Intelligence:</a:t>
            </a:r>
          </a:p>
          <a:p>
            <a:pPr algn="just">
              <a:lnSpc>
                <a:spcPct val="150000"/>
              </a:lnSpc>
            </a:pPr>
            <a:r>
              <a:rPr lang="en-US" b="0" i="0" dirty="0">
                <a:solidFill>
                  <a:srgbClr val="333333"/>
                </a:solidFill>
                <a:effectLst/>
              </a:rPr>
              <a:t>Artificial Intelligence can be divided in various types, there are mainly two types of main categorization which are based on capabilities and based on functionally of AI. Following is flow diagram which explain the types of AI.</a:t>
            </a:r>
          </a:p>
          <a:p>
            <a:endParaRPr lang="en-IN" dirty="0"/>
          </a:p>
        </p:txBody>
      </p:sp>
      <p:pic>
        <p:nvPicPr>
          <p:cNvPr id="5122" name="Picture 2" descr="Types of Artificial Intelligence">
            <a:extLst>
              <a:ext uri="{FF2B5EF4-FFF2-40B4-BE49-F238E27FC236}">
                <a16:creationId xmlns:a16="http://schemas.microsoft.com/office/drawing/2014/main" id="{8627CF9C-FF73-3A30-927B-E6C1FC45BE0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974165" y="2191653"/>
            <a:ext cx="8243669" cy="352575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81324078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81FA81E-2927-3364-569E-C6DAA653AA33}"/>
              </a:ext>
            </a:extLst>
          </p:cNvPr>
          <p:cNvSpPr txBox="1"/>
          <p:nvPr/>
        </p:nvSpPr>
        <p:spPr>
          <a:xfrm>
            <a:off x="214964" y="382012"/>
            <a:ext cx="11762071" cy="6093976"/>
          </a:xfrm>
          <a:prstGeom prst="rect">
            <a:avLst/>
          </a:prstGeom>
          <a:noFill/>
        </p:spPr>
        <p:txBody>
          <a:bodyPr wrap="square" rtlCol="0">
            <a:spAutoFit/>
          </a:bodyPr>
          <a:lstStyle/>
          <a:p>
            <a:pPr algn="just"/>
            <a:r>
              <a:rPr lang="en-US" sz="2400" b="1" i="0" dirty="0">
                <a:effectLst/>
              </a:rPr>
              <a:t>AI type-1: Based on Capabilities</a:t>
            </a:r>
          </a:p>
          <a:p>
            <a:pPr marL="457200" indent="-457200" algn="just">
              <a:buAutoNum type="arabicPeriod"/>
            </a:pPr>
            <a:r>
              <a:rPr lang="en-US" sz="2400" b="1" i="0" dirty="0">
                <a:effectLst/>
              </a:rPr>
              <a:t>Weak AI or Narrow AI:</a:t>
            </a:r>
          </a:p>
          <a:p>
            <a:pPr marL="285750" indent="-285750" algn="just">
              <a:lnSpc>
                <a:spcPct val="200000"/>
              </a:lnSpc>
              <a:buFont typeface="Wingdings" panose="05000000000000000000" pitchFamily="2" charset="2"/>
              <a:buChar char="q"/>
            </a:pPr>
            <a:r>
              <a:rPr lang="en-US" b="0" i="0" dirty="0">
                <a:solidFill>
                  <a:srgbClr val="000000"/>
                </a:solidFill>
                <a:effectLst/>
              </a:rPr>
              <a:t>Narrow AI is a type of AI which is able to perform a dedicated task with </a:t>
            </a:r>
            <a:r>
              <a:rPr lang="en-US" b="0" i="0" dirty="0" err="1">
                <a:solidFill>
                  <a:srgbClr val="000000"/>
                </a:solidFill>
                <a:effectLst/>
              </a:rPr>
              <a:t>intelligence.The</a:t>
            </a:r>
            <a:r>
              <a:rPr lang="en-US" b="0" i="0" dirty="0">
                <a:solidFill>
                  <a:srgbClr val="000000"/>
                </a:solidFill>
                <a:effectLst/>
              </a:rPr>
              <a:t> most common and currently available AI is Narrow AI in the world of Artificial Intelligence.</a:t>
            </a:r>
          </a:p>
          <a:p>
            <a:pPr marL="285750" indent="-285750" algn="just">
              <a:lnSpc>
                <a:spcPct val="200000"/>
              </a:lnSpc>
              <a:buFont typeface="Wingdings" panose="05000000000000000000" pitchFamily="2" charset="2"/>
              <a:buChar char="q"/>
            </a:pPr>
            <a:r>
              <a:rPr lang="en-US" b="0" i="0" dirty="0">
                <a:solidFill>
                  <a:srgbClr val="000000"/>
                </a:solidFill>
                <a:effectLst/>
              </a:rPr>
              <a:t>Narrow AI cannot perform beyond its field or limitations, as it is only trained for one specific task. Hence it is also termed as weak AI. Narrow AI can fail in unpredictable ways if it goes beyond its limits.</a:t>
            </a:r>
          </a:p>
          <a:p>
            <a:pPr marL="285750" indent="-285750" algn="just">
              <a:lnSpc>
                <a:spcPct val="200000"/>
              </a:lnSpc>
              <a:buFont typeface="Wingdings" panose="05000000000000000000" pitchFamily="2" charset="2"/>
              <a:buChar char="q"/>
            </a:pPr>
            <a:r>
              <a:rPr lang="en-US" b="0" i="0" dirty="0">
                <a:solidFill>
                  <a:srgbClr val="000000"/>
                </a:solidFill>
                <a:effectLst/>
              </a:rPr>
              <a:t>Apple </a:t>
            </a:r>
            <a:r>
              <a:rPr lang="en-US" b="0" i="0" dirty="0" err="1">
                <a:solidFill>
                  <a:srgbClr val="000000"/>
                </a:solidFill>
                <a:effectLst/>
              </a:rPr>
              <a:t>Siriis</a:t>
            </a:r>
            <a:r>
              <a:rPr lang="en-US" b="0" i="0" dirty="0">
                <a:solidFill>
                  <a:srgbClr val="000000"/>
                </a:solidFill>
                <a:effectLst/>
              </a:rPr>
              <a:t> a good example of Narrow AI, but it operates with a limited pre-defined range of functions.</a:t>
            </a:r>
          </a:p>
          <a:p>
            <a:pPr marL="285750" indent="-285750" algn="just">
              <a:lnSpc>
                <a:spcPct val="200000"/>
              </a:lnSpc>
              <a:buFont typeface="Wingdings" panose="05000000000000000000" pitchFamily="2" charset="2"/>
              <a:buChar char="q"/>
            </a:pPr>
            <a:r>
              <a:rPr lang="en-US" b="0" i="0" dirty="0">
                <a:solidFill>
                  <a:srgbClr val="000000"/>
                </a:solidFill>
                <a:effectLst/>
              </a:rPr>
              <a:t>IBM's Watson supercomputer also comes under Narrow AI, as it uses an Expert system approach combined with Machine learning and natural language processing.</a:t>
            </a:r>
          </a:p>
          <a:p>
            <a:pPr marL="285750" indent="-285750" algn="just">
              <a:lnSpc>
                <a:spcPct val="200000"/>
              </a:lnSpc>
              <a:buFont typeface="Wingdings" panose="05000000000000000000" pitchFamily="2" charset="2"/>
              <a:buChar char="q"/>
            </a:pPr>
            <a:r>
              <a:rPr lang="en-US" b="0" i="0" dirty="0">
                <a:solidFill>
                  <a:srgbClr val="000000"/>
                </a:solidFill>
                <a:effectLst/>
              </a:rPr>
              <a:t>Some Examples of Narrow AI are playing chess, purchasing suggestions on e-commerce site, self-driving cars, speech recognition, and image recognition.</a:t>
            </a:r>
          </a:p>
          <a:p>
            <a:endParaRPr lang="en-IN" dirty="0"/>
          </a:p>
        </p:txBody>
      </p:sp>
    </p:spTree>
    <p:extLst>
      <p:ext uri="{BB962C8B-B14F-4D97-AF65-F5344CB8AC3E}">
        <p14:creationId xmlns:p14="http://schemas.microsoft.com/office/powerpoint/2010/main" val="428765042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2461E46-CD14-ADC0-103E-72792AC18597}"/>
              </a:ext>
            </a:extLst>
          </p:cNvPr>
          <p:cNvSpPr txBox="1"/>
          <p:nvPr/>
        </p:nvSpPr>
        <p:spPr>
          <a:xfrm>
            <a:off x="115503" y="144379"/>
            <a:ext cx="11733196" cy="4431983"/>
          </a:xfrm>
          <a:prstGeom prst="rect">
            <a:avLst/>
          </a:prstGeom>
          <a:noFill/>
        </p:spPr>
        <p:txBody>
          <a:bodyPr wrap="square" rtlCol="0">
            <a:spAutoFit/>
          </a:bodyPr>
          <a:lstStyle/>
          <a:p>
            <a:pPr algn="just">
              <a:lnSpc>
                <a:spcPct val="200000"/>
              </a:lnSpc>
            </a:pPr>
            <a:r>
              <a:rPr lang="en-US" sz="2400" b="1" i="0" dirty="0">
                <a:effectLst/>
              </a:rPr>
              <a:t>2. General AI:</a:t>
            </a:r>
          </a:p>
          <a:p>
            <a:pPr marL="285750" indent="-285750" algn="just">
              <a:lnSpc>
                <a:spcPct val="200000"/>
              </a:lnSpc>
              <a:buFont typeface="Wingdings" panose="05000000000000000000" pitchFamily="2" charset="2"/>
              <a:buChar char="q"/>
            </a:pPr>
            <a:r>
              <a:rPr lang="en-US" b="0" i="0" dirty="0">
                <a:solidFill>
                  <a:srgbClr val="000000"/>
                </a:solidFill>
                <a:effectLst/>
              </a:rPr>
              <a:t>General AI is a type of intelligence which could perform any intellectual task with efficiency like a human.</a:t>
            </a:r>
          </a:p>
          <a:p>
            <a:pPr marL="285750" indent="-285750" algn="just">
              <a:lnSpc>
                <a:spcPct val="200000"/>
              </a:lnSpc>
              <a:buFont typeface="Wingdings" panose="05000000000000000000" pitchFamily="2" charset="2"/>
              <a:buChar char="q"/>
            </a:pPr>
            <a:r>
              <a:rPr lang="en-US" b="0" i="0" dirty="0">
                <a:solidFill>
                  <a:srgbClr val="000000"/>
                </a:solidFill>
                <a:effectLst/>
              </a:rPr>
              <a:t>The idea behind the general AI to make such a system which could be smarter and think like a human by its own.</a:t>
            </a:r>
          </a:p>
          <a:p>
            <a:pPr marL="285750" indent="-285750" algn="just">
              <a:lnSpc>
                <a:spcPct val="200000"/>
              </a:lnSpc>
              <a:buFont typeface="Wingdings" panose="05000000000000000000" pitchFamily="2" charset="2"/>
              <a:buChar char="q"/>
            </a:pPr>
            <a:r>
              <a:rPr lang="en-US" b="0" i="0" dirty="0">
                <a:solidFill>
                  <a:srgbClr val="000000"/>
                </a:solidFill>
                <a:effectLst/>
              </a:rPr>
              <a:t>Currently, there is no such system exist which could come under general AI and can perform any task as perfect as a human.</a:t>
            </a:r>
          </a:p>
          <a:p>
            <a:pPr marL="285750" indent="-285750" algn="just">
              <a:lnSpc>
                <a:spcPct val="200000"/>
              </a:lnSpc>
              <a:buFont typeface="Wingdings" panose="05000000000000000000" pitchFamily="2" charset="2"/>
              <a:buChar char="q"/>
            </a:pPr>
            <a:r>
              <a:rPr lang="en-US" b="0" i="0" dirty="0">
                <a:solidFill>
                  <a:srgbClr val="000000"/>
                </a:solidFill>
                <a:effectLst/>
              </a:rPr>
              <a:t>The worldwide researchers are now focused on developing machines with General AI.</a:t>
            </a:r>
          </a:p>
          <a:p>
            <a:pPr marL="285750" indent="-285750" algn="just">
              <a:lnSpc>
                <a:spcPct val="200000"/>
              </a:lnSpc>
              <a:buFont typeface="Wingdings" panose="05000000000000000000" pitchFamily="2" charset="2"/>
              <a:buChar char="q"/>
            </a:pPr>
            <a:r>
              <a:rPr lang="en-US" b="0" i="0" dirty="0">
                <a:solidFill>
                  <a:srgbClr val="000000"/>
                </a:solidFill>
                <a:effectLst/>
              </a:rPr>
              <a:t>As systems with general AI are still under research, and it will take lots of efforts and time to develop such systems.</a:t>
            </a:r>
          </a:p>
          <a:p>
            <a:endParaRPr lang="en-IN" dirty="0"/>
          </a:p>
        </p:txBody>
      </p:sp>
    </p:spTree>
    <p:extLst>
      <p:ext uri="{BB962C8B-B14F-4D97-AF65-F5344CB8AC3E}">
        <p14:creationId xmlns:p14="http://schemas.microsoft.com/office/powerpoint/2010/main" val="118278511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04CDF0C-B8DC-F7AF-32B7-C28DFE097330}"/>
              </a:ext>
            </a:extLst>
          </p:cNvPr>
          <p:cNvSpPr txBox="1"/>
          <p:nvPr/>
        </p:nvSpPr>
        <p:spPr>
          <a:xfrm>
            <a:off x="154004" y="173255"/>
            <a:ext cx="11887200" cy="2400657"/>
          </a:xfrm>
          <a:prstGeom prst="rect">
            <a:avLst/>
          </a:prstGeom>
          <a:noFill/>
        </p:spPr>
        <p:txBody>
          <a:bodyPr wrap="square" rtlCol="0">
            <a:spAutoFit/>
          </a:bodyPr>
          <a:lstStyle/>
          <a:p>
            <a:pPr algn="just"/>
            <a:r>
              <a:rPr lang="en-US" sz="2400" b="1" i="0" dirty="0">
                <a:effectLst/>
              </a:rPr>
              <a:t>3. Super AI:</a:t>
            </a:r>
          </a:p>
          <a:p>
            <a:pPr marL="285750" indent="-285750" algn="just">
              <a:buFont typeface="Wingdings" panose="05000000000000000000" pitchFamily="2" charset="2"/>
              <a:buChar char="q"/>
            </a:pPr>
            <a:r>
              <a:rPr lang="en-US" b="0" i="0" dirty="0">
                <a:solidFill>
                  <a:srgbClr val="000000"/>
                </a:solidFill>
                <a:effectLst/>
              </a:rPr>
              <a:t>Super AI is a level of Intelligence of Systems at which machines could surpass human intelligence, and can perform any task better than human with cognitive properties. It is an outcome of general AI.</a:t>
            </a:r>
          </a:p>
          <a:p>
            <a:pPr marL="285750" indent="-285750" algn="just">
              <a:buFont typeface="Wingdings" panose="05000000000000000000" pitchFamily="2" charset="2"/>
              <a:buChar char="q"/>
            </a:pPr>
            <a:r>
              <a:rPr lang="en-US" b="0" i="0" dirty="0">
                <a:solidFill>
                  <a:srgbClr val="000000"/>
                </a:solidFill>
                <a:effectLst/>
              </a:rPr>
              <a:t>Some key characteristics of strong AI include capability include the ability to think, to </a:t>
            </a:r>
            <a:r>
              <a:rPr lang="en-US" b="0" i="0" dirty="0" err="1">
                <a:solidFill>
                  <a:srgbClr val="000000"/>
                </a:solidFill>
                <a:effectLst/>
              </a:rPr>
              <a:t>reason,solve</a:t>
            </a:r>
            <a:r>
              <a:rPr lang="en-US" b="0" i="0" dirty="0">
                <a:solidFill>
                  <a:srgbClr val="000000"/>
                </a:solidFill>
                <a:effectLst/>
              </a:rPr>
              <a:t> the puzzle, make judgments, plan, learn, and communicate by its own.</a:t>
            </a:r>
          </a:p>
          <a:p>
            <a:pPr marL="285750" indent="-285750" algn="just">
              <a:buFont typeface="Wingdings" panose="05000000000000000000" pitchFamily="2" charset="2"/>
              <a:buChar char="q"/>
            </a:pPr>
            <a:r>
              <a:rPr lang="en-US" b="0" i="0" dirty="0">
                <a:solidFill>
                  <a:srgbClr val="000000"/>
                </a:solidFill>
                <a:effectLst/>
              </a:rPr>
              <a:t>Super AI is still a hypothetical concept of Artificial Intelligence. Development of such systems in real is still world changing task.</a:t>
            </a:r>
          </a:p>
          <a:p>
            <a:endParaRPr lang="en-IN" dirty="0"/>
          </a:p>
        </p:txBody>
      </p:sp>
      <p:pic>
        <p:nvPicPr>
          <p:cNvPr id="6146" name="Picture 2" descr="Types of Artificial Intelligence">
            <a:extLst>
              <a:ext uri="{FF2B5EF4-FFF2-40B4-BE49-F238E27FC236}">
                <a16:creationId xmlns:a16="http://schemas.microsoft.com/office/drawing/2014/main" id="{713FED0C-5DCF-D5E7-C72C-FAD748BECB5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17207" y="2686501"/>
            <a:ext cx="8198225" cy="3560294"/>
          </a:xfrm>
          <a:prstGeom prst="rect">
            <a:avLst/>
          </a:prstGeom>
          <a:solidFill>
            <a:srgbClr val="FFFFFF">
              <a:shade val="85000"/>
            </a:srgbClr>
          </a:solidFill>
          <a:ln w="889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pic>
    </p:spTree>
    <p:extLst>
      <p:ext uri="{BB962C8B-B14F-4D97-AF65-F5344CB8AC3E}">
        <p14:creationId xmlns:p14="http://schemas.microsoft.com/office/powerpoint/2010/main" val="114576501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7D93BF2-0236-B50A-A1FB-395644E13F6E}"/>
              </a:ext>
            </a:extLst>
          </p:cNvPr>
          <p:cNvSpPr txBox="1"/>
          <p:nvPr/>
        </p:nvSpPr>
        <p:spPr>
          <a:xfrm>
            <a:off x="134754" y="96253"/>
            <a:ext cx="11867949" cy="5447645"/>
          </a:xfrm>
          <a:prstGeom prst="rect">
            <a:avLst/>
          </a:prstGeom>
          <a:noFill/>
        </p:spPr>
        <p:txBody>
          <a:bodyPr wrap="square" rtlCol="0">
            <a:spAutoFit/>
          </a:bodyPr>
          <a:lstStyle/>
          <a:p>
            <a:pPr algn="just"/>
            <a:r>
              <a:rPr lang="en-US" sz="2400" b="1" i="0" dirty="0">
                <a:effectLst/>
              </a:rPr>
              <a:t>Artificial Intelligence type-2: Based on functionality</a:t>
            </a:r>
          </a:p>
          <a:p>
            <a:pPr marL="457200" indent="-457200" algn="just">
              <a:buAutoNum type="arabicPeriod"/>
            </a:pPr>
            <a:r>
              <a:rPr lang="en-US" sz="2400" b="1" i="0" dirty="0">
                <a:effectLst/>
              </a:rPr>
              <a:t>Reactive Machines</a:t>
            </a:r>
          </a:p>
          <a:p>
            <a:pPr algn="just"/>
            <a:endParaRPr lang="en-US" sz="2400" b="1" i="0" dirty="0">
              <a:effectLst/>
            </a:endParaRPr>
          </a:p>
          <a:p>
            <a:pPr marL="285750" indent="-285750">
              <a:buFont typeface="Wingdings" panose="05000000000000000000" pitchFamily="2" charset="2"/>
              <a:buChar char="q"/>
            </a:pPr>
            <a:r>
              <a:rPr lang="en-US" b="0" i="0" dirty="0">
                <a:solidFill>
                  <a:srgbClr val="000000"/>
                </a:solidFill>
                <a:effectLst/>
              </a:rPr>
              <a:t>Purely reactive machines are the most basic types of Artificial Intelligence.</a:t>
            </a:r>
          </a:p>
          <a:p>
            <a:pPr marL="285750" indent="-285750">
              <a:buFont typeface="Wingdings" panose="05000000000000000000" pitchFamily="2" charset="2"/>
              <a:buChar char="q"/>
            </a:pPr>
            <a:r>
              <a:rPr lang="en-US" b="0" i="0" dirty="0">
                <a:solidFill>
                  <a:srgbClr val="000000"/>
                </a:solidFill>
                <a:effectLst/>
              </a:rPr>
              <a:t>Such AI systems do not store memories or past experiences for future actions.</a:t>
            </a:r>
          </a:p>
          <a:p>
            <a:pPr marL="285750" indent="-285750">
              <a:buFont typeface="Wingdings" panose="05000000000000000000" pitchFamily="2" charset="2"/>
              <a:buChar char="q"/>
            </a:pPr>
            <a:r>
              <a:rPr lang="en-US" b="0" i="0" dirty="0">
                <a:solidFill>
                  <a:srgbClr val="000000"/>
                </a:solidFill>
                <a:effectLst/>
              </a:rPr>
              <a:t>These machines only focus on current scenarios and react on it as per possible best action.</a:t>
            </a:r>
          </a:p>
          <a:p>
            <a:pPr marL="285750" indent="-285750">
              <a:buFont typeface="Wingdings" panose="05000000000000000000" pitchFamily="2" charset="2"/>
              <a:buChar char="q"/>
            </a:pPr>
            <a:r>
              <a:rPr lang="en-US" b="0" i="0" dirty="0">
                <a:solidFill>
                  <a:srgbClr val="000000"/>
                </a:solidFill>
                <a:effectLst/>
              </a:rPr>
              <a:t>IBM's Deep Blue system is an example of reactive machines.</a:t>
            </a:r>
          </a:p>
          <a:p>
            <a:pPr marL="285750" indent="-285750">
              <a:buFont typeface="Wingdings" panose="05000000000000000000" pitchFamily="2" charset="2"/>
              <a:buChar char="q"/>
            </a:pPr>
            <a:r>
              <a:rPr lang="en-US" b="0" i="0" dirty="0">
                <a:solidFill>
                  <a:srgbClr val="000000"/>
                </a:solidFill>
                <a:effectLst/>
              </a:rPr>
              <a:t>Google's AlphaGo is also an example of reactive machines.</a:t>
            </a:r>
          </a:p>
          <a:p>
            <a:pPr algn="just"/>
            <a:endParaRPr lang="en-US" b="0" i="0" dirty="0">
              <a:solidFill>
                <a:srgbClr val="000000"/>
              </a:solidFill>
              <a:effectLst/>
            </a:endParaRPr>
          </a:p>
          <a:p>
            <a:pPr algn="just"/>
            <a:endParaRPr lang="en-US" dirty="0">
              <a:solidFill>
                <a:srgbClr val="000000"/>
              </a:solidFill>
            </a:endParaRPr>
          </a:p>
          <a:p>
            <a:pPr algn="just"/>
            <a:endParaRPr lang="en-US" b="0" i="0" dirty="0">
              <a:solidFill>
                <a:srgbClr val="000000"/>
              </a:solidFill>
              <a:effectLst/>
            </a:endParaRPr>
          </a:p>
          <a:p>
            <a:pPr algn="just"/>
            <a:endParaRPr lang="en-US" b="0" i="0" dirty="0">
              <a:solidFill>
                <a:srgbClr val="000000"/>
              </a:solidFill>
              <a:effectLst/>
            </a:endParaRPr>
          </a:p>
          <a:p>
            <a:pPr algn="just"/>
            <a:r>
              <a:rPr lang="en-US" sz="2400" b="1" i="0" dirty="0">
                <a:effectLst/>
              </a:rPr>
              <a:t>2. Limited Memory</a:t>
            </a:r>
          </a:p>
          <a:p>
            <a:pPr marL="285750" indent="-285750">
              <a:buFont typeface="Wingdings" panose="05000000000000000000" pitchFamily="2" charset="2"/>
              <a:buChar char="q"/>
            </a:pPr>
            <a:r>
              <a:rPr lang="en-US" b="0" i="0" dirty="0">
                <a:solidFill>
                  <a:srgbClr val="000000"/>
                </a:solidFill>
                <a:effectLst/>
              </a:rPr>
              <a:t>Limited memory machines can store past experiences or some data for a short period of time.</a:t>
            </a:r>
          </a:p>
          <a:p>
            <a:pPr marL="285750" indent="-285750">
              <a:buFont typeface="Wingdings" panose="05000000000000000000" pitchFamily="2" charset="2"/>
              <a:buChar char="q"/>
            </a:pPr>
            <a:r>
              <a:rPr lang="en-US" b="0" i="0" dirty="0">
                <a:solidFill>
                  <a:srgbClr val="000000"/>
                </a:solidFill>
                <a:effectLst/>
              </a:rPr>
              <a:t>These machines can use stored data for a limited time period only.</a:t>
            </a:r>
          </a:p>
          <a:p>
            <a:pPr marL="285750" indent="-285750">
              <a:buFont typeface="Wingdings" panose="05000000000000000000" pitchFamily="2" charset="2"/>
              <a:buChar char="q"/>
            </a:pPr>
            <a:r>
              <a:rPr lang="en-US" b="0" i="0" dirty="0">
                <a:solidFill>
                  <a:srgbClr val="000000"/>
                </a:solidFill>
                <a:effectLst/>
              </a:rPr>
              <a:t>Self-driving cars are one of the best examples of Limited Memory systems. These cars can store recent speed of nearby cars, the distance of other cars, speed limit, and other information to navigate the road.</a:t>
            </a:r>
          </a:p>
          <a:p>
            <a:endParaRPr lang="en-IN" dirty="0"/>
          </a:p>
        </p:txBody>
      </p:sp>
    </p:spTree>
    <p:extLst>
      <p:ext uri="{BB962C8B-B14F-4D97-AF65-F5344CB8AC3E}">
        <p14:creationId xmlns:p14="http://schemas.microsoft.com/office/powerpoint/2010/main" val="357706948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303AFF-4B5A-AE53-8F72-FBC04537EF00}"/>
              </a:ext>
            </a:extLst>
          </p:cNvPr>
          <p:cNvSpPr txBox="1"/>
          <p:nvPr/>
        </p:nvSpPr>
        <p:spPr>
          <a:xfrm>
            <a:off x="3436219" y="2659559"/>
            <a:ext cx="4726004" cy="76944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IN" sz="4400" b="1" dirty="0"/>
              <a:t>ALGORITHMS IN AI</a:t>
            </a:r>
          </a:p>
        </p:txBody>
      </p:sp>
    </p:spTree>
    <p:extLst>
      <p:ext uri="{BB962C8B-B14F-4D97-AF65-F5344CB8AC3E}">
        <p14:creationId xmlns:p14="http://schemas.microsoft.com/office/powerpoint/2010/main" val="717731018"/>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14E3D7E-7D42-9173-6D2C-B5A6C6EB215E}"/>
              </a:ext>
            </a:extLst>
          </p:cNvPr>
          <p:cNvSpPr txBox="1"/>
          <p:nvPr/>
        </p:nvSpPr>
        <p:spPr>
          <a:xfrm>
            <a:off x="77002" y="86627"/>
            <a:ext cx="12114998" cy="6278642"/>
          </a:xfrm>
          <a:prstGeom prst="rect">
            <a:avLst/>
          </a:prstGeom>
          <a:noFill/>
        </p:spPr>
        <p:txBody>
          <a:bodyPr wrap="square" rtlCol="0">
            <a:spAutoFit/>
          </a:bodyPr>
          <a:lstStyle/>
          <a:p>
            <a:pPr algn="just"/>
            <a:r>
              <a:rPr lang="en-US" sz="2400" b="1" i="0" dirty="0">
                <a:effectLst/>
              </a:rPr>
              <a:t>Hill Climbing Algorithm in Artificial Intelligence:</a:t>
            </a:r>
          </a:p>
          <a:p>
            <a:pPr marL="285750" indent="-285750">
              <a:lnSpc>
                <a:spcPct val="200000"/>
              </a:lnSpc>
              <a:buFont typeface="Wingdings" panose="05000000000000000000" pitchFamily="2" charset="2"/>
              <a:buChar char="q"/>
            </a:pPr>
            <a:r>
              <a:rPr lang="en-US" b="0" i="0" dirty="0">
                <a:solidFill>
                  <a:srgbClr val="000000"/>
                </a:solidFill>
                <a:effectLst/>
              </a:rPr>
              <a:t>Hill climbing algorithm is a local search algorithm which continuously moves in the direction of increasing elevation/value to find the peak of the mountain or best solution to the problem. It terminates when it reaches a peak value where no neighbor has a higher value.</a:t>
            </a:r>
          </a:p>
          <a:p>
            <a:pPr marL="285750" indent="-285750">
              <a:lnSpc>
                <a:spcPct val="200000"/>
              </a:lnSpc>
              <a:buFont typeface="Wingdings" panose="05000000000000000000" pitchFamily="2" charset="2"/>
              <a:buChar char="q"/>
            </a:pPr>
            <a:r>
              <a:rPr lang="en-US" b="0" i="0" dirty="0">
                <a:solidFill>
                  <a:srgbClr val="000000"/>
                </a:solidFill>
                <a:effectLst/>
              </a:rPr>
              <a:t>Hill climbing algorithm is a technique which is used for optimizing the mathematical problems. One of the widely discussed examples of Hill climbing algorithm is Traveling-salesman Problem in which we need to minimize the distance traveled by the salesman.</a:t>
            </a:r>
          </a:p>
          <a:p>
            <a:pPr marL="285750" indent="-285750">
              <a:lnSpc>
                <a:spcPct val="200000"/>
              </a:lnSpc>
              <a:buFont typeface="Wingdings" panose="05000000000000000000" pitchFamily="2" charset="2"/>
              <a:buChar char="q"/>
            </a:pPr>
            <a:r>
              <a:rPr lang="en-US" b="0" i="0" dirty="0">
                <a:solidFill>
                  <a:srgbClr val="000000"/>
                </a:solidFill>
                <a:effectLst/>
              </a:rPr>
              <a:t>It is also called greedy local search as it only looks to its good immediate neighbor state and not beyond that.</a:t>
            </a:r>
          </a:p>
          <a:p>
            <a:pPr marL="285750" indent="-285750">
              <a:lnSpc>
                <a:spcPct val="200000"/>
              </a:lnSpc>
              <a:buFont typeface="Wingdings" panose="05000000000000000000" pitchFamily="2" charset="2"/>
              <a:buChar char="q"/>
            </a:pPr>
            <a:r>
              <a:rPr lang="en-US" b="0" i="0" dirty="0">
                <a:solidFill>
                  <a:srgbClr val="000000"/>
                </a:solidFill>
                <a:effectLst/>
              </a:rPr>
              <a:t>A node of hill climbing algorithm has two components which are state and value.</a:t>
            </a:r>
          </a:p>
          <a:p>
            <a:pPr marL="285750" indent="-285750">
              <a:lnSpc>
                <a:spcPct val="200000"/>
              </a:lnSpc>
              <a:buFont typeface="Wingdings" panose="05000000000000000000" pitchFamily="2" charset="2"/>
              <a:buChar char="q"/>
            </a:pPr>
            <a:r>
              <a:rPr lang="en-US" b="0" i="0" dirty="0">
                <a:solidFill>
                  <a:srgbClr val="000000"/>
                </a:solidFill>
                <a:effectLst/>
              </a:rPr>
              <a:t>Hill Climbing is mostly used when a good heuristic is available.</a:t>
            </a:r>
          </a:p>
          <a:p>
            <a:pPr marL="285750" indent="-285750">
              <a:lnSpc>
                <a:spcPct val="200000"/>
              </a:lnSpc>
              <a:buFont typeface="Wingdings" panose="05000000000000000000" pitchFamily="2" charset="2"/>
              <a:buChar char="q"/>
            </a:pPr>
            <a:r>
              <a:rPr lang="en-US" b="0" i="0" dirty="0">
                <a:solidFill>
                  <a:srgbClr val="000000"/>
                </a:solidFill>
                <a:effectLst/>
              </a:rPr>
              <a:t>In this algorithm, we don't need to maintain and handle the search tree or graph as it only keeps a single current state.</a:t>
            </a:r>
          </a:p>
          <a:p>
            <a:endParaRPr lang="en-IN" dirty="0"/>
          </a:p>
        </p:txBody>
      </p:sp>
    </p:spTree>
    <p:extLst>
      <p:ext uri="{BB962C8B-B14F-4D97-AF65-F5344CB8AC3E}">
        <p14:creationId xmlns:p14="http://schemas.microsoft.com/office/powerpoint/2010/main" val="30058637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8579DD40-013A-FA58-F103-E2A5642A03D9}"/>
              </a:ext>
            </a:extLst>
          </p:cNvPr>
          <p:cNvSpPr txBox="1"/>
          <p:nvPr/>
        </p:nvSpPr>
        <p:spPr>
          <a:xfrm>
            <a:off x="115503" y="105878"/>
            <a:ext cx="11848699" cy="4631396"/>
          </a:xfrm>
          <a:prstGeom prst="rect">
            <a:avLst/>
          </a:prstGeom>
          <a:noFill/>
        </p:spPr>
        <p:txBody>
          <a:bodyPr wrap="square" rtlCol="0">
            <a:spAutoFit/>
          </a:bodyPr>
          <a:lstStyle/>
          <a:p>
            <a:pPr algn="just">
              <a:lnSpc>
                <a:spcPct val="200000"/>
              </a:lnSpc>
            </a:pPr>
            <a:r>
              <a:rPr lang="en-US" sz="2400" b="1" i="0" dirty="0">
                <a:effectLst/>
              </a:rPr>
              <a:t>Features of Hill Climbing:</a:t>
            </a:r>
          </a:p>
          <a:p>
            <a:pPr algn="just">
              <a:lnSpc>
                <a:spcPct val="200000"/>
              </a:lnSpc>
            </a:pPr>
            <a:r>
              <a:rPr lang="en-US" b="0" i="0" dirty="0">
                <a:solidFill>
                  <a:srgbClr val="333333"/>
                </a:solidFill>
                <a:effectLst/>
              </a:rPr>
              <a:t>Following are some main features of Hill Climbing Algorithm:</a:t>
            </a:r>
          </a:p>
          <a:p>
            <a:pPr marL="285750" indent="-285750" algn="just">
              <a:lnSpc>
                <a:spcPct val="250000"/>
              </a:lnSpc>
              <a:buFont typeface="Wingdings" panose="05000000000000000000" pitchFamily="2" charset="2"/>
              <a:buChar char="q"/>
            </a:pPr>
            <a:r>
              <a:rPr lang="en-US" b="1" i="0" dirty="0">
                <a:solidFill>
                  <a:srgbClr val="000000"/>
                </a:solidFill>
                <a:effectLst/>
              </a:rPr>
              <a:t>Generate and Test variant:</a:t>
            </a:r>
            <a:r>
              <a:rPr lang="en-US" b="0" i="0" dirty="0">
                <a:solidFill>
                  <a:srgbClr val="000000"/>
                </a:solidFill>
                <a:effectLst/>
              </a:rPr>
              <a:t> Hill Climbing is the variant of Generate and Test method. The Generate and Test method produce feedback which helps to decide which direction to move in the search space.</a:t>
            </a:r>
          </a:p>
          <a:p>
            <a:pPr marL="285750" indent="-285750" algn="just">
              <a:lnSpc>
                <a:spcPct val="250000"/>
              </a:lnSpc>
              <a:buFont typeface="Wingdings" panose="05000000000000000000" pitchFamily="2" charset="2"/>
              <a:buChar char="q"/>
            </a:pPr>
            <a:r>
              <a:rPr lang="en-US" b="1" i="0" dirty="0">
                <a:solidFill>
                  <a:srgbClr val="000000"/>
                </a:solidFill>
                <a:effectLst/>
              </a:rPr>
              <a:t>Greedy approach:</a:t>
            </a:r>
            <a:r>
              <a:rPr lang="en-US" b="0" i="0" dirty="0">
                <a:solidFill>
                  <a:srgbClr val="000000"/>
                </a:solidFill>
                <a:effectLst/>
              </a:rPr>
              <a:t> Hill-climbing algorithm search moves in the direction which optimizes the cost.</a:t>
            </a:r>
          </a:p>
          <a:p>
            <a:pPr marL="285750" indent="-285750" algn="just">
              <a:lnSpc>
                <a:spcPct val="250000"/>
              </a:lnSpc>
              <a:buFont typeface="Wingdings" panose="05000000000000000000" pitchFamily="2" charset="2"/>
              <a:buChar char="q"/>
            </a:pPr>
            <a:r>
              <a:rPr lang="en-US" b="1" i="0" dirty="0">
                <a:solidFill>
                  <a:srgbClr val="000000"/>
                </a:solidFill>
                <a:effectLst/>
              </a:rPr>
              <a:t>No backtracking:</a:t>
            </a:r>
            <a:r>
              <a:rPr lang="en-US" b="0" i="0" dirty="0">
                <a:solidFill>
                  <a:srgbClr val="000000"/>
                </a:solidFill>
                <a:effectLst/>
              </a:rPr>
              <a:t> It does not backtrack the search space, as it does not remember the previous states.</a:t>
            </a:r>
          </a:p>
          <a:p>
            <a:pPr>
              <a:lnSpc>
                <a:spcPct val="200000"/>
              </a:lnSpc>
            </a:pPr>
            <a:endParaRPr lang="en-IN" dirty="0"/>
          </a:p>
        </p:txBody>
      </p:sp>
    </p:spTree>
    <p:extLst>
      <p:ext uri="{BB962C8B-B14F-4D97-AF65-F5344CB8AC3E}">
        <p14:creationId xmlns:p14="http://schemas.microsoft.com/office/powerpoint/2010/main" val="210743558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D9225F3A-996C-6F77-7047-613F7B3F0DC1}"/>
              </a:ext>
            </a:extLst>
          </p:cNvPr>
          <p:cNvSpPr txBox="1"/>
          <p:nvPr/>
        </p:nvSpPr>
        <p:spPr>
          <a:xfrm>
            <a:off x="189297" y="110691"/>
            <a:ext cx="11813406" cy="2816156"/>
          </a:xfrm>
          <a:prstGeom prst="rect">
            <a:avLst/>
          </a:prstGeom>
          <a:noFill/>
        </p:spPr>
        <p:txBody>
          <a:bodyPr wrap="square" rtlCol="0">
            <a:spAutoFit/>
          </a:bodyPr>
          <a:lstStyle/>
          <a:p>
            <a:pPr algn="just"/>
            <a:r>
              <a:rPr lang="en-US" sz="2400" b="1" i="0" dirty="0">
                <a:effectLst/>
              </a:rPr>
              <a:t>State-space Diagram for Hill Climbing:</a:t>
            </a:r>
          </a:p>
          <a:p>
            <a:pPr marL="285750" indent="-285750">
              <a:lnSpc>
                <a:spcPct val="150000"/>
              </a:lnSpc>
              <a:buFont typeface="Wingdings" panose="05000000000000000000" pitchFamily="2" charset="2"/>
              <a:buChar char="q"/>
            </a:pPr>
            <a:r>
              <a:rPr lang="en-US" b="0" i="0" dirty="0">
                <a:solidFill>
                  <a:srgbClr val="333333"/>
                </a:solidFill>
                <a:effectLst/>
              </a:rPr>
              <a:t>The state-space landscape is a graphical representation of the hill-climbing algorithm which is showing a graph between various states of algorithm and Objective function/Cost.</a:t>
            </a:r>
          </a:p>
          <a:p>
            <a:pPr marL="285750" indent="-285750">
              <a:lnSpc>
                <a:spcPct val="150000"/>
              </a:lnSpc>
              <a:buFont typeface="Wingdings" panose="05000000000000000000" pitchFamily="2" charset="2"/>
              <a:buChar char="q"/>
            </a:pPr>
            <a:r>
              <a:rPr lang="en-US" b="0" i="0" dirty="0">
                <a:solidFill>
                  <a:srgbClr val="333333"/>
                </a:solidFill>
                <a:effectLst/>
              </a:rPr>
              <a:t>On Y-axis we have taken the function which can be an objective function or cost function, and state-space on the x-axis. If the function on Y-axis is cost then, the goal of search is to find the global minimum and local minimum. If the function of Y-axis is Objective function, then the goal of the search is to find the global maximum and local maximum.</a:t>
            </a:r>
          </a:p>
          <a:p>
            <a:endParaRPr lang="en-IN" dirty="0"/>
          </a:p>
        </p:txBody>
      </p:sp>
      <p:pic>
        <p:nvPicPr>
          <p:cNvPr id="7170" name="Picture 2" descr="Hill Climbing Algorithm in AI">
            <a:extLst>
              <a:ext uri="{FF2B5EF4-FFF2-40B4-BE49-F238E27FC236}">
                <a16:creationId xmlns:a16="http://schemas.microsoft.com/office/drawing/2014/main" id="{6259778A-3AFD-CB3B-558E-ED4442AA5EF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85273" y="3098632"/>
            <a:ext cx="5621454" cy="3577289"/>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41320513"/>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1385E16F-F5C6-C103-802A-B4770BFC594A}"/>
              </a:ext>
            </a:extLst>
          </p:cNvPr>
          <p:cNvSpPr txBox="1"/>
          <p:nvPr/>
        </p:nvSpPr>
        <p:spPr>
          <a:xfrm>
            <a:off x="214964" y="451262"/>
            <a:ext cx="11762072" cy="5955476"/>
          </a:xfrm>
          <a:prstGeom prst="rect">
            <a:avLst/>
          </a:prstGeom>
          <a:noFill/>
        </p:spPr>
        <p:txBody>
          <a:bodyPr wrap="square" rtlCol="0">
            <a:spAutoFit/>
          </a:bodyPr>
          <a:lstStyle/>
          <a:p>
            <a:pPr algn="just"/>
            <a:r>
              <a:rPr lang="en-US" sz="2400" b="1" i="0" dirty="0">
                <a:effectLst/>
              </a:rPr>
              <a:t>Different regions in the state space landscape:</a:t>
            </a:r>
          </a:p>
          <a:p>
            <a:pPr marL="742950" lvl="1" indent="-285750" algn="just">
              <a:buFont typeface="Wingdings" panose="05000000000000000000" pitchFamily="2" charset="2"/>
              <a:buChar char="q"/>
            </a:pPr>
            <a:r>
              <a:rPr lang="en-US" b="1" i="0" dirty="0">
                <a:solidFill>
                  <a:srgbClr val="333333"/>
                </a:solidFill>
                <a:effectLst/>
              </a:rPr>
              <a:t>Local Maximum:</a:t>
            </a:r>
            <a:r>
              <a:rPr lang="en-US" b="0" i="0" dirty="0">
                <a:solidFill>
                  <a:srgbClr val="333333"/>
                </a:solidFill>
                <a:effectLst/>
              </a:rPr>
              <a:t> Local maximum is a state which is better than its neighbor states, but there is also another state which is higher than it.</a:t>
            </a:r>
          </a:p>
          <a:p>
            <a:pPr marL="742950" lvl="1" indent="-285750">
              <a:buFont typeface="Wingdings" panose="05000000000000000000" pitchFamily="2" charset="2"/>
              <a:buChar char="q"/>
            </a:pPr>
            <a:endParaRPr lang="en-IN" dirty="0"/>
          </a:p>
          <a:p>
            <a:pPr marL="742950" lvl="1" indent="-285750" algn="just">
              <a:buFont typeface="Wingdings" panose="05000000000000000000" pitchFamily="2" charset="2"/>
              <a:buChar char="q"/>
            </a:pPr>
            <a:r>
              <a:rPr lang="en-US" b="1" i="0" dirty="0">
                <a:solidFill>
                  <a:srgbClr val="333333"/>
                </a:solidFill>
                <a:effectLst/>
              </a:rPr>
              <a:t>Global Maximum:</a:t>
            </a:r>
            <a:r>
              <a:rPr lang="en-US" b="0" i="0" dirty="0">
                <a:solidFill>
                  <a:srgbClr val="333333"/>
                </a:solidFill>
                <a:effectLst/>
              </a:rPr>
              <a:t> Global maximum is the best possible state of state space landscape. It has the highest value of objective function.</a:t>
            </a:r>
          </a:p>
          <a:p>
            <a:pPr marL="742950" lvl="1" indent="-285750" algn="just">
              <a:buFont typeface="Wingdings" panose="05000000000000000000" pitchFamily="2" charset="2"/>
              <a:buChar char="q"/>
            </a:pPr>
            <a:endParaRPr lang="en-US" b="0" i="0" dirty="0">
              <a:solidFill>
                <a:srgbClr val="333333"/>
              </a:solidFill>
              <a:effectLst/>
            </a:endParaRPr>
          </a:p>
          <a:p>
            <a:pPr marL="742950" lvl="1" indent="-285750" algn="just">
              <a:buFont typeface="Wingdings" panose="05000000000000000000" pitchFamily="2" charset="2"/>
              <a:buChar char="q"/>
            </a:pPr>
            <a:r>
              <a:rPr lang="en-US" b="1" i="0" dirty="0">
                <a:solidFill>
                  <a:srgbClr val="333333"/>
                </a:solidFill>
                <a:effectLst/>
              </a:rPr>
              <a:t>Current state:</a:t>
            </a:r>
            <a:r>
              <a:rPr lang="en-US" b="0" i="0" dirty="0">
                <a:solidFill>
                  <a:srgbClr val="333333"/>
                </a:solidFill>
                <a:effectLst/>
              </a:rPr>
              <a:t> It is a state in a landscape diagram where an agent is currently present.</a:t>
            </a:r>
          </a:p>
          <a:p>
            <a:pPr marL="742950" lvl="1" indent="-285750" algn="just">
              <a:buFont typeface="Wingdings" panose="05000000000000000000" pitchFamily="2" charset="2"/>
              <a:buChar char="q"/>
            </a:pPr>
            <a:endParaRPr lang="en-US" b="0" i="0" dirty="0">
              <a:solidFill>
                <a:srgbClr val="333333"/>
              </a:solidFill>
              <a:effectLst/>
            </a:endParaRPr>
          </a:p>
          <a:p>
            <a:pPr marL="742950" lvl="1" indent="-285750" algn="just">
              <a:buFont typeface="Wingdings" panose="05000000000000000000" pitchFamily="2" charset="2"/>
              <a:buChar char="q"/>
            </a:pPr>
            <a:r>
              <a:rPr lang="en-US" b="1" i="0" dirty="0">
                <a:solidFill>
                  <a:srgbClr val="333333"/>
                </a:solidFill>
                <a:effectLst/>
              </a:rPr>
              <a:t>Flat local maximum:</a:t>
            </a:r>
            <a:r>
              <a:rPr lang="en-US" b="0" i="0" dirty="0">
                <a:solidFill>
                  <a:srgbClr val="333333"/>
                </a:solidFill>
                <a:effectLst/>
              </a:rPr>
              <a:t> It is a flat space in the landscape where all the neighbor states of current states have the same value.</a:t>
            </a:r>
          </a:p>
          <a:p>
            <a:pPr marL="742950" lvl="1" indent="-285750" algn="just">
              <a:buFont typeface="Wingdings" panose="05000000000000000000" pitchFamily="2" charset="2"/>
              <a:buChar char="q"/>
            </a:pPr>
            <a:endParaRPr lang="en-US" b="0" i="0" dirty="0">
              <a:solidFill>
                <a:srgbClr val="333333"/>
              </a:solidFill>
              <a:effectLst/>
            </a:endParaRPr>
          </a:p>
          <a:p>
            <a:pPr marL="742950" lvl="1" indent="-285750" algn="just">
              <a:buFont typeface="Wingdings" panose="05000000000000000000" pitchFamily="2" charset="2"/>
              <a:buChar char="q"/>
            </a:pPr>
            <a:r>
              <a:rPr lang="en-US" b="1" i="0" dirty="0">
                <a:solidFill>
                  <a:srgbClr val="333333"/>
                </a:solidFill>
                <a:effectLst/>
              </a:rPr>
              <a:t>Shoulder:</a:t>
            </a:r>
            <a:r>
              <a:rPr lang="en-US" b="0" i="0" dirty="0">
                <a:solidFill>
                  <a:srgbClr val="333333"/>
                </a:solidFill>
                <a:effectLst/>
              </a:rPr>
              <a:t> It is a plateau region which has an uphill edge</a:t>
            </a:r>
          </a:p>
          <a:p>
            <a:endParaRPr lang="en-IN" dirty="0"/>
          </a:p>
          <a:p>
            <a:pPr algn="just"/>
            <a:r>
              <a:rPr lang="en-US" sz="2400" b="1" i="0" dirty="0">
                <a:effectLst/>
              </a:rPr>
              <a:t>Types of Hill Climbing Algorithm:</a:t>
            </a:r>
          </a:p>
          <a:p>
            <a:pPr marL="742950" lvl="1" indent="-285750" algn="just">
              <a:lnSpc>
                <a:spcPct val="150000"/>
              </a:lnSpc>
              <a:buFont typeface="Wingdings" panose="05000000000000000000" pitchFamily="2" charset="2"/>
              <a:buChar char="q"/>
            </a:pPr>
            <a:r>
              <a:rPr lang="en-US" b="0" i="0" dirty="0">
                <a:solidFill>
                  <a:srgbClr val="000000"/>
                </a:solidFill>
                <a:effectLst/>
              </a:rPr>
              <a:t>Simple hill Climbing:</a:t>
            </a:r>
          </a:p>
          <a:p>
            <a:pPr marL="742950" lvl="1" indent="-285750" algn="just">
              <a:lnSpc>
                <a:spcPct val="150000"/>
              </a:lnSpc>
              <a:buFont typeface="Wingdings" panose="05000000000000000000" pitchFamily="2" charset="2"/>
              <a:buChar char="q"/>
            </a:pPr>
            <a:r>
              <a:rPr lang="en-US" b="0" i="0" dirty="0">
                <a:solidFill>
                  <a:srgbClr val="000000"/>
                </a:solidFill>
                <a:effectLst/>
              </a:rPr>
              <a:t>Steepest-Ascent hill-climbing:</a:t>
            </a:r>
          </a:p>
          <a:p>
            <a:pPr marL="742950" lvl="1" indent="-285750" algn="just">
              <a:lnSpc>
                <a:spcPct val="150000"/>
              </a:lnSpc>
              <a:buFont typeface="Wingdings" panose="05000000000000000000" pitchFamily="2" charset="2"/>
              <a:buChar char="q"/>
            </a:pPr>
            <a:r>
              <a:rPr lang="en-US" b="0" i="0" dirty="0">
                <a:solidFill>
                  <a:srgbClr val="000000"/>
                </a:solidFill>
                <a:effectLst/>
              </a:rPr>
              <a:t>Stochastic hill Climbing:</a:t>
            </a:r>
          </a:p>
          <a:p>
            <a:endParaRPr lang="en-IN" dirty="0"/>
          </a:p>
        </p:txBody>
      </p:sp>
    </p:spTree>
    <p:extLst>
      <p:ext uri="{BB962C8B-B14F-4D97-AF65-F5344CB8AC3E}">
        <p14:creationId xmlns:p14="http://schemas.microsoft.com/office/powerpoint/2010/main" val="68709842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34E950-20F4-2242-B757-16A2BB0A8706}"/>
              </a:ext>
            </a:extLst>
          </p:cNvPr>
          <p:cNvSpPr txBox="1"/>
          <p:nvPr/>
        </p:nvSpPr>
        <p:spPr>
          <a:xfrm>
            <a:off x="125128" y="96253"/>
            <a:ext cx="11762072" cy="7251344"/>
          </a:xfrm>
          <a:prstGeom prst="rect">
            <a:avLst/>
          </a:prstGeom>
          <a:noFill/>
        </p:spPr>
        <p:txBody>
          <a:bodyPr wrap="square" rtlCol="0">
            <a:spAutoFit/>
          </a:bodyPr>
          <a:lstStyle/>
          <a:p>
            <a:pPr>
              <a:lnSpc>
                <a:spcPct val="150000"/>
              </a:lnSpc>
            </a:pPr>
            <a:r>
              <a:rPr lang="en-US" sz="2400" b="1" i="0" dirty="0">
                <a:effectLst/>
              </a:rPr>
              <a:t>1. Simple Hill Climbing:</a:t>
            </a:r>
          </a:p>
          <a:p>
            <a:pPr>
              <a:lnSpc>
                <a:spcPct val="150000"/>
              </a:lnSpc>
            </a:pPr>
            <a:r>
              <a:rPr lang="en-US" b="0" i="0" dirty="0">
                <a:solidFill>
                  <a:srgbClr val="333333"/>
                </a:solidFill>
                <a:effectLst/>
              </a:rPr>
              <a:t>Simple hill climbing is the simplest way to implement a hill climbing algorithm. </a:t>
            </a:r>
            <a:r>
              <a:rPr lang="en-US" b="1" i="0" dirty="0">
                <a:solidFill>
                  <a:srgbClr val="333333"/>
                </a:solidFill>
                <a:effectLst/>
              </a:rPr>
              <a:t>It only evaluates the neighbor node state at a time and selects the first one which optimizes current cost and set it as a current state</a:t>
            </a:r>
            <a:r>
              <a:rPr lang="en-US" b="0" i="0" dirty="0">
                <a:solidFill>
                  <a:srgbClr val="333333"/>
                </a:solidFill>
                <a:effectLst/>
              </a:rPr>
              <a:t>. It only checks it's one successor state, and if it finds better than the current state, then move else be in the same state. This algorithm has the following features:</a:t>
            </a:r>
          </a:p>
          <a:p>
            <a:pPr marL="742950" lvl="1" indent="-285750">
              <a:lnSpc>
                <a:spcPct val="150000"/>
              </a:lnSpc>
              <a:buFont typeface="Wingdings" panose="05000000000000000000" pitchFamily="2" charset="2"/>
              <a:buChar char="q"/>
            </a:pPr>
            <a:r>
              <a:rPr lang="en-US" b="0" i="0" dirty="0">
                <a:solidFill>
                  <a:srgbClr val="000000"/>
                </a:solidFill>
                <a:effectLst/>
              </a:rPr>
              <a:t>Less time consuming</a:t>
            </a:r>
          </a:p>
          <a:p>
            <a:pPr marL="742950" lvl="1" indent="-285750">
              <a:lnSpc>
                <a:spcPct val="150000"/>
              </a:lnSpc>
              <a:buFont typeface="Wingdings" panose="05000000000000000000" pitchFamily="2" charset="2"/>
              <a:buChar char="q"/>
            </a:pPr>
            <a:r>
              <a:rPr lang="en-US" b="0" i="0" dirty="0">
                <a:solidFill>
                  <a:srgbClr val="000000"/>
                </a:solidFill>
                <a:effectLst/>
              </a:rPr>
              <a:t>Less optimal solution and the solution is not guaranteed</a:t>
            </a:r>
          </a:p>
          <a:p>
            <a:pPr>
              <a:lnSpc>
                <a:spcPct val="150000"/>
              </a:lnSpc>
            </a:pPr>
            <a:r>
              <a:rPr lang="en-US" sz="2000" b="1" i="0" dirty="0">
                <a:effectLst/>
              </a:rPr>
              <a:t>Algorithm for Simple Hill Climbing:</a:t>
            </a:r>
          </a:p>
          <a:p>
            <a:pPr marL="285750" indent="-285750">
              <a:lnSpc>
                <a:spcPct val="150000"/>
              </a:lnSpc>
              <a:buFont typeface="Wingdings" panose="05000000000000000000" pitchFamily="2" charset="2"/>
              <a:buChar char="q"/>
            </a:pPr>
            <a:r>
              <a:rPr lang="en-US" b="1" i="0" dirty="0">
                <a:solidFill>
                  <a:srgbClr val="000000"/>
                </a:solidFill>
                <a:effectLst/>
              </a:rPr>
              <a:t>Step 1:</a:t>
            </a:r>
            <a:r>
              <a:rPr lang="en-US" b="0" i="0" dirty="0">
                <a:solidFill>
                  <a:srgbClr val="000000"/>
                </a:solidFill>
                <a:effectLst/>
              </a:rPr>
              <a:t> Evaluate the initial state, if it is goal state then return success and Stop.</a:t>
            </a:r>
          </a:p>
          <a:p>
            <a:pPr marL="285750" indent="-285750">
              <a:lnSpc>
                <a:spcPct val="150000"/>
              </a:lnSpc>
              <a:buFont typeface="Wingdings" panose="05000000000000000000" pitchFamily="2" charset="2"/>
              <a:buChar char="q"/>
            </a:pPr>
            <a:r>
              <a:rPr lang="en-US" b="1" i="0" dirty="0">
                <a:solidFill>
                  <a:srgbClr val="000000"/>
                </a:solidFill>
                <a:effectLst/>
              </a:rPr>
              <a:t>Step 2:</a:t>
            </a:r>
            <a:r>
              <a:rPr lang="en-US" b="0" i="0" dirty="0">
                <a:solidFill>
                  <a:srgbClr val="000000"/>
                </a:solidFill>
                <a:effectLst/>
              </a:rPr>
              <a:t> Loop Until a solution is found or there is no new operator left to apply.</a:t>
            </a:r>
          </a:p>
          <a:p>
            <a:pPr marL="285750" indent="-285750">
              <a:lnSpc>
                <a:spcPct val="150000"/>
              </a:lnSpc>
              <a:buFont typeface="Wingdings" panose="05000000000000000000" pitchFamily="2" charset="2"/>
              <a:buChar char="q"/>
            </a:pPr>
            <a:r>
              <a:rPr lang="en-US" b="1" i="0" dirty="0">
                <a:solidFill>
                  <a:srgbClr val="000000"/>
                </a:solidFill>
                <a:effectLst/>
              </a:rPr>
              <a:t>Step 3:</a:t>
            </a:r>
            <a:r>
              <a:rPr lang="en-US" b="0" i="0" dirty="0">
                <a:solidFill>
                  <a:srgbClr val="000000"/>
                </a:solidFill>
                <a:effectLst/>
              </a:rPr>
              <a:t> Select and apply an operator to the current state.</a:t>
            </a:r>
          </a:p>
          <a:p>
            <a:pPr marL="285750" indent="-285750">
              <a:lnSpc>
                <a:spcPct val="150000"/>
              </a:lnSpc>
              <a:buFont typeface="Wingdings" panose="05000000000000000000" pitchFamily="2" charset="2"/>
              <a:buChar char="q"/>
            </a:pPr>
            <a:r>
              <a:rPr lang="en-US" b="1" i="0" dirty="0">
                <a:solidFill>
                  <a:srgbClr val="000000"/>
                </a:solidFill>
                <a:effectLst/>
              </a:rPr>
              <a:t>Step 4:</a:t>
            </a:r>
            <a:r>
              <a:rPr lang="en-US" b="0" i="0" dirty="0">
                <a:solidFill>
                  <a:srgbClr val="000000"/>
                </a:solidFill>
                <a:effectLst/>
              </a:rPr>
              <a:t> Check new state:</a:t>
            </a:r>
          </a:p>
          <a:p>
            <a:pPr marL="742950" lvl="1" indent="-285750">
              <a:lnSpc>
                <a:spcPct val="150000"/>
              </a:lnSpc>
              <a:buFont typeface="Arial" panose="020B0604020202020204" pitchFamily="34" charset="0"/>
              <a:buChar char="•"/>
            </a:pPr>
            <a:r>
              <a:rPr lang="en-US" b="0" i="0" dirty="0">
                <a:solidFill>
                  <a:srgbClr val="000000"/>
                </a:solidFill>
                <a:effectLst/>
              </a:rPr>
              <a:t>If it is goal state, then return success and quit.</a:t>
            </a:r>
          </a:p>
          <a:p>
            <a:pPr marL="742950" lvl="1" indent="-285750">
              <a:lnSpc>
                <a:spcPct val="150000"/>
              </a:lnSpc>
              <a:buFont typeface="Arial" panose="020B0604020202020204" pitchFamily="34" charset="0"/>
              <a:buChar char="•"/>
            </a:pPr>
            <a:r>
              <a:rPr lang="en-US" b="0" i="0" dirty="0">
                <a:solidFill>
                  <a:srgbClr val="000000"/>
                </a:solidFill>
                <a:effectLst/>
              </a:rPr>
              <a:t>Else if it is better than the current state then assign new state as a current state.</a:t>
            </a:r>
          </a:p>
          <a:p>
            <a:pPr marL="742950" lvl="1" indent="-285750">
              <a:lnSpc>
                <a:spcPct val="150000"/>
              </a:lnSpc>
              <a:buFont typeface="Arial" panose="020B0604020202020204" pitchFamily="34" charset="0"/>
              <a:buChar char="•"/>
            </a:pPr>
            <a:r>
              <a:rPr lang="en-US" b="0" i="0" dirty="0">
                <a:solidFill>
                  <a:srgbClr val="000000"/>
                </a:solidFill>
                <a:effectLst/>
              </a:rPr>
              <a:t>Else if not better than the current state, then return to step2.</a:t>
            </a:r>
          </a:p>
          <a:p>
            <a:pPr marL="285750" indent="-285750">
              <a:lnSpc>
                <a:spcPct val="150000"/>
              </a:lnSpc>
              <a:buFont typeface="Wingdings" panose="05000000000000000000" pitchFamily="2" charset="2"/>
              <a:buChar char="q"/>
            </a:pPr>
            <a:r>
              <a:rPr lang="en-US" b="1" i="0" dirty="0">
                <a:solidFill>
                  <a:srgbClr val="000000"/>
                </a:solidFill>
                <a:effectLst/>
              </a:rPr>
              <a:t>Step 5:</a:t>
            </a:r>
            <a:r>
              <a:rPr lang="en-US" b="0" i="0" dirty="0">
                <a:solidFill>
                  <a:srgbClr val="000000"/>
                </a:solidFill>
                <a:effectLst/>
              </a:rPr>
              <a:t> Exit.</a:t>
            </a:r>
          </a:p>
          <a:p>
            <a:pPr>
              <a:lnSpc>
                <a:spcPct val="150000"/>
              </a:lnSpc>
            </a:pPr>
            <a:endParaRPr lang="en-IN" dirty="0"/>
          </a:p>
        </p:txBody>
      </p:sp>
    </p:spTree>
    <p:extLst>
      <p:ext uri="{BB962C8B-B14F-4D97-AF65-F5344CB8AC3E}">
        <p14:creationId xmlns:p14="http://schemas.microsoft.com/office/powerpoint/2010/main" val="2085328399"/>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27A52AC4-9F23-11F9-8B9F-31B5AA51382A}"/>
              </a:ext>
            </a:extLst>
          </p:cNvPr>
          <p:cNvSpPr txBox="1"/>
          <p:nvPr/>
        </p:nvSpPr>
        <p:spPr>
          <a:xfrm>
            <a:off x="144379" y="96253"/>
            <a:ext cx="11906450" cy="6974345"/>
          </a:xfrm>
          <a:prstGeom prst="rect">
            <a:avLst/>
          </a:prstGeom>
          <a:noFill/>
        </p:spPr>
        <p:txBody>
          <a:bodyPr wrap="square" rtlCol="0">
            <a:spAutoFit/>
          </a:bodyPr>
          <a:lstStyle/>
          <a:p>
            <a:pPr algn="just">
              <a:lnSpc>
                <a:spcPct val="150000"/>
              </a:lnSpc>
            </a:pPr>
            <a:r>
              <a:rPr lang="en-US" sz="2400" b="1" i="0" dirty="0">
                <a:effectLst/>
              </a:rPr>
              <a:t>2. Steepest-Ascent hill climbing:</a:t>
            </a:r>
          </a:p>
          <a:p>
            <a:pPr algn="just">
              <a:lnSpc>
                <a:spcPct val="150000"/>
              </a:lnSpc>
            </a:pPr>
            <a:r>
              <a:rPr lang="en-US" b="0" i="0" dirty="0">
                <a:solidFill>
                  <a:srgbClr val="333333"/>
                </a:solidFill>
                <a:effectLst/>
              </a:rPr>
              <a:t>The steepest-Ascent algorithm is a variation of simple hill climbing algorithm. This algorithm examines all the neighboring nodes of the current state and selects one neighbor node which is closest to the goal state. This algorithm consumes more time as it searches for multiple neighbors</a:t>
            </a:r>
          </a:p>
          <a:p>
            <a:pPr algn="just">
              <a:lnSpc>
                <a:spcPct val="150000"/>
              </a:lnSpc>
            </a:pPr>
            <a:r>
              <a:rPr lang="en-US" sz="2400" b="1" i="0" dirty="0">
                <a:effectLst/>
              </a:rPr>
              <a:t>Algorithm for Steepest-Ascent hill climbing:</a:t>
            </a:r>
          </a:p>
          <a:p>
            <a:pPr algn="just">
              <a:lnSpc>
                <a:spcPct val="150000"/>
              </a:lnSpc>
              <a:buFont typeface="Arial" panose="020B0604020202020204" pitchFamily="34" charset="0"/>
              <a:buChar char="•"/>
            </a:pPr>
            <a:r>
              <a:rPr lang="en-US" b="1" i="0" dirty="0">
                <a:solidFill>
                  <a:srgbClr val="000000"/>
                </a:solidFill>
                <a:effectLst/>
              </a:rPr>
              <a:t>Step 1:</a:t>
            </a:r>
            <a:r>
              <a:rPr lang="en-US" b="0" i="0" dirty="0">
                <a:solidFill>
                  <a:srgbClr val="000000"/>
                </a:solidFill>
                <a:effectLst/>
              </a:rPr>
              <a:t> Evaluate the initial state, if it is goal state then return success and stop, else make current state as initial state.</a:t>
            </a:r>
          </a:p>
          <a:p>
            <a:pPr algn="just">
              <a:lnSpc>
                <a:spcPct val="150000"/>
              </a:lnSpc>
              <a:buFont typeface="Arial" panose="020B0604020202020204" pitchFamily="34" charset="0"/>
              <a:buChar char="•"/>
            </a:pPr>
            <a:r>
              <a:rPr lang="en-US" b="1" i="0" dirty="0">
                <a:solidFill>
                  <a:srgbClr val="000000"/>
                </a:solidFill>
                <a:effectLst/>
              </a:rPr>
              <a:t>Step 2:</a:t>
            </a:r>
            <a:r>
              <a:rPr lang="en-US" b="0" i="0" dirty="0">
                <a:solidFill>
                  <a:srgbClr val="000000"/>
                </a:solidFill>
                <a:effectLst/>
              </a:rPr>
              <a:t> Loop until a solution is found or the current state does not change.</a:t>
            </a:r>
          </a:p>
          <a:p>
            <a:pPr marL="742950" lvl="1" indent="-285750" algn="just">
              <a:lnSpc>
                <a:spcPct val="150000"/>
              </a:lnSpc>
              <a:buFont typeface="Arial" panose="020B0604020202020204" pitchFamily="34" charset="0"/>
              <a:buChar char="•"/>
            </a:pPr>
            <a:r>
              <a:rPr lang="en-US" b="0" i="0" dirty="0">
                <a:solidFill>
                  <a:srgbClr val="000000"/>
                </a:solidFill>
                <a:effectLst/>
              </a:rPr>
              <a:t>Let SUCC be a state such that any successor of the current state will be better than it.</a:t>
            </a:r>
          </a:p>
          <a:p>
            <a:pPr marL="742950" lvl="1" indent="-285750" algn="just">
              <a:lnSpc>
                <a:spcPct val="150000"/>
              </a:lnSpc>
              <a:buFont typeface="Arial" panose="020B0604020202020204" pitchFamily="34" charset="0"/>
              <a:buChar char="•"/>
            </a:pPr>
            <a:r>
              <a:rPr lang="en-US" b="0" i="0" dirty="0">
                <a:solidFill>
                  <a:srgbClr val="000000"/>
                </a:solidFill>
                <a:effectLst/>
              </a:rPr>
              <a:t>For each operator that applies to the current state:</a:t>
            </a:r>
          </a:p>
          <a:p>
            <a:pPr marL="1143000" lvl="2" indent="-228600" algn="just">
              <a:lnSpc>
                <a:spcPct val="150000"/>
              </a:lnSpc>
              <a:buFont typeface="Arial" panose="020B0604020202020204" pitchFamily="34" charset="0"/>
              <a:buChar char="•"/>
            </a:pPr>
            <a:r>
              <a:rPr lang="en-US" b="0" i="0" dirty="0">
                <a:solidFill>
                  <a:srgbClr val="000000"/>
                </a:solidFill>
                <a:effectLst/>
              </a:rPr>
              <a:t>Apply the new operator and generate a new state.</a:t>
            </a:r>
          </a:p>
          <a:p>
            <a:pPr marL="1143000" lvl="2" indent="-228600" algn="just">
              <a:lnSpc>
                <a:spcPct val="150000"/>
              </a:lnSpc>
              <a:buFont typeface="Arial" panose="020B0604020202020204" pitchFamily="34" charset="0"/>
              <a:buChar char="•"/>
            </a:pPr>
            <a:r>
              <a:rPr lang="en-US" b="0" i="0" dirty="0">
                <a:solidFill>
                  <a:srgbClr val="000000"/>
                </a:solidFill>
                <a:effectLst/>
              </a:rPr>
              <a:t>Evaluate the new state.</a:t>
            </a:r>
          </a:p>
          <a:p>
            <a:pPr marL="1143000" lvl="2" indent="-228600" algn="just">
              <a:lnSpc>
                <a:spcPct val="150000"/>
              </a:lnSpc>
              <a:buFont typeface="Arial" panose="020B0604020202020204" pitchFamily="34" charset="0"/>
              <a:buChar char="•"/>
            </a:pPr>
            <a:r>
              <a:rPr lang="en-US" b="0" i="0" dirty="0">
                <a:solidFill>
                  <a:srgbClr val="000000"/>
                </a:solidFill>
                <a:effectLst/>
              </a:rPr>
              <a:t>If it is goal state, then return it and quit, else compare it to the SUCC.</a:t>
            </a:r>
          </a:p>
          <a:p>
            <a:pPr marL="1143000" lvl="2" indent="-228600" algn="just">
              <a:lnSpc>
                <a:spcPct val="150000"/>
              </a:lnSpc>
              <a:buFont typeface="Arial" panose="020B0604020202020204" pitchFamily="34" charset="0"/>
              <a:buChar char="•"/>
            </a:pPr>
            <a:r>
              <a:rPr lang="en-US" b="0" i="0" dirty="0">
                <a:solidFill>
                  <a:srgbClr val="000000"/>
                </a:solidFill>
                <a:effectLst/>
              </a:rPr>
              <a:t>If it is better than SUCC, then set new state as SUCC.</a:t>
            </a:r>
          </a:p>
          <a:p>
            <a:pPr marL="1143000" lvl="2" indent="-228600" algn="just">
              <a:lnSpc>
                <a:spcPct val="150000"/>
              </a:lnSpc>
              <a:buFont typeface="Arial" panose="020B0604020202020204" pitchFamily="34" charset="0"/>
              <a:buChar char="•"/>
            </a:pPr>
            <a:r>
              <a:rPr lang="en-US" b="0" i="0" dirty="0">
                <a:solidFill>
                  <a:srgbClr val="000000"/>
                </a:solidFill>
                <a:effectLst/>
              </a:rPr>
              <a:t>If the SUCC is better than the current state, then set current state to SUCC.</a:t>
            </a:r>
          </a:p>
          <a:p>
            <a:pPr algn="just">
              <a:lnSpc>
                <a:spcPct val="150000"/>
              </a:lnSpc>
              <a:buFont typeface="Arial" panose="020B0604020202020204" pitchFamily="34" charset="0"/>
              <a:buChar char="•"/>
            </a:pPr>
            <a:r>
              <a:rPr lang="en-US" b="1" i="0" dirty="0">
                <a:solidFill>
                  <a:srgbClr val="000000"/>
                </a:solidFill>
                <a:effectLst/>
              </a:rPr>
              <a:t>Step 3:</a:t>
            </a:r>
            <a:r>
              <a:rPr lang="en-US" b="0" i="0" dirty="0">
                <a:solidFill>
                  <a:srgbClr val="000000"/>
                </a:solidFill>
                <a:effectLst/>
              </a:rPr>
              <a:t> Exit.</a:t>
            </a:r>
          </a:p>
          <a:p>
            <a:pPr>
              <a:lnSpc>
                <a:spcPct val="150000"/>
              </a:lnSpc>
            </a:pPr>
            <a:endParaRPr lang="en-IN" dirty="0"/>
          </a:p>
        </p:txBody>
      </p:sp>
    </p:spTree>
    <p:extLst>
      <p:ext uri="{BB962C8B-B14F-4D97-AF65-F5344CB8AC3E}">
        <p14:creationId xmlns:p14="http://schemas.microsoft.com/office/powerpoint/2010/main" val="877375935"/>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DD56DC1-9A7D-FC62-6CD3-BFDBCEAE9601}"/>
              </a:ext>
            </a:extLst>
          </p:cNvPr>
          <p:cNvSpPr txBox="1"/>
          <p:nvPr/>
        </p:nvSpPr>
        <p:spPr>
          <a:xfrm>
            <a:off x="77002" y="105878"/>
            <a:ext cx="11906451" cy="2816156"/>
          </a:xfrm>
          <a:prstGeom prst="rect">
            <a:avLst/>
          </a:prstGeom>
          <a:noFill/>
        </p:spPr>
        <p:txBody>
          <a:bodyPr wrap="square" rtlCol="0">
            <a:spAutoFit/>
          </a:bodyPr>
          <a:lstStyle/>
          <a:p>
            <a:pPr algn="just"/>
            <a:r>
              <a:rPr lang="en-US" sz="2400" b="1" i="0" dirty="0">
                <a:effectLst/>
              </a:rPr>
              <a:t>Problems in Hill Climbing Algorithm:</a:t>
            </a:r>
          </a:p>
          <a:p>
            <a:pPr marL="342900" indent="-342900" algn="just">
              <a:lnSpc>
                <a:spcPct val="150000"/>
              </a:lnSpc>
              <a:buFont typeface="Wingdings" panose="05000000000000000000" pitchFamily="2" charset="2"/>
              <a:buChar char="q"/>
            </a:pPr>
            <a:r>
              <a:rPr lang="en-US" b="1" i="0" dirty="0">
                <a:solidFill>
                  <a:srgbClr val="333333"/>
                </a:solidFill>
                <a:effectLst/>
              </a:rPr>
              <a:t>Local Maximum:</a:t>
            </a:r>
            <a:r>
              <a:rPr lang="en-US" b="0" i="0" dirty="0">
                <a:solidFill>
                  <a:srgbClr val="333333"/>
                </a:solidFill>
                <a:effectLst/>
              </a:rPr>
              <a:t> A local maximum is a peak state in the landscape which is better than each of its neighboring states, but there is another state also present which is higher than the local maximum.</a:t>
            </a:r>
          </a:p>
          <a:p>
            <a:pPr marL="342900" indent="-342900" algn="just">
              <a:lnSpc>
                <a:spcPct val="150000"/>
              </a:lnSpc>
              <a:buFont typeface="Wingdings" panose="05000000000000000000" pitchFamily="2" charset="2"/>
              <a:buChar char="q"/>
            </a:pPr>
            <a:endParaRPr lang="en-US" dirty="0">
              <a:solidFill>
                <a:srgbClr val="333333"/>
              </a:solidFill>
            </a:endParaRPr>
          </a:p>
          <a:p>
            <a:pPr marL="285750" indent="-285750" algn="just">
              <a:lnSpc>
                <a:spcPct val="150000"/>
              </a:lnSpc>
              <a:buFont typeface="Wingdings" panose="05000000000000000000" pitchFamily="2" charset="2"/>
              <a:buChar char="q"/>
            </a:pPr>
            <a:r>
              <a:rPr lang="en-US" b="1" i="0" dirty="0">
                <a:solidFill>
                  <a:srgbClr val="333333"/>
                </a:solidFill>
                <a:effectLst/>
              </a:rPr>
              <a:t>Solution:</a:t>
            </a:r>
            <a:r>
              <a:rPr lang="en-US" b="0" i="0" dirty="0">
                <a:solidFill>
                  <a:srgbClr val="333333"/>
                </a:solidFill>
                <a:effectLst/>
              </a:rPr>
              <a:t> Backtracking technique can be a solution of the local maximum in state space landscape. Create a list of the promising path so that the algorithm can backtrack the search space and explore other paths as well.</a:t>
            </a:r>
          </a:p>
          <a:p>
            <a:endParaRPr lang="en-IN" dirty="0"/>
          </a:p>
        </p:txBody>
      </p:sp>
      <p:pic>
        <p:nvPicPr>
          <p:cNvPr id="8194" name="Picture 2" descr="Hill Climbing Algorithm in AI">
            <a:extLst>
              <a:ext uri="{FF2B5EF4-FFF2-40B4-BE49-F238E27FC236}">
                <a16:creationId xmlns:a16="http://schemas.microsoft.com/office/drawing/2014/main" id="{3D44222B-6481-C391-AF1C-554D1D6FA1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9284" y="3429000"/>
            <a:ext cx="6569863" cy="261566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243035500"/>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45FB3C6F-5C31-6575-21CB-C8EEF70D6A18}"/>
              </a:ext>
            </a:extLst>
          </p:cNvPr>
          <p:cNvSpPr txBox="1"/>
          <p:nvPr/>
        </p:nvSpPr>
        <p:spPr>
          <a:xfrm>
            <a:off x="115503" y="86627"/>
            <a:ext cx="11944952" cy="3924151"/>
          </a:xfrm>
          <a:prstGeom prst="rect">
            <a:avLst/>
          </a:prstGeom>
          <a:noFill/>
        </p:spPr>
        <p:txBody>
          <a:bodyPr wrap="square" rtlCol="0">
            <a:spAutoFit/>
          </a:bodyPr>
          <a:lstStyle/>
          <a:p>
            <a:pPr algn="just"/>
            <a:r>
              <a:rPr lang="en-US" sz="2400" b="1" i="0" dirty="0">
                <a:solidFill>
                  <a:srgbClr val="333333"/>
                </a:solidFill>
                <a:effectLst/>
              </a:rPr>
              <a:t>2. Plateau: </a:t>
            </a:r>
          </a:p>
          <a:p>
            <a:pPr algn="just"/>
            <a:endParaRPr lang="en-US" dirty="0">
              <a:solidFill>
                <a:srgbClr val="333333"/>
              </a:solidFill>
            </a:endParaRPr>
          </a:p>
          <a:p>
            <a:pPr marL="285750" indent="-285750" algn="just">
              <a:lnSpc>
                <a:spcPct val="150000"/>
              </a:lnSpc>
              <a:buFont typeface="Wingdings" panose="05000000000000000000" pitchFamily="2" charset="2"/>
              <a:buChar char="q"/>
            </a:pPr>
            <a:r>
              <a:rPr lang="en-US" b="0" i="0" dirty="0">
                <a:solidFill>
                  <a:srgbClr val="333333"/>
                </a:solidFill>
                <a:effectLst/>
              </a:rPr>
              <a:t>A plateau is the flat area of the search space in which all the neighbor states of the current state contains the same value, because of this algorithm does not find any best direction to move. </a:t>
            </a:r>
          </a:p>
          <a:p>
            <a:pPr marL="285750" indent="-285750" algn="just">
              <a:lnSpc>
                <a:spcPct val="150000"/>
              </a:lnSpc>
              <a:buFont typeface="Wingdings" panose="05000000000000000000" pitchFamily="2" charset="2"/>
              <a:buChar char="q"/>
            </a:pPr>
            <a:r>
              <a:rPr lang="en-US" b="0" i="0" dirty="0">
                <a:solidFill>
                  <a:srgbClr val="333333"/>
                </a:solidFill>
                <a:effectLst/>
              </a:rPr>
              <a:t>A hill-climbing search might be lost in the plateau area.</a:t>
            </a:r>
          </a:p>
          <a:p>
            <a:pPr marL="285750" indent="-285750" algn="just">
              <a:lnSpc>
                <a:spcPct val="150000"/>
              </a:lnSpc>
              <a:buFont typeface="Wingdings" panose="05000000000000000000" pitchFamily="2" charset="2"/>
              <a:buChar char="q"/>
            </a:pPr>
            <a:endParaRPr lang="en-US" b="0" i="0" dirty="0">
              <a:solidFill>
                <a:srgbClr val="333333"/>
              </a:solidFill>
              <a:effectLst/>
            </a:endParaRPr>
          </a:p>
          <a:p>
            <a:pPr marL="285750" indent="-285750" algn="just">
              <a:lnSpc>
                <a:spcPct val="150000"/>
              </a:lnSpc>
              <a:buFont typeface="Wingdings" panose="05000000000000000000" pitchFamily="2" charset="2"/>
              <a:buChar char="q"/>
            </a:pPr>
            <a:r>
              <a:rPr lang="en-US" b="1" i="0" dirty="0">
                <a:solidFill>
                  <a:srgbClr val="333333"/>
                </a:solidFill>
                <a:effectLst/>
              </a:rPr>
              <a:t>Solution:</a:t>
            </a:r>
            <a:r>
              <a:rPr lang="en-US" b="0" i="0" dirty="0">
                <a:solidFill>
                  <a:srgbClr val="333333"/>
                </a:solidFill>
                <a:effectLst/>
              </a:rPr>
              <a:t> The solution for the plateau is to take big steps or very little steps while searching, to solve the problem. Randomly select a state which is far away from the current state so it is possible that the algorithm could find non-plateau region.</a:t>
            </a:r>
          </a:p>
          <a:p>
            <a:endParaRPr lang="en-IN" dirty="0"/>
          </a:p>
        </p:txBody>
      </p:sp>
      <p:pic>
        <p:nvPicPr>
          <p:cNvPr id="9218" name="Picture 2" descr="Hill Climbing Algorithm in AI">
            <a:extLst>
              <a:ext uri="{FF2B5EF4-FFF2-40B4-BE49-F238E27FC236}">
                <a16:creationId xmlns:a16="http://schemas.microsoft.com/office/drawing/2014/main" id="{AE7D7D29-A085-69A8-9351-CD014693C12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47775" y="3878029"/>
            <a:ext cx="4733925" cy="210502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969358361"/>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4898E2FC-9C70-56A5-AB4C-15E65D9C7696}"/>
              </a:ext>
            </a:extLst>
          </p:cNvPr>
          <p:cNvSpPr txBox="1"/>
          <p:nvPr/>
        </p:nvSpPr>
        <p:spPr>
          <a:xfrm>
            <a:off x="134754" y="154004"/>
            <a:ext cx="11819823" cy="2123658"/>
          </a:xfrm>
          <a:prstGeom prst="rect">
            <a:avLst/>
          </a:prstGeom>
          <a:noFill/>
        </p:spPr>
        <p:txBody>
          <a:bodyPr wrap="square" rtlCol="0">
            <a:spAutoFit/>
          </a:bodyPr>
          <a:lstStyle/>
          <a:p>
            <a:pPr algn="just"/>
            <a:r>
              <a:rPr lang="en-US" sz="2400" b="1" i="0" dirty="0">
                <a:solidFill>
                  <a:srgbClr val="333333"/>
                </a:solidFill>
                <a:effectLst/>
              </a:rPr>
              <a:t>3. Ridges:</a:t>
            </a:r>
            <a:r>
              <a:rPr lang="en-US" sz="2400" b="0" i="0" dirty="0">
                <a:solidFill>
                  <a:srgbClr val="333333"/>
                </a:solidFill>
                <a:effectLst/>
              </a:rPr>
              <a:t> </a:t>
            </a:r>
          </a:p>
          <a:p>
            <a:pPr algn="just"/>
            <a:endParaRPr lang="en-US" dirty="0">
              <a:solidFill>
                <a:srgbClr val="333333"/>
              </a:solidFill>
            </a:endParaRPr>
          </a:p>
          <a:p>
            <a:pPr marL="285750" indent="-285750" algn="just">
              <a:buFont typeface="Wingdings" panose="05000000000000000000" pitchFamily="2" charset="2"/>
              <a:buChar char="q"/>
            </a:pPr>
            <a:r>
              <a:rPr lang="en-US" b="0" i="0" dirty="0">
                <a:solidFill>
                  <a:srgbClr val="333333"/>
                </a:solidFill>
                <a:effectLst/>
              </a:rPr>
              <a:t>A ridge is a special form of the local maximum. </a:t>
            </a:r>
          </a:p>
          <a:p>
            <a:pPr marL="285750" indent="-285750" algn="just">
              <a:buFont typeface="Wingdings" panose="05000000000000000000" pitchFamily="2" charset="2"/>
              <a:buChar char="q"/>
            </a:pPr>
            <a:r>
              <a:rPr lang="en-US" b="0" i="0" dirty="0">
                <a:solidFill>
                  <a:srgbClr val="333333"/>
                </a:solidFill>
                <a:effectLst/>
              </a:rPr>
              <a:t>It has an area which is higher than its surrounding areas, but itself has a slope, and cannot be reached in a single move.</a:t>
            </a:r>
          </a:p>
          <a:p>
            <a:pPr marL="285750" indent="-285750" algn="just">
              <a:buFont typeface="Wingdings" panose="05000000000000000000" pitchFamily="2" charset="2"/>
              <a:buChar char="q"/>
            </a:pPr>
            <a:endParaRPr lang="en-US" b="0" i="0" dirty="0">
              <a:solidFill>
                <a:srgbClr val="333333"/>
              </a:solidFill>
              <a:effectLst/>
            </a:endParaRPr>
          </a:p>
          <a:p>
            <a:pPr marL="285750" indent="-285750" algn="just">
              <a:buFont typeface="Wingdings" panose="05000000000000000000" pitchFamily="2" charset="2"/>
              <a:buChar char="q"/>
            </a:pPr>
            <a:r>
              <a:rPr lang="en-US" b="1" i="0" dirty="0">
                <a:solidFill>
                  <a:srgbClr val="333333"/>
                </a:solidFill>
                <a:effectLst/>
              </a:rPr>
              <a:t>Solution:</a:t>
            </a:r>
            <a:r>
              <a:rPr lang="en-US" b="0" i="0" dirty="0">
                <a:solidFill>
                  <a:srgbClr val="333333"/>
                </a:solidFill>
                <a:effectLst/>
              </a:rPr>
              <a:t> With the use of bidirectional search, or by moving in different directions, we can improve this problem.</a:t>
            </a:r>
          </a:p>
          <a:p>
            <a:endParaRPr lang="en-IN" dirty="0"/>
          </a:p>
        </p:txBody>
      </p:sp>
      <p:pic>
        <p:nvPicPr>
          <p:cNvPr id="10242" name="Picture 2" descr="Hill Climbing Algorithm in AI">
            <a:extLst>
              <a:ext uri="{FF2B5EF4-FFF2-40B4-BE49-F238E27FC236}">
                <a16:creationId xmlns:a16="http://schemas.microsoft.com/office/drawing/2014/main" id="{4502A05C-E735-C0D7-FBFF-827F27904C8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64330" y="2954905"/>
            <a:ext cx="5200631" cy="2945381"/>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07047504"/>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2919863-9D55-FCFF-7635-B320848712BC}"/>
              </a:ext>
            </a:extLst>
          </p:cNvPr>
          <p:cNvSpPr txBox="1"/>
          <p:nvPr/>
        </p:nvSpPr>
        <p:spPr>
          <a:xfrm>
            <a:off x="77002" y="105878"/>
            <a:ext cx="11916076" cy="4893647"/>
          </a:xfrm>
          <a:prstGeom prst="rect">
            <a:avLst/>
          </a:prstGeom>
          <a:noFill/>
        </p:spPr>
        <p:txBody>
          <a:bodyPr wrap="square" rtlCol="0">
            <a:spAutoFit/>
          </a:bodyPr>
          <a:lstStyle/>
          <a:p>
            <a:pPr algn="just"/>
            <a:r>
              <a:rPr lang="en-US" sz="2400" b="1" i="0" dirty="0">
                <a:effectLst/>
              </a:rPr>
              <a:t>Simulated Annealing:</a:t>
            </a:r>
          </a:p>
          <a:p>
            <a:pPr marL="285750" indent="-285750" algn="just">
              <a:lnSpc>
                <a:spcPct val="150000"/>
              </a:lnSpc>
              <a:buFont typeface="Wingdings" panose="05000000000000000000" pitchFamily="2" charset="2"/>
              <a:buChar char="q"/>
            </a:pPr>
            <a:r>
              <a:rPr lang="en-US" b="0" i="0" dirty="0">
                <a:solidFill>
                  <a:srgbClr val="333333"/>
                </a:solidFill>
                <a:effectLst/>
              </a:rPr>
              <a:t>A hill-climbing algorithm which never makes a move towards a lower value guaranteed to be incomplete because it can get stuck on a local maximum. And if algorithm applies a random walk, by moving a successor, then it may complete but not efficient. </a:t>
            </a:r>
          </a:p>
          <a:p>
            <a:pPr marL="285750" indent="-285750" algn="just">
              <a:lnSpc>
                <a:spcPct val="150000"/>
              </a:lnSpc>
              <a:buFont typeface="Wingdings" panose="05000000000000000000" pitchFamily="2" charset="2"/>
              <a:buChar char="q"/>
            </a:pPr>
            <a:r>
              <a:rPr lang="en-US" b="1" i="0" dirty="0">
                <a:solidFill>
                  <a:srgbClr val="333333"/>
                </a:solidFill>
                <a:effectLst/>
              </a:rPr>
              <a:t>Simulated Annealing</a:t>
            </a:r>
            <a:r>
              <a:rPr lang="en-US" b="0" i="0" dirty="0">
                <a:solidFill>
                  <a:srgbClr val="333333"/>
                </a:solidFill>
                <a:effectLst/>
              </a:rPr>
              <a:t> is an algorithm which yields both efficiency and completeness.</a:t>
            </a:r>
          </a:p>
          <a:p>
            <a:pPr marL="285750" indent="-285750" algn="just">
              <a:lnSpc>
                <a:spcPct val="150000"/>
              </a:lnSpc>
              <a:buFont typeface="Wingdings" panose="05000000000000000000" pitchFamily="2" charset="2"/>
              <a:buChar char="q"/>
            </a:pPr>
            <a:r>
              <a:rPr lang="en-US" b="0" i="0" dirty="0">
                <a:solidFill>
                  <a:srgbClr val="333333"/>
                </a:solidFill>
                <a:effectLst/>
              </a:rPr>
              <a:t>In mechanical term </a:t>
            </a:r>
            <a:r>
              <a:rPr lang="en-US" b="1" i="0" dirty="0">
                <a:solidFill>
                  <a:srgbClr val="333333"/>
                </a:solidFill>
                <a:effectLst/>
              </a:rPr>
              <a:t>Annealing</a:t>
            </a:r>
            <a:r>
              <a:rPr lang="en-US" b="0" i="0" dirty="0">
                <a:solidFill>
                  <a:srgbClr val="333333"/>
                </a:solidFill>
                <a:effectLst/>
              </a:rPr>
              <a:t> is a process of hardening a metal or glass to a high temperature then cooling gradually, so this allows the metal to reach a low-energy crystalline state. </a:t>
            </a:r>
          </a:p>
          <a:p>
            <a:pPr marL="285750" indent="-285750" algn="just">
              <a:lnSpc>
                <a:spcPct val="150000"/>
              </a:lnSpc>
              <a:buFont typeface="Wingdings" panose="05000000000000000000" pitchFamily="2" charset="2"/>
              <a:buChar char="q"/>
            </a:pPr>
            <a:r>
              <a:rPr lang="en-US" b="0" i="0" dirty="0">
                <a:solidFill>
                  <a:srgbClr val="333333"/>
                </a:solidFill>
                <a:effectLst/>
              </a:rPr>
              <a:t>The same process is used in simulated annealing in which the algorithm picks a random move, instead of picking the best move. If the random move improves the state, then it follows the same path. </a:t>
            </a:r>
          </a:p>
          <a:p>
            <a:pPr marL="285750" indent="-285750" algn="just">
              <a:lnSpc>
                <a:spcPct val="150000"/>
              </a:lnSpc>
              <a:buFont typeface="Wingdings" panose="05000000000000000000" pitchFamily="2" charset="2"/>
              <a:buChar char="q"/>
            </a:pPr>
            <a:r>
              <a:rPr lang="en-US" b="0" i="0" dirty="0">
                <a:solidFill>
                  <a:srgbClr val="333333"/>
                </a:solidFill>
                <a:effectLst/>
              </a:rPr>
              <a:t>Otherwise, the algorithm follows the path which has a probability of less than 1 or it moves downhill and chooses another path.</a:t>
            </a:r>
          </a:p>
          <a:p>
            <a:endParaRPr lang="en-IN" dirty="0"/>
          </a:p>
        </p:txBody>
      </p:sp>
    </p:spTree>
    <p:extLst>
      <p:ext uri="{BB962C8B-B14F-4D97-AF65-F5344CB8AC3E}">
        <p14:creationId xmlns:p14="http://schemas.microsoft.com/office/powerpoint/2010/main" val="1800180793"/>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E05FC805-92DF-3ED0-ED19-9CF093D230F5}"/>
              </a:ext>
            </a:extLst>
          </p:cNvPr>
          <p:cNvSpPr txBox="1"/>
          <p:nvPr/>
        </p:nvSpPr>
        <p:spPr>
          <a:xfrm>
            <a:off x="77002" y="38501"/>
            <a:ext cx="11993078" cy="5427768"/>
          </a:xfrm>
          <a:prstGeom prst="rect">
            <a:avLst/>
          </a:prstGeom>
          <a:noFill/>
        </p:spPr>
        <p:txBody>
          <a:bodyPr wrap="square" rtlCol="0">
            <a:spAutoFit/>
          </a:bodyPr>
          <a:lstStyle/>
          <a:p>
            <a:r>
              <a:rPr lang="en-US" sz="2400" b="1" i="0" dirty="0">
                <a:solidFill>
                  <a:srgbClr val="292929"/>
                </a:solidFill>
                <a:effectLst/>
              </a:rPr>
              <a:t>How to Implement the Hill Climbing Algorithm in Python</a:t>
            </a:r>
            <a:r>
              <a:rPr lang="en-IN" sz="2400" b="1" i="0" dirty="0">
                <a:solidFill>
                  <a:srgbClr val="292929"/>
                </a:solidFill>
                <a:effectLst/>
              </a:rPr>
              <a:t>:</a:t>
            </a:r>
          </a:p>
          <a:p>
            <a:endParaRPr lang="en-IN" sz="2400" b="1" dirty="0">
              <a:solidFill>
                <a:srgbClr val="292929"/>
              </a:solidFill>
            </a:endParaRPr>
          </a:p>
          <a:p>
            <a:pPr marL="285750" indent="-285750">
              <a:buFont typeface="Arial" panose="020B0604020202020204" pitchFamily="34" charset="0"/>
              <a:buChar char="•"/>
            </a:pPr>
            <a:r>
              <a:rPr lang="en-US" b="1" i="0" dirty="0">
                <a:solidFill>
                  <a:srgbClr val="292929"/>
                </a:solidFill>
                <a:effectLst/>
              </a:rPr>
              <a:t>EXPLANATION :</a:t>
            </a:r>
            <a:r>
              <a:rPr lang="en-US" b="0" i="0" dirty="0">
                <a:solidFill>
                  <a:srgbClr val="292929"/>
                </a:solidFill>
                <a:effectLst/>
              </a:rPr>
              <a:t> Hill climbing is a mathematical optimization algorithm, which means its purpose is to find the </a:t>
            </a:r>
            <a:r>
              <a:rPr lang="en-US" b="0" i="1" dirty="0">
                <a:solidFill>
                  <a:srgbClr val="292929"/>
                </a:solidFill>
                <a:effectLst/>
              </a:rPr>
              <a:t>best </a:t>
            </a:r>
            <a:r>
              <a:rPr lang="en-US" b="0" i="0" dirty="0">
                <a:solidFill>
                  <a:srgbClr val="292929"/>
                </a:solidFill>
                <a:effectLst/>
              </a:rPr>
              <a:t>solution to a problem which has a (large) number of </a:t>
            </a:r>
            <a:r>
              <a:rPr lang="en-US" b="0" i="1" dirty="0">
                <a:solidFill>
                  <a:srgbClr val="292929"/>
                </a:solidFill>
                <a:effectLst/>
              </a:rPr>
              <a:t>possible </a:t>
            </a:r>
            <a:r>
              <a:rPr lang="en-US" b="0" i="0" dirty="0">
                <a:solidFill>
                  <a:srgbClr val="292929"/>
                </a:solidFill>
                <a:effectLst/>
              </a:rPr>
              <a:t>solutions. Explaining the algorithm (and optimization in general) is best done using an example</a:t>
            </a:r>
          </a:p>
          <a:p>
            <a:pPr marL="285750" indent="-285750">
              <a:buFont typeface="Arial" panose="020B0604020202020204" pitchFamily="34" charset="0"/>
              <a:buChar char="•"/>
            </a:pPr>
            <a:endParaRPr lang="en-US" dirty="0">
              <a:solidFill>
                <a:srgbClr val="292929"/>
              </a:solidFill>
            </a:endParaRPr>
          </a:p>
          <a:p>
            <a:r>
              <a:rPr lang="en-US" b="1" i="0" dirty="0">
                <a:solidFill>
                  <a:srgbClr val="292929"/>
                </a:solidFill>
                <a:effectLst/>
              </a:rPr>
              <a:t>PROBLEM STATEMENT :</a:t>
            </a:r>
          </a:p>
          <a:p>
            <a:endParaRPr lang="en-US" b="1" dirty="0">
              <a:solidFill>
                <a:srgbClr val="292929"/>
              </a:solidFill>
            </a:endParaRPr>
          </a:p>
          <a:p>
            <a:pPr marL="285750" indent="-285750">
              <a:buFont typeface="Wingdings" panose="05000000000000000000" pitchFamily="2" charset="2"/>
              <a:buChar char="q"/>
            </a:pPr>
            <a:endParaRPr lang="en-US" b="1" i="0" dirty="0">
              <a:solidFill>
                <a:srgbClr val="292929"/>
              </a:solidFill>
              <a:effectLst/>
            </a:endParaRPr>
          </a:p>
          <a:p>
            <a:pPr marL="285750" indent="-285750">
              <a:lnSpc>
                <a:spcPct val="250000"/>
              </a:lnSpc>
              <a:buFont typeface="Wingdings" panose="05000000000000000000" pitchFamily="2" charset="2"/>
              <a:buChar char="q"/>
            </a:pPr>
            <a:r>
              <a:rPr lang="en-US" b="0" i="0" dirty="0">
                <a:solidFill>
                  <a:srgbClr val="292929"/>
                </a:solidFill>
                <a:effectLst/>
              </a:rPr>
              <a:t>we have a salesman who needs to visit a number of cities exactly once, after which he returns to the first city. The distances between each pair of cities are known, and we need to find the shortest route. As you can imagine, there is (often) a large number of possible solutions (routes) to a specific Travelling salesman problem; the goal is to find the best (i.e. the shortest) solution.</a:t>
            </a:r>
            <a:endParaRPr lang="en-US" b="1" i="0" dirty="0">
              <a:solidFill>
                <a:srgbClr val="292929"/>
              </a:solidFill>
              <a:effectLst/>
            </a:endParaRPr>
          </a:p>
        </p:txBody>
      </p:sp>
    </p:spTree>
    <p:extLst>
      <p:ext uri="{BB962C8B-B14F-4D97-AF65-F5344CB8AC3E}">
        <p14:creationId xmlns:p14="http://schemas.microsoft.com/office/powerpoint/2010/main" val="965215345"/>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F8B88B7-4F9F-279E-4279-CB8D6D347EB8}"/>
              </a:ext>
            </a:extLst>
          </p:cNvPr>
          <p:cNvSpPr txBox="1"/>
          <p:nvPr/>
        </p:nvSpPr>
        <p:spPr>
          <a:xfrm>
            <a:off x="77002" y="77002"/>
            <a:ext cx="11973827" cy="6278642"/>
          </a:xfrm>
          <a:prstGeom prst="rect">
            <a:avLst/>
          </a:prstGeom>
          <a:noFill/>
        </p:spPr>
        <p:txBody>
          <a:bodyPr wrap="square" rtlCol="0">
            <a:spAutoFit/>
          </a:bodyPr>
          <a:lstStyle/>
          <a:p>
            <a:pPr algn="l"/>
            <a:r>
              <a:rPr lang="en-US" sz="2400" b="1" i="0" dirty="0">
                <a:effectLst/>
                <a:hlinkClick r:id="rId2">
                  <a:extLst>
                    <a:ext uri="{A12FA001-AC4F-418D-AE19-62706E023703}">
                      <ahyp:hlinkClr xmlns:ahyp="http://schemas.microsoft.com/office/drawing/2018/hyperlinkcolor" val="tx"/>
                    </a:ext>
                  </a:extLst>
                </a:hlinkClick>
              </a:rPr>
              <a:t>SOURCE:</a:t>
            </a:r>
          </a:p>
          <a:p>
            <a:pPr algn="l"/>
            <a:endParaRPr lang="en-US" u="sng" dirty="0">
              <a:solidFill>
                <a:srgbClr val="0563C1"/>
              </a:solidFill>
              <a:latin typeface="source-serif-pro"/>
              <a:hlinkClick r:id="rId2">
                <a:extLst>
                  <a:ext uri="{A12FA001-AC4F-418D-AE19-62706E023703}">
                    <ahyp:hlinkClr xmlns:ahyp="http://schemas.microsoft.com/office/drawing/2018/hyperlinkcolor" val="tx"/>
                  </a:ext>
                </a:extLst>
              </a:hlinkClick>
            </a:endParaRPr>
          </a:p>
          <a:p>
            <a:pPr algn="l"/>
            <a:endParaRPr lang="en-US" b="0" i="0" u="sng" dirty="0">
              <a:solidFill>
                <a:srgbClr val="0563C1"/>
              </a:solidFill>
              <a:effectLst/>
              <a:latin typeface="source-serif-pro"/>
              <a:hlinkClick r:id="rId2">
                <a:extLst>
                  <a:ext uri="{A12FA001-AC4F-418D-AE19-62706E023703}">
                    <ahyp:hlinkClr xmlns:ahyp="http://schemas.microsoft.com/office/drawing/2018/hyperlinkcolor" val="tx"/>
                  </a:ext>
                </a:extLst>
              </a:hlinkClick>
            </a:endParaRPr>
          </a:p>
          <a:p>
            <a:pPr marL="285750" indent="-285750" algn="l">
              <a:lnSpc>
                <a:spcPct val="150000"/>
              </a:lnSpc>
              <a:buFont typeface="Wingdings" panose="05000000000000000000" pitchFamily="2" charset="2"/>
              <a:buChar char="q"/>
            </a:pPr>
            <a:r>
              <a:rPr lang="en-US" b="0" i="0" u="sng" dirty="0">
                <a:effectLst/>
                <a:latin typeface="source-serif-pro"/>
                <a:hlinkClick r:id="rId2">
                  <a:extLst>
                    <a:ext uri="{A12FA001-AC4F-418D-AE19-62706E023703}">
                      <ahyp:hlinkClr xmlns:ahyp="http://schemas.microsoft.com/office/drawing/2018/hyperlinkcolor" val="tx"/>
                    </a:ext>
                  </a:extLst>
                </a:hlinkClick>
              </a:rPr>
              <a:t>Hill climbing</a:t>
            </a:r>
            <a:r>
              <a:rPr lang="en-US" b="0" i="0" dirty="0">
                <a:effectLst/>
                <a:latin typeface="source-serif-pro"/>
              </a:rPr>
              <a:t> tries to find the best solution to this problem by starting out with a random solution, and then generate </a:t>
            </a:r>
            <a:r>
              <a:rPr lang="en-US" b="0" i="0" dirty="0" err="1">
                <a:effectLst/>
                <a:latin typeface="source-serif-pro"/>
              </a:rPr>
              <a:t>neighbours</a:t>
            </a:r>
            <a:r>
              <a:rPr lang="en-US" b="0" i="0" dirty="0">
                <a:effectLst/>
                <a:latin typeface="source-serif-pro"/>
              </a:rPr>
              <a:t>: solutions that only slightly differ from the current one. If the best of those </a:t>
            </a:r>
            <a:r>
              <a:rPr lang="en-US" b="0" i="0" dirty="0" err="1">
                <a:effectLst/>
                <a:latin typeface="source-serif-pro"/>
              </a:rPr>
              <a:t>neighbours</a:t>
            </a:r>
            <a:r>
              <a:rPr lang="en-US" b="0" i="0" dirty="0">
                <a:effectLst/>
                <a:latin typeface="source-serif-pro"/>
              </a:rPr>
              <a:t> is better (i.e. shorter) than the current one, it replaces the current solution with this better solution. It then repeats the pattern by again creating </a:t>
            </a:r>
            <a:r>
              <a:rPr lang="en-US" b="0" i="0" dirty="0" err="1">
                <a:effectLst/>
                <a:latin typeface="source-serif-pro"/>
              </a:rPr>
              <a:t>neighbours</a:t>
            </a:r>
            <a:r>
              <a:rPr lang="en-US" b="0" i="0" dirty="0">
                <a:effectLst/>
                <a:latin typeface="source-serif-pro"/>
              </a:rPr>
              <a:t>. If at some point no </a:t>
            </a:r>
            <a:r>
              <a:rPr lang="en-US" b="0" i="0" dirty="0" err="1">
                <a:effectLst/>
                <a:latin typeface="source-serif-pro"/>
              </a:rPr>
              <a:t>neighbour</a:t>
            </a:r>
            <a:r>
              <a:rPr lang="en-US" b="0" i="0" dirty="0">
                <a:effectLst/>
                <a:latin typeface="source-serif-pro"/>
              </a:rPr>
              <a:t> is better than the current solution, it returns the then current solution. That’s it! The algorithm is quite simple, but it needs to be said that it doesn’t always find the best solution. It can get stuck in a local maximum: a place where the current solution isn’t the best solution to the problem, but where none of the direct </a:t>
            </a:r>
            <a:r>
              <a:rPr lang="en-US" b="0" i="0" dirty="0" err="1">
                <a:effectLst/>
                <a:latin typeface="source-serif-pro"/>
              </a:rPr>
              <a:t>neighbours</a:t>
            </a:r>
            <a:r>
              <a:rPr lang="en-US" b="0" i="0" dirty="0">
                <a:effectLst/>
                <a:latin typeface="source-serif-pro"/>
              </a:rPr>
              <a:t> of the current solution are better than the current solution. As described, the algorithm will stop at such a point, unfortunately without returning the best solution. More complicated algorithms exist that have a higher chance of finding the best solution, but they often take more computational resources.</a:t>
            </a:r>
          </a:p>
          <a:p>
            <a:pPr algn="l">
              <a:lnSpc>
                <a:spcPct val="150000"/>
              </a:lnSpc>
            </a:pPr>
            <a:endParaRPr lang="en-US" dirty="0">
              <a:solidFill>
                <a:srgbClr val="292929"/>
              </a:solidFill>
              <a:latin typeface="source-serif-pro"/>
            </a:endParaRPr>
          </a:p>
          <a:p>
            <a:pPr algn="l">
              <a:lnSpc>
                <a:spcPct val="150000"/>
              </a:lnSpc>
            </a:pPr>
            <a:endParaRPr lang="en-US" b="0" i="0" dirty="0">
              <a:solidFill>
                <a:srgbClr val="292929"/>
              </a:solidFill>
              <a:effectLst/>
              <a:latin typeface="source-serif-pro"/>
            </a:endParaRPr>
          </a:p>
          <a:p>
            <a:pPr algn="l">
              <a:lnSpc>
                <a:spcPct val="150000"/>
              </a:lnSpc>
            </a:pPr>
            <a:r>
              <a:rPr lang="en-US" b="0" i="0" dirty="0">
                <a:solidFill>
                  <a:srgbClr val="292929"/>
                </a:solidFill>
                <a:effectLst/>
                <a:latin typeface="source-serif-pro"/>
              </a:rPr>
              <a:t>Anyway, let’s start coding the Travelling salesman problem and Hill climbing in Python!</a:t>
            </a:r>
          </a:p>
          <a:p>
            <a:endParaRPr lang="en-IN" dirty="0"/>
          </a:p>
        </p:txBody>
      </p:sp>
    </p:spTree>
    <p:extLst>
      <p:ext uri="{BB962C8B-B14F-4D97-AF65-F5344CB8AC3E}">
        <p14:creationId xmlns:p14="http://schemas.microsoft.com/office/powerpoint/2010/main" val="54150280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3A151D4-1E4C-0917-190B-2F5256F8E6BB}"/>
              </a:ext>
            </a:extLst>
          </p:cNvPr>
          <p:cNvSpPr txBox="1"/>
          <p:nvPr/>
        </p:nvSpPr>
        <p:spPr>
          <a:xfrm>
            <a:off x="105878" y="115503"/>
            <a:ext cx="11867949" cy="6740307"/>
          </a:xfrm>
          <a:prstGeom prst="rect">
            <a:avLst/>
          </a:prstGeom>
          <a:noFill/>
        </p:spPr>
        <p:txBody>
          <a:bodyPr wrap="square" rtlCol="0">
            <a:spAutoFit/>
          </a:bodyPr>
          <a:lstStyle/>
          <a:p>
            <a:pPr algn="l"/>
            <a:r>
              <a:rPr lang="en-US" b="1" i="0" dirty="0">
                <a:solidFill>
                  <a:srgbClr val="292929"/>
                </a:solidFill>
                <a:effectLst/>
              </a:rPr>
              <a:t>Create a Travelling salesman problem:</a:t>
            </a:r>
          </a:p>
          <a:p>
            <a:pPr algn="l"/>
            <a:endParaRPr lang="en-US" b="1" i="0" dirty="0">
              <a:solidFill>
                <a:srgbClr val="292929"/>
              </a:solidFill>
              <a:effectLst/>
            </a:endParaRPr>
          </a:p>
          <a:p>
            <a:pPr marL="285750" indent="-285750" algn="l">
              <a:lnSpc>
                <a:spcPct val="150000"/>
              </a:lnSpc>
              <a:buFont typeface="Wingdings" panose="05000000000000000000" pitchFamily="2" charset="2"/>
              <a:buChar char="q"/>
            </a:pPr>
            <a:r>
              <a:rPr lang="en-US" b="0" i="0" dirty="0">
                <a:solidFill>
                  <a:srgbClr val="292929"/>
                </a:solidFill>
                <a:effectLst/>
              </a:rPr>
              <a:t>First, let’s code an instantiation of the Travelling salesman problem. If you think about it, such an instantiation should be a list of cities, where each one has information about the distances from there to the other cities. </a:t>
            </a:r>
          </a:p>
          <a:p>
            <a:pPr marL="285750" indent="-285750" algn="l">
              <a:lnSpc>
                <a:spcPct val="150000"/>
              </a:lnSpc>
              <a:buFont typeface="Wingdings" panose="05000000000000000000" pitchFamily="2" charset="2"/>
              <a:buChar char="q"/>
            </a:pPr>
            <a:r>
              <a:rPr lang="en-US" b="0" i="0" dirty="0">
                <a:solidFill>
                  <a:srgbClr val="292929"/>
                </a:solidFill>
                <a:effectLst/>
              </a:rPr>
              <a:t>Of course, the distance from each city to itself is zero, and the distance from city A to city B is the same as the distance from city B to city A. </a:t>
            </a:r>
          </a:p>
          <a:p>
            <a:pPr marL="285750" indent="-285750" algn="l">
              <a:lnSpc>
                <a:spcPct val="150000"/>
              </a:lnSpc>
              <a:buFont typeface="Wingdings" panose="05000000000000000000" pitchFamily="2" charset="2"/>
              <a:buChar char="q"/>
            </a:pPr>
            <a:r>
              <a:rPr lang="en-US" b="0" i="0" dirty="0">
                <a:solidFill>
                  <a:srgbClr val="292929"/>
                </a:solidFill>
                <a:effectLst/>
              </a:rPr>
              <a:t>That gives us a list, </a:t>
            </a:r>
            <a:r>
              <a:rPr lang="en-US" b="0" dirty="0">
                <a:solidFill>
                  <a:srgbClr val="292929"/>
                </a:solidFill>
                <a:effectLst/>
              </a:rPr>
              <a:t>containing n lists of size n (where in this case n equals 4)</a:t>
            </a:r>
          </a:p>
          <a:p>
            <a:pPr marL="285750" indent="-285750" algn="l">
              <a:lnSpc>
                <a:spcPct val="150000"/>
              </a:lnSpc>
              <a:buFont typeface="Wingdings" panose="05000000000000000000" pitchFamily="2" charset="2"/>
              <a:buChar char="q"/>
            </a:pPr>
            <a:endParaRPr lang="en-US" dirty="0">
              <a:solidFill>
                <a:srgbClr val="292929"/>
              </a:solidFill>
            </a:endParaRPr>
          </a:p>
          <a:p>
            <a:pPr marL="285750" indent="-285750" algn="l">
              <a:lnSpc>
                <a:spcPct val="150000"/>
              </a:lnSpc>
              <a:buFont typeface="Wingdings" panose="05000000000000000000" pitchFamily="2" charset="2"/>
              <a:buChar char="q"/>
            </a:pPr>
            <a:endParaRPr lang="en-US" b="0" dirty="0">
              <a:solidFill>
                <a:srgbClr val="292929"/>
              </a:solidFill>
              <a:effectLst/>
            </a:endParaRPr>
          </a:p>
          <a:p>
            <a:pPr marL="285750" indent="-285750" algn="l">
              <a:lnSpc>
                <a:spcPct val="150000"/>
              </a:lnSpc>
              <a:buFont typeface="Wingdings" panose="05000000000000000000" pitchFamily="2" charset="2"/>
              <a:buChar char="q"/>
            </a:pPr>
            <a:endParaRPr lang="en-US" dirty="0">
              <a:solidFill>
                <a:srgbClr val="292929"/>
              </a:solidFill>
            </a:endParaRPr>
          </a:p>
          <a:p>
            <a:pPr lvl="1">
              <a:lnSpc>
                <a:spcPct val="150000"/>
              </a:lnSpc>
            </a:pPr>
            <a:r>
              <a:rPr lang="en-US" b="1" dirty="0">
                <a:solidFill>
                  <a:srgbClr val="292929"/>
                </a:solidFill>
                <a:effectLst/>
              </a:rPr>
              <a:t>tsp = [</a:t>
            </a:r>
          </a:p>
          <a:p>
            <a:pPr lvl="1">
              <a:lnSpc>
                <a:spcPct val="150000"/>
              </a:lnSpc>
            </a:pPr>
            <a:r>
              <a:rPr lang="en-US" b="1" dirty="0">
                <a:solidFill>
                  <a:srgbClr val="292929"/>
                </a:solidFill>
                <a:effectLst/>
              </a:rPr>
              <a:t>    [0, 400, 500, 300],</a:t>
            </a:r>
          </a:p>
          <a:p>
            <a:pPr lvl="1">
              <a:lnSpc>
                <a:spcPct val="150000"/>
              </a:lnSpc>
            </a:pPr>
            <a:r>
              <a:rPr lang="en-US" b="1" dirty="0">
                <a:solidFill>
                  <a:srgbClr val="292929"/>
                </a:solidFill>
                <a:effectLst/>
              </a:rPr>
              <a:t>    [400, 0, 300, 500],</a:t>
            </a:r>
          </a:p>
          <a:p>
            <a:pPr lvl="1">
              <a:lnSpc>
                <a:spcPct val="150000"/>
              </a:lnSpc>
            </a:pPr>
            <a:r>
              <a:rPr lang="en-US" b="1" dirty="0">
                <a:solidFill>
                  <a:srgbClr val="292929"/>
                </a:solidFill>
                <a:effectLst/>
              </a:rPr>
              <a:t>    [500, 300, 0, 400],</a:t>
            </a:r>
          </a:p>
          <a:p>
            <a:pPr lvl="1">
              <a:lnSpc>
                <a:spcPct val="150000"/>
              </a:lnSpc>
            </a:pPr>
            <a:r>
              <a:rPr lang="en-US" b="1" dirty="0">
                <a:solidFill>
                  <a:srgbClr val="292929"/>
                </a:solidFill>
                <a:effectLst/>
              </a:rPr>
              <a:t>    [300, 500, 400, 0]</a:t>
            </a:r>
          </a:p>
          <a:p>
            <a:pPr lvl="1">
              <a:lnSpc>
                <a:spcPct val="150000"/>
              </a:lnSpc>
            </a:pPr>
            <a:r>
              <a:rPr lang="en-US" b="1" dirty="0">
                <a:solidFill>
                  <a:srgbClr val="292929"/>
                </a:solidFill>
                <a:effectLst/>
              </a:rPr>
              <a:t>]</a:t>
            </a:r>
          </a:p>
          <a:p>
            <a:endParaRPr lang="en-IN" dirty="0"/>
          </a:p>
        </p:txBody>
      </p:sp>
      <p:graphicFrame>
        <p:nvGraphicFramePr>
          <p:cNvPr id="6" name="Diagram 5">
            <a:extLst>
              <a:ext uri="{FF2B5EF4-FFF2-40B4-BE49-F238E27FC236}">
                <a16:creationId xmlns:a16="http://schemas.microsoft.com/office/drawing/2014/main" id="{AED7A4FA-FA04-7D66-0464-4BCAB99D0051}"/>
              </a:ext>
            </a:extLst>
          </p:cNvPr>
          <p:cNvGraphicFramePr/>
          <p:nvPr>
            <p:extLst>
              <p:ext uri="{D42A27DB-BD31-4B8C-83A1-F6EECF244321}">
                <p14:modId xmlns:p14="http://schemas.microsoft.com/office/powerpoint/2010/main" val="3023551919"/>
              </p:ext>
            </p:extLst>
          </p:nvPr>
        </p:nvGraphicFramePr>
        <p:xfrm>
          <a:off x="3866947" y="4312119"/>
          <a:ext cx="7741119" cy="1665170"/>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2749526233"/>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01FEFB5-3026-4DD2-3C7B-31D9ECDA01E0}"/>
              </a:ext>
            </a:extLst>
          </p:cNvPr>
          <p:cNvSpPr txBox="1"/>
          <p:nvPr/>
        </p:nvSpPr>
        <p:spPr>
          <a:xfrm>
            <a:off x="192505" y="154004"/>
            <a:ext cx="11559941" cy="6509474"/>
          </a:xfrm>
          <a:prstGeom prst="rect">
            <a:avLst/>
          </a:prstGeom>
          <a:noFill/>
        </p:spPr>
        <p:txBody>
          <a:bodyPr wrap="square" rtlCol="0">
            <a:spAutoFit/>
          </a:bodyPr>
          <a:lstStyle/>
          <a:p>
            <a:pPr algn="l"/>
            <a:r>
              <a:rPr lang="en-US" sz="2400" b="1" i="0" dirty="0">
                <a:solidFill>
                  <a:srgbClr val="292929"/>
                </a:solidFill>
                <a:effectLst/>
              </a:rPr>
              <a:t>Create a random solution generator:</a:t>
            </a:r>
          </a:p>
          <a:p>
            <a:pPr algn="l"/>
            <a:endParaRPr lang="en-US" sz="2400" b="1" i="0" dirty="0">
              <a:solidFill>
                <a:srgbClr val="292929"/>
              </a:solidFill>
              <a:effectLst/>
            </a:endParaRPr>
          </a:p>
          <a:p>
            <a:pPr marL="285750" indent="-285750" algn="l">
              <a:lnSpc>
                <a:spcPct val="150000"/>
              </a:lnSpc>
              <a:buFont typeface="Wingdings" panose="05000000000000000000" pitchFamily="2" charset="2"/>
              <a:buChar char="q"/>
            </a:pPr>
            <a:r>
              <a:rPr lang="en-US" b="0" dirty="0">
                <a:solidFill>
                  <a:srgbClr val="292929"/>
                </a:solidFill>
                <a:effectLst/>
              </a:rPr>
              <a:t>For Hill climbing to work, it has to start with a random solution to our Travelling salesman problem. From there, it can generate </a:t>
            </a:r>
            <a:r>
              <a:rPr lang="en-US" b="0" dirty="0" err="1">
                <a:solidFill>
                  <a:srgbClr val="292929"/>
                </a:solidFill>
                <a:effectLst/>
              </a:rPr>
              <a:t>neighbouring</a:t>
            </a:r>
            <a:r>
              <a:rPr lang="en-US" b="0" dirty="0">
                <a:solidFill>
                  <a:srgbClr val="292929"/>
                </a:solidFill>
                <a:effectLst/>
              </a:rPr>
              <a:t> solutions and start the optimization process. How should we design such a solution? Well, a solution to the Travelling salesman problem could simply be a list of identifiers of all cities, in the order the salesman should visit them. Each city has to be visited exactly once. </a:t>
            </a:r>
          </a:p>
          <a:p>
            <a:pPr marL="285750" indent="-285750" algn="l">
              <a:lnSpc>
                <a:spcPct val="150000"/>
              </a:lnSpc>
              <a:buFont typeface="Wingdings" panose="05000000000000000000" pitchFamily="2" charset="2"/>
              <a:buChar char="q"/>
            </a:pPr>
            <a:endParaRPr lang="en-US" b="0" dirty="0">
              <a:solidFill>
                <a:srgbClr val="292929"/>
              </a:solidFill>
              <a:effectLst/>
            </a:endParaRPr>
          </a:p>
          <a:p>
            <a:pPr marL="285750" indent="-285750" algn="l">
              <a:lnSpc>
                <a:spcPct val="150000"/>
              </a:lnSpc>
              <a:buFont typeface="Wingdings" panose="05000000000000000000" pitchFamily="2" charset="2"/>
              <a:buChar char="q"/>
            </a:pPr>
            <a:r>
              <a:rPr lang="en-US" b="0" dirty="0">
                <a:solidFill>
                  <a:srgbClr val="292929"/>
                </a:solidFill>
                <a:effectLst/>
              </a:rPr>
              <a:t>Let’s therefore first create a list of identifiers of all cities and from there on iteratively pick a city from that list at random and add it to our solution. Python’s range function is excellent for creating cities, as it creates a range of all numbers from 0 to the argument given, which in this case is the length of the problem itself, as the problem itself contains one entry for each city.</a:t>
            </a:r>
          </a:p>
          <a:p>
            <a:pPr algn="l">
              <a:lnSpc>
                <a:spcPct val="150000"/>
              </a:lnSpc>
            </a:pPr>
            <a:endParaRPr lang="en-US" b="0" dirty="0">
              <a:solidFill>
                <a:srgbClr val="292929"/>
              </a:solidFill>
              <a:effectLst/>
            </a:endParaRPr>
          </a:p>
          <a:p>
            <a:pPr marL="285750" indent="-285750" algn="l">
              <a:lnSpc>
                <a:spcPct val="150000"/>
              </a:lnSpc>
              <a:buFont typeface="Wingdings" panose="05000000000000000000" pitchFamily="2" charset="2"/>
              <a:buChar char="q"/>
            </a:pPr>
            <a:r>
              <a:rPr lang="en-US" b="0" dirty="0">
                <a:solidFill>
                  <a:srgbClr val="292929"/>
                </a:solidFill>
                <a:effectLst/>
              </a:rPr>
              <a:t>Since every city can only be visited one, after its identifier is added to our solution we then remove that city’s identifier from the city identifier list. Our function needs the Travelling salesman problem itself for information about the distances between cities. See the code below (note that you will need to import random for this to work):</a:t>
            </a:r>
          </a:p>
          <a:p>
            <a:endParaRPr lang="en-IN" dirty="0"/>
          </a:p>
        </p:txBody>
      </p:sp>
    </p:spTree>
    <p:extLst>
      <p:ext uri="{BB962C8B-B14F-4D97-AF65-F5344CB8AC3E}">
        <p14:creationId xmlns:p14="http://schemas.microsoft.com/office/powerpoint/2010/main" val="2052971058"/>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13AC565-D061-7133-9134-AB1DD1818571}"/>
              </a:ext>
            </a:extLst>
          </p:cNvPr>
          <p:cNvSpPr txBox="1"/>
          <p:nvPr/>
        </p:nvSpPr>
        <p:spPr>
          <a:xfrm>
            <a:off x="356135" y="250257"/>
            <a:ext cx="11444438" cy="5554726"/>
          </a:xfrm>
          <a:prstGeom prst="rect">
            <a:avLst/>
          </a:prstGeom>
          <a:noFill/>
        </p:spPr>
        <p:txBody>
          <a:bodyPr wrap="square" rtlCol="0">
            <a:spAutoFit/>
          </a:bodyPr>
          <a:lstStyle/>
          <a:p>
            <a:pPr lvl="1">
              <a:lnSpc>
                <a:spcPct val="200000"/>
              </a:lnSpc>
            </a:pPr>
            <a:r>
              <a:rPr lang="en-IN" b="1" dirty="0">
                <a:solidFill>
                  <a:schemeClr val="accent1"/>
                </a:solidFill>
              </a:rPr>
              <a:t>def </a:t>
            </a:r>
            <a:r>
              <a:rPr lang="en-IN" b="1" dirty="0" err="1"/>
              <a:t>randomSolution</a:t>
            </a:r>
            <a:r>
              <a:rPr lang="en-IN" b="1" dirty="0"/>
              <a:t>(tsp):</a:t>
            </a:r>
          </a:p>
          <a:p>
            <a:pPr lvl="1">
              <a:lnSpc>
                <a:spcPct val="200000"/>
              </a:lnSpc>
            </a:pPr>
            <a:r>
              <a:rPr lang="en-IN" b="1" dirty="0"/>
              <a:t>    cities = list(range(</a:t>
            </a:r>
            <a:r>
              <a:rPr lang="en-IN" b="1" dirty="0" err="1"/>
              <a:t>len</a:t>
            </a:r>
            <a:r>
              <a:rPr lang="en-IN" b="1" dirty="0"/>
              <a:t>(tsp)))</a:t>
            </a:r>
          </a:p>
          <a:p>
            <a:pPr lvl="1">
              <a:lnSpc>
                <a:spcPct val="200000"/>
              </a:lnSpc>
            </a:pPr>
            <a:r>
              <a:rPr lang="en-IN" b="1" dirty="0"/>
              <a:t>    solution = []</a:t>
            </a:r>
          </a:p>
          <a:p>
            <a:pPr lvl="1">
              <a:lnSpc>
                <a:spcPct val="200000"/>
              </a:lnSpc>
            </a:pPr>
            <a:endParaRPr lang="en-IN" b="1" dirty="0"/>
          </a:p>
          <a:p>
            <a:pPr lvl="1">
              <a:lnSpc>
                <a:spcPct val="200000"/>
              </a:lnSpc>
            </a:pPr>
            <a:r>
              <a:rPr lang="en-IN" b="1" dirty="0"/>
              <a:t>    for </a:t>
            </a:r>
            <a:r>
              <a:rPr lang="en-IN" b="1" dirty="0" err="1"/>
              <a:t>i</a:t>
            </a:r>
            <a:r>
              <a:rPr lang="en-IN" b="1" dirty="0"/>
              <a:t> in range(</a:t>
            </a:r>
            <a:r>
              <a:rPr lang="en-IN" b="1" dirty="0" err="1"/>
              <a:t>len</a:t>
            </a:r>
            <a:r>
              <a:rPr lang="en-IN" b="1" dirty="0"/>
              <a:t>(tsp)):</a:t>
            </a:r>
          </a:p>
          <a:p>
            <a:pPr lvl="1">
              <a:lnSpc>
                <a:spcPct val="200000"/>
              </a:lnSpc>
            </a:pPr>
            <a:r>
              <a:rPr lang="en-IN" b="1" dirty="0"/>
              <a:t>        </a:t>
            </a:r>
            <a:r>
              <a:rPr lang="en-IN" b="1" dirty="0" err="1"/>
              <a:t>randomCity</a:t>
            </a:r>
            <a:r>
              <a:rPr lang="en-IN" b="1" dirty="0"/>
              <a:t> = cities[</a:t>
            </a:r>
            <a:r>
              <a:rPr lang="en-IN" b="1" dirty="0" err="1"/>
              <a:t>random.randint</a:t>
            </a:r>
            <a:r>
              <a:rPr lang="en-IN" b="1" dirty="0"/>
              <a:t>(0, </a:t>
            </a:r>
            <a:r>
              <a:rPr lang="en-IN" b="1" dirty="0" err="1"/>
              <a:t>len</a:t>
            </a:r>
            <a:r>
              <a:rPr lang="en-IN" b="1" dirty="0"/>
              <a:t>(cities) - 1)]</a:t>
            </a:r>
          </a:p>
          <a:p>
            <a:pPr lvl="1">
              <a:lnSpc>
                <a:spcPct val="200000"/>
              </a:lnSpc>
            </a:pPr>
            <a:r>
              <a:rPr lang="en-IN" b="1" dirty="0"/>
              <a:t>        </a:t>
            </a:r>
            <a:r>
              <a:rPr lang="en-IN" b="1" dirty="0" err="1"/>
              <a:t>solution.append</a:t>
            </a:r>
            <a:r>
              <a:rPr lang="en-IN" b="1" dirty="0"/>
              <a:t>(</a:t>
            </a:r>
            <a:r>
              <a:rPr lang="en-IN" b="1" dirty="0" err="1"/>
              <a:t>randomCity</a:t>
            </a:r>
            <a:r>
              <a:rPr lang="en-IN" b="1" dirty="0"/>
              <a:t>)</a:t>
            </a:r>
          </a:p>
          <a:p>
            <a:pPr lvl="1">
              <a:lnSpc>
                <a:spcPct val="200000"/>
              </a:lnSpc>
            </a:pPr>
            <a:r>
              <a:rPr lang="en-IN" b="1" dirty="0"/>
              <a:t>        </a:t>
            </a:r>
            <a:r>
              <a:rPr lang="en-IN" b="1" dirty="0" err="1"/>
              <a:t>cities.remove</a:t>
            </a:r>
            <a:r>
              <a:rPr lang="en-IN" b="1" dirty="0"/>
              <a:t>(</a:t>
            </a:r>
            <a:r>
              <a:rPr lang="en-IN" b="1" dirty="0" err="1"/>
              <a:t>randomCity</a:t>
            </a:r>
            <a:r>
              <a:rPr lang="en-IN" b="1" dirty="0"/>
              <a:t>)</a:t>
            </a:r>
          </a:p>
          <a:p>
            <a:pPr lvl="1">
              <a:lnSpc>
                <a:spcPct val="200000"/>
              </a:lnSpc>
            </a:pPr>
            <a:endParaRPr lang="en-IN" b="1" dirty="0"/>
          </a:p>
          <a:p>
            <a:pPr lvl="1">
              <a:lnSpc>
                <a:spcPct val="200000"/>
              </a:lnSpc>
            </a:pPr>
            <a:r>
              <a:rPr lang="en-IN" b="1" dirty="0">
                <a:solidFill>
                  <a:schemeClr val="accent1"/>
                </a:solidFill>
              </a:rPr>
              <a:t>    return </a:t>
            </a:r>
            <a:r>
              <a:rPr lang="en-IN" b="1" dirty="0"/>
              <a:t>solution</a:t>
            </a:r>
          </a:p>
        </p:txBody>
      </p:sp>
    </p:spTree>
    <p:extLst>
      <p:ext uri="{BB962C8B-B14F-4D97-AF65-F5344CB8AC3E}">
        <p14:creationId xmlns:p14="http://schemas.microsoft.com/office/powerpoint/2010/main" val="2349741166"/>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CA8987C-4C18-93C2-4F1E-CC7B7F97F39B}"/>
              </a:ext>
            </a:extLst>
          </p:cNvPr>
          <p:cNvSpPr txBox="1"/>
          <p:nvPr/>
        </p:nvSpPr>
        <p:spPr>
          <a:xfrm>
            <a:off x="125128" y="125128"/>
            <a:ext cx="11877575" cy="5724644"/>
          </a:xfrm>
          <a:prstGeom prst="rect">
            <a:avLst/>
          </a:prstGeom>
          <a:noFill/>
        </p:spPr>
        <p:txBody>
          <a:bodyPr wrap="square" rtlCol="0">
            <a:spAutoFit/>
          </a:bodyPr>
          <a:lstStyle/>
          <a:p>
            <a:pPr algn="l"/>
            <a:r>
              <a:rPr lang="en-US" sz="2400" b="1" i="0" dirty="0">
                <a:solidFill>
                  <a:srgbClr val="292929"/>
                </a:solidFill>
                <a:effectLst/>
              </a:rPr>
              <a:t>Create a function calculating the length of a route:</a:t>
            </a:r>
          </a:p>
          <a:p>
            <a:pPr marL="285750" indent="-285750" algn="l">
              <a:lnSpc>
                <a:spcPct val="200000"/>
              </a:lnSpc>
              <a:buFont typeface="Wingdings" panose="05000000000000000000" pitchFamily="2" charset="2"/>
              <a:buChar char="q"/>
            </a:pPr>
            <a:r>
              <a:rPr lang="en-US" b="0" dirty="0">
                <a:solidFill>
                  <a:srgbClr val="292929"/>
                </a:solidFill>
                <a:effectLst/>
              </a:rPr>
              <a:t>Since we want our Hill climber to find the shortest solution, we need a function calculating the length of a specific solution. This function needs the Travelling salesman problem itself (for information about the distances between cities) and of course the solution of which we need the route length. </a:t>
            </a:r>
          </a:p>
          <a:p>
            <a:pPr marL="285750" indent="-285750" algn="l">
              <a:lnSpc>
                <a:spcPct val="200000"/>
              </a:lnSpc>
              <a:buFont typeface="Wingdings" panose="05000000000000000000" pitchFamily="2" charset="2"/>
              <a:buChar char="q"/>
            </a:pPr>
            <a:r>
              <a:rPr lang="en-US" b="0" dirty="0">
                <a:solidFill>
                  <a:srgbClr val="292929"/>
                </a:solidFill>
                <a:effectLst/>
              </a:rPr>
              <a:t>Since a solution is a list of all cities in a specific order, we can just iterate over a solution and use the tsp argument to add the distance to each new city to our total route length. </a:t>
            </a:r>
          </a:p>
          <a:p>
            <a:pPr marL="285750" indent="-285750" algn="l">
              <a:lnSpc>
                <a:spcPct val="200000"/>
              </a:lnSpc>
              <a:buFont typeface="Wingdings" panose="05000000000000000000" pitchFamily="2" charset="2"/>
              <a:buChar char="q"/>
            </a:pPr>
            <a:r>
              <a:rPr lang="en-US" b="0" dirty="0">
                <a:solidFill>
                  <a:srgbClr val="292929"/>
                </a:solidFill>
                <a:effectLst/>
              </a:rPr>
              <a:t>The iterator </a:t>
            </a:r>
            <a:r>
              <a:rPr lang="en-US" b="0" dirty="0" err="1">
                <a:solidFill>
                  <a:srgbClr val="292929"/>
                </a:solidFill>
                <a:effectLst/>
              </a:rPr>
              <a:t>i</a:t>
            </a:r>
            <a:r>
              <a:rPr lang="en-US" b="0" dirty="0">
                <a:solidFill>
                  <a:srgbClr val="292929"/>
                </a:solidFill>
                <a:effectLst/>
              </a:rPr>
              <a:t> “visits” each city, so i-1 is “at” the previous city or the last city when </a:t>
            </a:r>
            <a:r>
              <a:rPr lang="en-US" b="0" dirty="0" err="1">
                <a:solidFill>
                  <a:srgbClr val="292929"/>
                </a:solidFill>
                <a:effectLst/>
              </a:rPr>
              <a:t>i</a:t>
            </a:r>
            <a:r>
              <a:rPr lang="en-US" b="0" dirty="0">
                <a:solidFill>
                  <a:srgbClr val="292929"/>
                </a:solidFill>
                <a:effectLst/>
              </a:rPr>
              <a:t> equals 0 (which is exactly what we want, since we want to end up at the first city again). </a:t>
            </a:r>
          </a:p>
          <a:p>
            <a:pPr marL="285750" indent="-285750" algn="l">
              <a:lnSpc>
                <a:spcPct val="200000"/>
              </a:lnSpc>
              <a:buFont typeface="Wingdings" panose="05000000000000000000" pitchFamily="2" charset="2"/>
              <a:buChar char="q"/>
            </a:pPr>
            <a:r>
              <a:rPr lang="en-US" b="0" dirty="0">
                <a:solidFill>
                  <a:srgbClr val="292929"/>
                </a:solidFill>
                <a:effectLst/>
              </a:rPr>
              <a:t>solution[</a:t>
            </a:r>
            <a:r>
              <a:rPr lang="en-US" b="0" dirty="0" err="1">
                <a:solidFill>
                  <a:srgbClr val="292929"/>
                </a:solidFill>
                <a:effectLst/>
              </a:rPr>
              <a:t>i</a:t>
            </a:r>
            <a:r>
              <a:rPr lang="en-US" b="0" dirty="0">
                <a:solidFill>
                  <a:srgbClr val="292929"/>
                </a:solidFill>
                <a:effectLst/>
              </a:rPr>
              <a:t>] thus gives us the current city, and solution[i-1] gives us the previous one. Then we simply use the tsp to get the distance between these cities, which we add to the total length of the route (</a:t>
            </a:r>
            <a:r>
              <a:rPr lang="en-US" b="0" dirty="0" err="1">
                <a:solidFill>
                  <a:srgbClr val="292929"/>
                </a:solidFill>
                <a:effectLst/>
              </a:rPr>
              <a:t>routeLength</a:t>
            </a:r>
            <a:r>
              <a:rPr lang="en-US" b="0" dirty="0">
                <a:solidFill>
                  <a:srgbClr val="292929"/>
                </a:solidFill>
                <a:effectLst/>
              </a:rPr>
              <a:t>).</a:t>
            </a:r>
          </a:p>
          <a:p>
            <a:endParaRPr lang="en-IN" dirty="0"/>
          </a:p>
        </p:txBody>
      </p:sp>
    </p:spTree>
    <p:extLst>
      <p:ext uri="{BB962C8B-B14F-4D97-AF65-F5344CB8AC3E}">
        <p14:creationId xmlns:p14="http://schemas.microsoft.com/office/powerpoint/2010/main" val="252007156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20ECF4E-F1A6-E7B0-E19F-734864552B17}"/>
              </a:ext>
            </a:extLst>
          </p:cNvPr>
          <p:cNvSpPr txBox="1"/>
          <p:nvPr/>
        </p:nvSpPr>
        <p:spPr>
          <a:xfrm>
            <a:off x="269507" y="182880"/>
            <a:ext cx="11502190" cy="3442609"/>
          </a:xfrm>
          <a:prstGeom prst="rect">
            <a:avLst/>
          </a:prstGeom>
          <a:noFill/>
        </p:spPr>
        <p:txBody>
          <a:bodyPr wrap="square" rtlCol="0">
            <a:spAutoFit/>
          </a:bodyPr>
          <a:lstStyle/>
          <a:p>
            <a:pPr lvl="1">
              <a:lnSpc>
                <a:spcPct val="250000"/>
              </a:lnSpc>
            </a:pPr>
            <a:r>
              <a:rPr lang="en-US" dirty="0">
                <a:solidFill>
                  <a:schemeClr val="accent1"/>
                </a:solidFill>
              </a:rPr>
              <a:t>def</a:t>
            </a:r>
            <a:r>
              <a:rPr lang="en-US" dirty="0"/>
              <a:t> </a:t>
            </a:r>
            <a:r>
              <a:rPr lang="en-US" dirty="0" err="1"/>
              <a:t>routeLength</a:t>
            </a:r>
            <a:r>
              <a:rPr lang="en-US" dirty="0"/>
              <a:t>(tsp, solution):</a:t>
            </a:r>
          </a:p>
          <a:p>
            <a:pPr lvl="1">
              <a:lnSpc>
                <a:spcPct val="250000"/>
              </a:lnSpc>
            </a:pPr>
            <a:r>
              <a:rPr lang="en-US" dirty="0"/>
              <a:t>    </a:t>
            </a:r>
            <a:r>
              <a:rPr lang="en-US" dirty="0" err="1"/>
              <a:t>routeLength</a:t>
            </a:r>
            <a:r>
              <a:rPr lang="en-US" dirty="0"/>
              <a:t> = 0</a:t>
            </a:r>
          </a:p>
          <a:p>
            <a:pPr lvl="1">
              <a:lnSpc>
                <a:spcPct val="250000"/>
              </a:lnSpc>
            </a:pPr>
            <a:r>
              <a:rPr lang="en-US" dirty="0"/>
              <a:t>    for </a:t>
            </a:r>
            <a:r>
              <a:rPr lang="en-US" dirty="0" err="1"/>
              <a:t>i</a:t>
            </a:r>
            <a:r>
              <a:rPr lang="en-US" dirty="0"/>
              <a:t> in range(</a:t>
            </a:r>
            <a:r>
              <a:rPr lang="en-US" dirty="0" err="1"/>
              <a:t>len</a:t>
            </a:r>
            <a:r>
              <a:rPr lang="en-US" dirty="0"/>
              <a:t>(solution)):</a:t>
            </a:r>
          </a:p>
          <a:p>
            <a:pPr lvl="1">
              <a:lnSpc>
                <a:spcPct val="250000"/>
              </a:lnSpc>
            </a:pPr>
            <a:r>
              <a:rPr lang="en-US" dirty="0"/>
              <a:t>        </a:t>
            </a:r>
            <a:r>
              <a:rPr lang="en-US" dirty="0" err="1"/>
              <a:t>routeLength</a:t>
            </a:r>
            <a:r>
              <a:rPr lang="en-US" dirty="0"/>
              <a:t> += tsp[solution[</a:t>
            </a:r>
            <a:r>
              <a:rPr lang="en-US" dirty="0" err="1"/>
              <a:t>i</a:t>
            </a:r>
            <a:r>
              <a:rPr lang="en-US" dirty="0"/>
              <a:t> - 1]][solution[</a:t>
            </a:r>
            <a:r>
              <a:rPr lang="en-US" dirty="0" err="1"/>
              <a:t>i</a:t>
            </a:r>
            <a:r>
              <a:rPr lang="en-US" dirty="0"/>
              <a:t>]]</a:t>
            </a:r>
          </a:p>
          <a:p>
            <a:pPr lvl="1">
              <a:lnSpc>
                <a:spcPct val="250000"/>
              </a:lnSpc>
            </a:pPr>
            <a:r>
              <a:rPr lang="en-US" dirty="0"/>
              <a:t>    </a:t>
            </a:r>
            <a:r>
              <a:rPr lang="en-US" dirty="0">
                <a:solidFill>
                  <a:schemeClr val="accent1"/>
                </a:solidFill>
              </a:rPr>
              <a:t>return </a:t>
            </a:r>
            <a:r>
              <a:rPr lang="en-US" dirty="0" err="1"/>
              <a:t>routeLength</a:t>
            </a:r>
            <a:endParaRPr lang="en-IN" dirty="0"/>
          </a:p>
        </p:txBody>
      </p:sp>
    </p:spTree>
    <p:extLst>
      <p:ext uri="{BB962C8B-B14F-4D97-AF65-F5344CB8AC3E}">
        <p14:creationId xmlns:p14="http://schemas.microsoft.com/office/powerpoint/2010/main" val="3128736553"/>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666891F-1B9C-6001-88B9-36A662359B0F}"/>
              </a:ext>
            </a:extLst>
          </p:cNvPr>
          <p:cNvSpPr txBox="1"/>
          <p:nvPr/>
        </p:nvSpPr>
        <p:spPr>
          <a:xfrm>
            <a:off x="134754" y="115503"/>
            <a:ext cx="11742821" cy="6832640"/>
          </a:xfrm>
          <a:prstGeom prst="rect">
            <a:avLst/>
          </a:prstGeom>
          <a:noFill/>
        </p:spPr>
        <p:txBody>
          <a:bodyPr wrap="square" rtlCol="0">
            <a:spAutoFit/>
          </a:bodyPr>
          <a:lstStyle/>
          <a:p>
            <a:pPr algn="l"/>
            <a:r>
              <a:rPr lang="en-US" sz="2400" b="1" i="0" dirty="0">
                <a:solidFill>
                  <a:srgbClr val="292929"/>
                </a:solidFill>
                <a:effectLst/>
              </a:rPr>
              <a:t>Create a function generating all </a:t>
            </a:r>
            <a:r>
              <a:rPr lang="en-US" sz="2400" b="1" i="0" dirty="0" err="1">
                <a:solidFill>
                  <a:srgbClr val="292929"/>
                </a:solidFill>
                <a:effectLst/>
              </a:rPr>
              <a:t>neighbours</a:t>
            </a:r>
            <a:r>
              <a:rPr lang="en-US" sz="2400" b="1" i="0" dirty="0">
                <a:solidFill>
                  <a:srgbClr val="292929"/>
                </a:solidFill>
                <a:effectLst/>
              </a:rPr>
              <a:t> of a solution:</a:t>
            </a:r>
          </a:p>
          <a:p>
            <a:pPr marL="285750" indent="-285750" algn="l">
              <a:lnSpc>
                <a:spcPct val="200000"/>
              </a:lnSpc>
              <a:buFont typeface="Wingdings" panose="05000000000000000000" pitchFamily="2" charset="2"/>
              <a:buChar char="q"/>
            </a:pPr>
            <a:r>
              <a:rPr lang="en-US" b="0" i="0" dirty="0">
                <a:solidFill>
                  <a:srgbClr val="292929"/>
                </a:solidFill>
                <a:effectLst/>
              </a:rPr>
              <a:t>As explained before, Hill climbing works in part by generating all </a:t>
            </a:r>
            <a:r>
              <a:rPr lang="en-US" b="0" i="0" dirty="0" err="1">
                <a:solidFill>
                  <a:srgbClr val="292929"/>
                </a:solidFill>
                <a:effectLst/>
              </a:rPr>
              <a:t>neighbouring</a:t>
            </a:r>
            <a:r>
              <a:rPr lang="en-US" b="0" i="0" dirty="0">
                <a:solidFill>
                  <a:srgbClr val="292929"/>
                </a:solidFill>
                <a:effectLst/>
              </a:rPr>
              <a:t> solutions to the current solution. Let’s create a function doing exactly that. </a:t>
            </a:r>
          </a:p>
          <a:p>
            <a:pPr marL="285750" indent="-285750" algn="l">
              <a:lnSpc>
                <a:spcPct val="200000"/>
              </a:lnSpc>
              <a:buFont typeface="Wingdings" panose="05000000000000000000" pitchFamily="2" charset="2"/>
              <a:buChar char="q"/>
            </a:pPr>
            <a:r>
              <a:rPr lang="en-US" b="0" i="0" dirty="0">
                <a:solidFill>
                  <a:srgbClr val="292929"/>
                </a:solidFill>
                <a:effectLst/>
              </a:rPr>
              <a:t>A </a:t>
            </a:r>
            <a:r>
              <a:rPr lang="en-US" b="0" i="0" dirty="0" err="1">
                <a:solidFill>
                  <a:srgbClr val="292929"/>
                </a:solidFill>
                <a:effectLst/>
              </a:rPr>
              <a:t>neighbouring</a:t>
            </a:r>
            <a:r>
              <a:rPr lang="en-US" b="0" i="0" dirty="0">
                <a:solidFill>
                  <a:srgbClr val="292929"/>
                </a:solidFill>
                <a:effectLst/>
              </a:rPr>
              <a:t> solution is a solution that’s only slightly different from the current solution. Note also that a </a:t>
            </a:r>
            <a:r>
              <a:rPr lang="en-US" b="0" i="0" dirty="0" err="1">
                <a:solidFill>
                  <a:srgbClr val="292929"/>
                </a:solidFill>
                <a:effectLst/>
              </a:rPr>
              <a:t>neighbour</a:t>
            </a:r>
            <a:r>
              <a:rPr lang="en-US" b="0" i="0" dirty="0">
                <a:solidFill>
                  <a:srgbClr val="292929"/>
                </a:solidFill>
                <a:effectLst/>
              </a:rPr>
              <a:t> still needs to be a correct solution: every city still needs to be visited exactly once. We can accomplish both by creating a </a:t>
            </a:r>
            <a:r>
              <a:rPr lang="en-US" b="0" i="0" dirty="0" err="1">
                <a:solidFill>
                  <a:srgbClr val="292929"/>
                </a:solidFill>
                <a:effectLst/>
              </a:rPr>
              <a:t>neighbour</a:t>
            </a:r>
            <a:r>
              <a:rPr lang="en-US" b="0" i="0" dirty="0">
                <a:solidFill>
                  <a:srgbClr val="292929"/>
                </a:solidFill>
                <a:effectLst/>
              </a:rPr>
              <a:t> as follows: copy the current solution, and then make two cities swap places! This way, we create a slightly different solution that’s still correct. </a:t>
            </a:r>
          </a:p>
          <a:p>
            <a:pPr marL="285750" indent="-285750" algn="l">
              <a:lnSpc>
                <a:spcPct val="200000"/>
              </a:lnSpc>
              <a:buFont typeface="Wingdings" panose="05000000000000000000" pitchFamily="2" charset="2"/>
              <a:buChar char="q"/>
            </a:pPr>
            <a:r>
              <a:rPr lang="en-US" b="0" i="0" dirty="0">
                <a:solidFill>
                  <a:srgbClr val="292929"/>
                </a:solidFill>
                <a:effectLst/>
              </a:rPr>
              <a:t>Since we want to create all </a:t>
            </a:r>
            <a:r>
              <a:rPr lang="en-US" b="0" i="0" dirty="0" err="1">
                <a:solidFill>
                  <a:srgbClr val="292929"/>
                </a:solidFill>
                <a:effectLst/>
              </a:rPr>
              <a:t>neighbours</a:t>
            </a:r>
            <a:r>
              <a:rPr lang="en-US" b="0" i="0" dirty="0">
                <a:solidFill>
                  <a:srgbClr val="292929"/>
                </a:solidFill>
                <a:effectLst/>
              </a:rPr>
              <a:t> to a solution, and need to make cities swap places, we need to create two for loops, one nested in the other, both iterating the current solution. </a:t>
            </a:r>
          </a:p>
          <a:p>
            <a:pPr marL="285750" indent="-285750" algn="l">
              <a:lnSpc>
                <a:spcPct val="200000"/>
              </a:lnSpc>
              <a:buFont typeface="Wingdings" panose="05000000000000000000" pitchFamily="2" charset="2"/>
              <a:buChar char="q"/>
            </a:pPr>
            <a:r>
              <a:rPr lang="en-US" b="0" i="0" dirty="0">
                <a:solidFill>
                  <a:srgbClr val="292929"/>
                </a:solidFill>
                <a:effectLst/>
              </a:rPr>
              <a:t>Since swapping city A with city B is the same as swapping city B with city A, our second loop needs to only loop over those cities the first loop hasn’t looped over yet. Inside the second loop, we create our </a:t>
            </a:r>
            <a:r>
              <a:rPr lang="en-US" b="0" i="0" dirty="0" err="1">
                <a:solidFill>
                  <a:srgbClr val="292929"/>
                </a:solidFill>
                <a:effectLst/>
              </a:rPr>
              <a:t>neighbour</a:t>
            </a:r>
            <a:r>
              <a:rPr lang="en-US" b="0" i="0" dirty="0">
                <a:solidFill>
                  <a:srgbClr val="292929"/>
                </a:solidFill>
                <a:effectLst/>
              </a:rPr>
              <a:t> with the swapped cities and add it to our </a:t>
            </a:r>
            <a:r>
              <a:rPr lang="en-US" b="0" i="0" dirty="0" err="1">
                <a:solidFill>
                  <a:srgbClr val="292929"/>
                </a:solidFill>
                <a:effectLst/>
              </a:rPr>
              <a:t>neighbours</a:t>
            </a:r>
            <a:r>
              <a:rPr lang="en-US" b="0" i="0" dirty="0">
                <a:solidFill>
                  <a:srgbClr val="292929"/>
                </a:solidFill>
                <a:effectLst/>
              </a:rPr>
              <a:t> list.</a:t>
            </a:r>
          </a:p>
          <a:p>
            <a:endParaRPr lang="en-IN" dirty="0"/>
          </a:p>
        </p:txBody>
      </p:sp>
    </p:spTree>
    <p:extLst>
      <p:ext uri="{BB962C8B-B14F-4D97-AF65-F5344CB8AC3E}">
        <p14:creationId xmlns:p14="http://schemas.microsoft.com/office/powerpoint/2010/main" val="3207608030"/>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353AB90-6D5B-908C-6745-F3623C8CFA45}"/>
              </a:ext>
            </a:extLst>
          </p:cNvPr>
          <p:cNvSpPr txBox="1"/>
          <p:nvPr/>
        </p:nvSpPr>
        <p:spPr>
          <a:xfrm>
            <a:off x="67377" y="125128"/>
            <a:ext cx="11829448" cy="5000728"/>
          </a:xfrm>
          <a:prstGeom prst="rect">
            <a:avLst/>
          </a:prstGeom>
          <a:noFill/>
        </p:spPr>
        <p:txBody>
          <a:bodyPr wrap="square" rtlCol="0">
            <a:spAutoFit/>
          </a:bodyPr>
          <a:lstStyle/>
          <a:p>
            <a:pPr lvl="1">
              <a:lnSpc>
                <a:spcPct val="200000"/>
              </a:lnSpc>
            </a:pPr>
            <a:r>
              <a:rPr lang="en-US" dirty="0">
                <a:solidFill>
                  <a:schemeClr val="accent1"/>
                </a:solidFill>
              </a:rPr>
              <a:t>def</a:t>
            </a:r>
            <a:r>
              <a:rPr lang="en-US" dirty="0"/>
              <a:t> </a:t>
            </a:r>
            <a:r>
              <a:rPr lang="en-US" dirty="0" err="1"/>
              <a:t>getNeighbours</a:t>
            </a:r>
            <a:r>
              <a:rPr lang="en-US" dirty="0"/>
              <a:t>(solution):</a:t>
            </a:r>
          </a:p>
          <a:p>
            <a:pPr lvl="1">
              <a:lnSpc>
                <a:spcPct val="200000"/>
              </a:lnSpc>
            </a:pPr>
            <a:r>
              <a:rPr lang="en-US" dirty="0"/>
              <a:t>    </a:t>
            </a:r>
            <a:r>
              <a:rPr lang="en-US" dirty="0" err="1"/>
              <a:t>neighbours</a:t>
            </a:r>
            <a:r>
              <a:rPr lang="en-US" dirty="0"/>
              <a:t> = []</a:t>
            </a:r>
          </a:p>
          <a:p>
            <a:pPr lvl="1">
              <a:lnSpc>
                <a:spcPct val="200000"/>
              </a:lnSpc>
            </a:pPr>
            <a:r>
              <a:rPr lang="en-US" dirty="0"/>
              <a:t>    for </a:t>
            </a:r>
            <a:r>
              <a:rPr lang="en-US" dirty="0" err="1"/>
              <a:t>i</a:t>
            </a:r>
            <a:r>
              <a:rPr lang="en-US" dirty="0"/>
              <a:t> in range(</a:t>
            </a:r>
            <a:r>
              <a:rPr lang="en-US" dirty="0" err="1"/>
              <a:t>len</a:t>
            </a:r>
            <a:r>
              <a:rPr lang="en-US" dirty="0"/>
              <a:t>(solution)):</a:t>
            </a:r>
          </a:p>
          <a:p>
            <a:pPr lvl="1">
              <a:lnSpc>
                <a:spcPct val="200000"/>
              </a:lnSpc>
            </a:pPr>
            <a:r>
              <a:rPr lang="en-US" dirty="0"/>
              <a:t>        for j in range(</a:t>
            </a:r>
            <a:r>
              <a:rPr lang="en-US" dirty="0" err="1"/>
              <a:t>i</a:t>
            </a:r>
            <a:r>
              <a:rPr lang="en-US" dirty="0"/>
              <a:t> + 1, </a:t>
            </a:r>
            <a:r>
              <a:rPr lang="en-US" dirty="0" err="1"/>
              <a:t>len</a:t>
            </a:r>
            <a:r>
              <a:rPr lang="en-US" dirty="0"/>
              <a:t>(solution)):</a:t>
            </a:r>
          </a:p>
          <a:p>
            <a:pPr lvl="1">
              <a:lnSpc>
                <a:spcPct val="200000"/>
              </a:lnSpc>
            </a:pPr>
            <a:r>
              <a:rPr lang="en-US" dirty="0"/>
              <a:t>            </a:t>
            </a:r>
            <a:r>
              <a:rPr lang="en-US" dirty="0" err="1"/>
              <a:t>neighbour</a:t>
            </a:r>
            <a:r>
              <a:rPr lang="en-US" dirty="0"/>
              <a:t> = </a:t>
            </a:r>
            <a:r>
              <a:rPr lang="en-US" dirty="0" err="1"/>
              <a:t>solution.copy</a:t>
            </a:r>
            <a:r>
              <a:rPr lang="en-US" dirty="0"/>
              <a:t>()</a:t>
            </a:r>
          </a:p>
          <a:p>
            <a:pPr lvl="1">
              <a:lnSpc>
                <a:spcPct val="200000"/>
              </a:lnSpc>
            </a:pPr>
            <a:r>
              <a:rPr lang="en-US" dirty="0"/>
              <a:t>            </a:t>
            </a:r>
            <a:r>
              <a:rPr lang="en-US" dirty="0" err="1"/>
              <a:t>neighbour</a:t>
            </a:r>
            <a:r>
              <a:rPr lang="en-US" dirty="0"/>
              <a:t>[</a:t>
            </a:r>
            <a:r>
              <a:rPr lang="en-US" dirty="0" err="1"/>
              <a:t>i</a:t>
            </a:r>
            <a:r>
              <a:rPr lang="en-US" dirty="0"/>
              <a:t>] = solution[j]</a:t>
            </a:r>
          </a:p>
          <a:p>
            <a:pPr lvl="1">
              <a:lnSpc>
                <a:spcPct val="200000"/>
              </a:lnSpc>
            </a:pPr>
            <a:r>
              <a:rPr lang="en-US" dirty="0"/>
              <a:t>            </a:t>
            </a:r>
            <a:r>
              <a:rPr lang="en-US" dirty="0" err="1"/>
              <a:t>neighbour</a:t>
            </a:r>
            <a:r>
              <a:rPr lang="en-US" dirty="0"/>
              <a:t>[j] = solution[</a:t>
            </a:r>
            <a:r>
              <a:rPr lang="en-US" dirty="0" err="1"/>
              <a:t>i</a:t>
            </a:r>
            <a:r>
              <a:rPr lang="en-US" dirty="0"/>
              <a:t>]</a:t>
            </a:r>
          </a:p>
          <a:p>
            <a:pPr lvl="1">
              <a:lnSpc>
                <a:spcPct val="200000"/>
              </a:lnSpc>
            </a:pPr>
            <a:r>
              <a:rPr lang="en-US" dirty="0"/>
              <a:t>            </a:t>
            </a:r>
            <a:r>
              <a:rPr lang="en-US" dirty="0" err="1"/>
              <a:t>neighbours.append</a:t>
            </a:r>
            <a:r>
              <a:rPr lang="en-US" dirty="0"/>
              <a:t>(</a:t>
            </a:r>
            <a:r>
              <a:rPr lang="en-US" dirty="0" err="1"/>
              <a:t>neighbour</a:t>
            </a:r>
            <a:r>
              <a:rPr lang="en-US" dirty="0"/>
              <a:t>)</a:t>
            </a:r>
          </a:p>
          <a:p>
            <a:pPr lvl="1">
              <a:lnSpc>
                <a:spcPct val="200000"/>
              </a:lnSpc>
            </a:pPr>
            <a:r>
              <a:rPr lang="en-US" dirty="0"/>
              <a:t>   </a:t>
            </a:r>
            <a:r>
              <a:rPr lang="en-US" dirty="0">
                <a:solidFill>
                  <a:schemeClr val="accent1"/>
                </a:solidFill>
              </a:rPr>
              <a:t> return </a:t>
            </a:r>
            <a:r>
              <a:rPr lang="en-US" dirty="0" err="1"/>
              <a:t>neighbours</a:t>
            </a:r>
            <a:endParaRPr lang="en-IN" dirty="0"/>
          </a:p>
        </p:txBody>
      </p:sp>
    </p:spTree>
    <p:extLst>
      <p:ext uri="{BB962C8B-B14F-4D97-AF65-F5344CB8AC3E}">
        <p14:creationId xmlns:p14="http://schemas.microsoft.com/office/powerpoint/2010/main" val="3043190791"/>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F8BD2E21-B040-138F-3A00-C170C86C00A2}"/>
              </a:ext>
            </a:extLst>
          </p:cNvPr>
          <p:cNvSpPr txBox="1"/>
          <p:nvPr/>
        </p:nvSpPr>
        <p:spPr>
          <a:xfrm>
            <a:off x="144379" y="115503"/>
            <a:ext cx="11819823" cy="6512680"/>
          </a:xfrm>
          <a:prstGeom prst="rect">
            <a:avLst/>
          </a:prstGeom>
          <a:noFill/>
        </p:spPr>
        <p:txBody>
          <a:bodyPr wrap="square" rtlCol="0">
            <a:spAutoFit/>
          </a:bodyPr>
          <a:lstStyle/>
          <a:p>
            <a:pPr algn="l"/>
            <a:r>
              <a:rPr lang="en-US" sz="2400" b="1" i="0" dirty="0">
                <a:solidFill>
                  <a:srgbClr val="292929"/>
                </a:solidFill>
                <a:effectLst/>
              </a:rPr>
              <a:t>Create a function finding the best </a:t>
            </a:r>
            <a:r>
              <a:rPr lang="en-US" sz="2400" b="1" i="0" dirty="0" err="1">
                <a:solidFill>
                  <a:srgbClr val="292929"/>
                </a:solidFill>
                <a:effectLst/>
              </a:rPr>
              <a:t>neighbour</a:t>
            </a:r>
            <a:r>
              <a:rPr lang="en-US" sz="2400" b="1" i="0" dirty="0">
                <a:solidFill>
                  <a:srgbClr val="292929"/>
                </a:solidFill>
                <a:effectLst/>
              </a:rPr>
              <a:t>:</a:t>
            </a:r>
          </a:p>
          <a:p>
            <a:pPr marL="285750" indent="-285750" algn="l">
              <a:lnSpc>
                <a:spcPct val="150000"/>
              </a:lnSpc>
              <a:buFont typeface="Wingdings" panose="05000000000000000000" pitchFamily="2" charset="2"/>
              <a:buChar char="q"/>
            </a:pPr>
            <a:r>
              <a:rPr lang="en-US" b="0" dirty="0">
                <a:solidFill>
                  <a:srgbClr val="292929"/>
                </a:solidFill>
                <a:effectLst/>
              </a:rPr>
              <a:t>Now that we have a function generating all </a:t>
            </a:r>
            <a:r>
              <a:rPr lang="en-US" b="0" dirty="0" err="1">
                <a:solidFill>
                  <a:srgbClr val="292929"/>
                </a:solidFill>
                <a:effectLst/>
              </a:rPr>
              <a:t>neighbours</a:t>
            </a:r>
            <a:r>
              <a:rPr lang="en-US" b="0" dirty="0">
                <a:solidFill>
                  <a:srgbClr val="292929"/>
                </a:solidFill>
                <a:effectLst/>
              </a:rPr>
              <a:t> to a solution, it’s time we create one finding the best of these </a:t>
            </a:r>
            <a:r>
              <a:rPr lang="en-US" b="0" dirty="0" err="1">
                <a:solidFill>
                  <a:srgbClr val="292929"/>
                </a:solidFill>
                <a:effectLst/>
              </a:rPr>
              <a:t>neighbours</a:t>
            </a:r>
            <a:r>
              <a:rPr lang="en-US" b="0" dirty="0">
                <a:solidFill>
                  <a:srgbClr val="292929"/>
                </a:solidFill>
                <a:effectLst/>
              </a:rPr>
              <a:t>. This is a pretty straightforward function: it first sets the </a:t>
            </a:r>
            <a:r>
              <a:rPr lang="en-US" b="0" dirty="0" err="1">
                <a:solidFill>
                  <a:srgbClr val="292929"/>
                </a:solidFill>
                <a:effectLst/>
              </a:rPr>
              <a:t>bestNeighbour</a:t>
            </a:r>
            <a:r>
              <a:rPr lang="en-US" b="0" dirty="0">
                <a:solidFill>
                  <a:srgbClr val="292929"/>
                </a:solidFill>
                <a:effectLst/>
              </a:rPr>
              <a:t> to the first </a:t>
            </a:r>
            <a:r>
              <a:rPr lang="en-US" b="0" dirty="0" err="1">
                <a:solidFill>
                  <a:srgbClr val="292929"/>
                </a:solidFill>
                <a:effectLst/>
              </a:rPr>
              <a:t>neighbour</a:t>
            </a:r>
            <a:r>
              <a:rPr lang="en-US" b="0" dirty="0">
                <a:solidFill>
                  <a:srgbClr val="292929"/>
                </a:solidFill>
                <a:effectLst/>
              </a:rPr>
              <a:t> in the list of </a:t>
            </a:r>
            <a:r>
              <a:rPr lang="en-US" b="0" dirty="0" err="1">
                <a:solidFill>
                  <a:srgbClr val="292929"/>
                </a:solidFill>
                <a:effectLst/>
              </a:rPr>
              <a:t>neighbours</a:t>
            </a:r>
            <a:r>
              <a:rPr lang="en-US" b="0" dirty="0">
                <a:solidFill>
                  <a:srgbClr val="292929"/>
                </a:solidFill>
                <a:effectLst/>
              </a:rPr>
              <a:t> (and </a:t>
            </a:r>
            <a:r>
              <a:rPr lang="en-US" b="0" dirty="0" err="1">
                <a:solidFill>
                  <a:srgbClr val="292929"/>
                </a:solidFill>
                <a:effectLst/>
              </a:rPr>
              <a:t>bestRouteLength</a:t>
            </a:r>
            <a:r>
              <a:rPr lang="en-US" b="0" dirty="0">
                <a:solidFill>
                  <a:srgbClr val="292929"/>
                </a:solidFill>
                <a:effectLst/>
              </a:rPr>
              <a:t> to its route length), and then iterates over all </a:t>
            </a:r>
            <a:r>
              <a:rPr lang="en-US" b="0" dirty="0" err="1">
                <a:solidFill>
                  <a:srgbClr val="292929"/>
                </a:solidFill>
                <a:effectLst/>
              </a:rPr>
              <a:t>neighbours</a:t>
            </a:r>
            <a:r>
              <a:rPr lang="en-US" b="0" dirty="0">
                <a:solidFill>
                  <a:srgbClr val="292929"/>
                </a:solidFill>
                <a:effectLst/>
              </a:rPr>
              <a:t>; when a </a:t>
            </a:r>
            <a:r>
              <a:rPr lang="en-US" b="0" dirty="0" err="1">
                <a:solidFill>
                  <a:srgbClr val="292929"/>
                </a:solidFill>
                <a:effectLst/>
              </a:rPr>
              <a:t>neighbour</a:t>
            </a:r>
            <a:r>
              <a:rPr lang="en-US" b="0" dirty="0">
                <a:solidFill>
                  <a:srgbClr val="292929"/>
                </a:solidFill>
                <a:effectLst/>
              </a:rPr>
              <a:t> has a shorter route length, both </a:t>
            </a:r>
            <a:r>
              <a:rPr lang="en-US" b="0" dirty="0" err="1">
                <a:solidFill>
                  <a:srgbClr val="292929"/>
                </a:solidFill>
                <a:effectLst/>
              </a:rPr>
              <a:t>bestNeighbour</a:t>
            </a:r>
            <a:r>
              <a:rPr lang="en-US" b="0" dirty="0">
                <a:solidFill>
                  <a:srgbClr val="292929"/>
                </a:solidFill>
                <a:effectLst/>
              </a:rPr>
              <a:t> and </a:t>
            </a:r>
            <a:r>
              <a:rPr lang="en-US" b="0" dirty="0" err="1">
                <a:solidFill>
                  <a:srgbClr val="292929"/>
                </a:solidFill>
                <a:effectLst/>
              </a:rPr>
              <a:t>bestRouteLength</a:t>
            </a:r>
            <a:r>
              <a:rPr lang="en-US" b="0" dirty="0">
                <a:solidFill>
                  <a:srgbClr val="292929"/>
                </a:solidFill>
                <a:effectLst/>
              </a:rPr>
              <a:t> are updated. </a:t>
            </a:r>
          </a:p>
          <a:p>
            <a:pPr marL="285750" indent="-285750" algn="l">
              <a:lnSpc>
                <a:spcPct val="150000"/>
              </a:lnSpc>
              <a:buFont typeface="Wingdings" panose="05000000000000000000" pitchFamily="2" charset="2"/>
              <a:buChar char="q"/>
            </a:pPr>
            <a:r>
              <a:rPr lang="en-US" b="0" dirty="0">
                <a:solidFill>
                  <a:srgbClr val="292929"/>
                </a:solidFill>
                <a:effectLst/>
              </a:rPr>
              <a:t>This way, the best </a:t>
            </a:r>
            <a:r>
              <a:rPr lang="en-US" b="0" dirty="0" err="1">
                <a:solidFill>
                  <a:srgbClr val="292929"/>
                </a:solidFill>
                <a:effectLst/>
              </a:rPr>
              <a:t>neighbour</a:t>
            </a:r>
            <a:r>
              <a:rPr lang="en-US" b="0" dirty="0">
                <a:solidFill>
                  <a:srgbClr val="292929"/>
                </a:solidFill>
                <a:effectLst/>
              </a:rPr>
              <a:t> is found:</a:t>
            </a:r>
          </a:p>
          <a:p>
            <a:endParaRPr lang="en-IN" dirty="0"/>
          </a:p>
          <a:p>
            <a:pPr lvl="1">
              <a:lnSpc>
                <a:spcPct val="150000"/>
              </a:lnSpc>
            </a:pPr>
            <a:r>
              <a:rPr lang="en-IN" dirty="0">
                <a:solidFill>
                  <a:schemeClr val="accent1"/>
                </a:solidFill>
              </a:rPr>
              <a:t>def </a:t>
            </a:r>
            <a:r>
              <a:rPr lang="en-IN" dirty="0" err="1"/>
              <a:t>getBestNeighbour</a:t>
            </a:r>
            <a:r>
              <a:rPr lang="en-IN" dirty="0"/>
              <a:t>(tsp, neighbours):</a:t>
            </a:r>
          </a:p>
          <a:p>
            <a:pPr lvl="1">
              <a:lnSpc>
                <a:spcPct val="150000"/>
              </a:lnSpc>
            </a:pPr>
            <a:r>
              <a:rPr lang="en-IN" dirty="0"/>
              <a:t>    </a:t>
            </a:r>
            <a:r>
              <a:rPr lang="en-IN" dirty="0" err="1"/>
              <a:t>bestRouteLength</a:t>
            </a:r>
            <a:r>
              <a:rPr lang="en-IN" dirty="0"/>
              <a:t> = </a:t>
            </a:r>
            <a:r>
              <a:rPr lang="en-IN" dirty="0" err="1"/>
              <a:t>routeLength</a:t>
            </a:r>
            <a:r>
              <a:rPr lang="en-IN" dirty="0"/>
              <a:t>(tsp, neighbours[0])</a:t>
            </a:r>
          </a:p>
          <a:p>
            <a:pPr lvl="1">
              <a:lnSpc>
                <a:spcPct val="150000"/>
              </a:lnSpc>
            </a:pPr>
            <a:r>
              <a:rPr lang="en-IN" dirty="0"/>
              <a:t>    </a:t>
            </a:r>
            <a:r>
              <a:rPr lang="en-IN" dirty="0" err="1"/>
              <a:t>bestNeighbour</a:t>
            </a:r>
            <a:r>
              <a:rPr lang="en-IN" dirty="0"/>
              <a:t> = neighbours[0]</a:t>
            </a:r>
          </a:p>
          <a:p>
            <a:pPr lvl="1">
              <a:lnSpc>
                <a:spcPct val="150000"/>
              </a:lnSpc>
            </a:pPr>
            <a:r>
              <a:rPr lang="en-IN" dirty="0"/>
              <a:t>    for neighbour in neighbours:</a:t>
            </a:r>
          </a:p>
          <a:p>
            <a:pPr lvl="1">
              <a:lnSpc>
                <a:spcPct val="150000"/>
              </a:lnSpc>
            </a:pPr>
            <a:r>
              <a:rPr lang="en-IN" dirty="0"/>
              <a:t>        </a:t>
            </a:r>
            <a:r>
              <a:rPr lang="en-IN" dirty="0" err="1"/>
              <a:t>currentRouteLength</a:t>
            </a:r>
            <a:r>
              <a:rPr lang="en-IN" dirty="0"/>
              <a:t> = </a:t>
            </a:r>
            <a:r>
              <a:rPr lang="en-IN" dirty="0" err="1"/>
              <a:t>routeLength</a:t>
            </a:r>
            <a:r>
              <a:rPr lang="en-IN" dirty="0"/>
              <a:t>(tsp, neighbour)</a:t>
            </a:r>
          </a:p>
          <a:p>
            <a:pPr lvl="1">
              <a:lnSpc>
                <a:spcPct val="150000"/>
              </a:lnSpc>
            </a:pPr>
            <a:r>
              <a:rPr lang="en-IN" dirty="0"/>
              <a:t>        if </a:t>
            </a:r>
            <a:r>
              <a:rPr lang="en-IN" dirty="0" err="1"/>
              <a:t>currentRouteLength</a:t>
            </a:r>
            <a:r>
              <a:rPr lang="en-IN" dirty="0"/>
              <a:t> &lt; </a:t>
            </a:r>
            <a:r>
              <a:rPr lang="en-IN" dirty="0" err="1"/>
              <a:t>bestRouteLength</a:t>
            </a:r>
            <a:r>
              <a:rPr lang="en-IN" dirty="0"/>
              <a:t>:</a:t>
            </a:r>
          </a:p>
          <a:p>
            <a:pPr lvl="1">
              <a:lnSpc>
                <a:spcPct val="150000"/>
              </a:lnSpc>
            </a:pPr>
            <a:r>
              <a:rPr lang="en-IN" dirty="0"/>
              <a:t>            </a:t>
            </a:r>
            <a:r>
              <a:rPr lang="en-IN" dirty="0" err="1"/>
              <a:t>bestRouteLength</a:t>
            </a:r>
            <a:r>
              <a:rPr lang="en-IN" dirty="0"/>
              <a:t> = </a:t>
            </a:r>
            <a:r>
              <a:rPr lang="en-IN" dirty="0" err="1"/>
              <a:t>currentRouteLength</a:t>
            </a:r>
            <a:endParaRPr lang="en-IN" dirty="0"/>
          </a:p>
          <a:p>
            <a:pPr lvl="1">
              <a:lnSpc>
                <a:spcPct val="150000"/>
              </a:lnSpc>
            </a:pPr>
            <a:r>
              <a:rPr lang="en-IN" dirty="0"/>
              <a:t>            </a:t>
            </a:r>
            <a:r>
              <a:rPr lang="en-IN" dirty="0" err="1"/>
              <a:t>bestNeighbour</a:t>
            </a:r>
            <a:r>
              <a:rPr lang="en-IN" dirty="0"/>
              <a:t> = neighbour</a:t>
            </a:r>
          </a:p>
          <a:p>
            <a:pPr lvl="1">
              <a:lnSpc>
                <a:spcPct val="150000"/>
              </a:lnSpc>
            </a:pPr>
            <a:r>
              <a:rPr lang="en-IN" dirty="0">
                <a:solidFill>
                  <a:schemeClr val="accent1"/>
                </a:solidFill>
              </a:rPr>
              <a:t>    return </a:t>
            </a:r>
            <a:r>
              <a:rPr lang="en-IN" dirty="0" err="1"/>
              <a:t>bestNeighbour</a:t>
            </a:r>
            <a:r>
              <a:rPr lang="en-IN" dirty="0"/>
              <a:t>, </a:t>
            </a:r>
            <a:r>
              <a:rPr lang="en-IN" dirty="0" err="1"/>
              <a:t>bestRouteLength</a:t>
            </a:r>
            <a:endParaRPr lang="en-IN" dirty="0"/>
          </a:p>
        </p:txBody>
      </p:sp>
    </p:spTree>
    <p:extLst>
      <p:ext uri="{BB962C8B-B14F-4D97-AF65-F5344CB8AC3E}">
        <p14:creationId xmlns:p14="http://schemas.microsoft.com/office/powerpoint/2010/main" val="1632792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A745E34-E9E9-A52C-6C2D-526702CE3189}"/>
              </a:ext>
            </a:extLst>
          </p:cNvPr>
          <p:cNvSpPr txBox="1"/>
          <p:nvPr/>
        </p:nvSpPr>
        <p:spPr>
          <a:xfrm>
            <a:off x="144379" y="192505"/>
            <a:ext cx="11829448" cy="6743513"/>
          </a:xfrm>
          <a:prstGeom prst="rect">
            <a:avLst/>
          </a:prstGeom>
          <a:noFill/>
        </p:spPr>
        <p:txBody>
          <a:bodyPr wrap="square" rtlCol="0">
            <a:spAutoFit/>
          </a:bodyPr>
          <a:lstStyle/>
          <a:p>
            <a:pPr algn="l"/>
            <a:r>
              <a:rPr lang="en-US" sz="2400" b="1" i="0" dirty="0">
                <a:solidFill>
                  <a:srgbClr val="292929"/>
                </a:solidFill>
                <a:effectLst/>
              </a:rPr>
              <a:t>Create the Hill climbing algorithm:</a:t>
            </a:r>
          </a:p>
          <a:p>
            <a:pPr algn="l"/>
            <a:endParaRPr lang="en-US" sz="2400" b="1" i="0" dirty="0">
              <a:solidFill>
                <a:srgbClr val="292929"/>
              </a:solidFill>
              <a:effectLst/>
            </a:endParaRPr>
          </a:p>
          <a:p>
            <a:pPr algn="l"/>
            <a:r>
              <a:rPr lang="en-US" b="0" i="0" dirty="0">
                <a:solidFill>
                  <a:srgbClr val="292929"/>
                </a:solidFill>
                <a:effectLst/>
              </a:rPr>
              <a:t>It’s time for the core function! After creating the previous functions, this step has become quite easy:</a:t>
            </a:r>
          </a:p>
          <a:p>
            <a:endParaRPr lang="en-IN" dirty="0"/>
          </a:p>
          <a:p>
            <a:pPr lvl="1">
              <a:lnSpc>
                <a:spcPct val="150000"/>
              </a:lnSpc>
            </a:pPr>
            <a:r>
              <a:rPr lang="en-IN" dirty="0">
                <a:solidFill>
                  <a:schemeClr val="accent1"/>
                </a:solidFill>
              </a:rPr>
              <a:t>def</a:t>
            </a:r>
            <a:r>
              <a:rPr lang="en-IN" dirty="0"/>
              <a:t> </a:t>
            </a:r>
            <a:r>
              <a:rPr lang="en-IN" dirty="0" err="1"/>
              <a:t>hillClimbing</a:t>
            </a:r>
            <a:r>
              <a:rPr lang="en-IN" dirty="0"/>
              <a:t>(tsp):</a:t>
            </a:r>
          </a:p>
          <a:p>
            <a:pPr lvl="1">
              <a:lnSpc>
                <a:spcPct val="150000"/>
              </a:lnSpc>
            </a:pPr>
            <a:r>
              <a:rPr lang="en-IN" dirty="0"/>
              <a:t>    </a:t>
            </a:r>
            <a:r>
              <a:rPr lang="en-IN" dirty="0" err="1"/>
              <a:t>currentSolution</a:t>
            </a:r>
            <a:r>
              <a:rPr lang="en-IN" dirty="0"/>
              <a:t> = </a:t>
            </a:r>
            <a:r>
              <a:rPr lang="en-IN" dirty="0" err="1"/>
              <a:t>randomSolution</a:t>
            </a:r>
            <a:r>
              <a:rPr lang="en-IN" dirty="0"/>
              <a:t>(tsp)</a:t>
            </a:r>
          </a:p>
          <a:p>
            <a:pPr lvl="1">
              <a:lnSpc>
                <a:spcPct val="150000"/>
              </a:lnSpc>
            </a:pPr>
            <a:r>
              <a:rPr lang="en-IN" dirty="0"/>
              <a:t>    </a:t>
            </a:r>
            <a:r>
              <a:rPr lang="en-IN" dirty="0" err="1"/>
              <a:t>currentRouteLength</a:t>
            </a:r>
            <a:r>
              <a:rPr lang="en-IN" dirty="0"/>
              <a:t> = </a:t>
            </a:r>
            <a:r>
              <a:rPr lang="en-IN" dirty="0" err="1"/>
              <a:t>routeLength</a:t>
            </a:r>
            <a:r>
              <a:rPr lang="en-IN" dirty="0"/>
              <a:t>(tsp, </a:t>
            </a:r>
            <a:r>
              <a:rPr lang="en-IN" dirty="0" err="1"/>
              <a:t>currentSolution</a:t>
            </a:r>
            <a:r>
              <a:rPr lang="en-IN" dirty="0"/>
              <a:t>)</a:t>
            </a:r>
          </a:p>
          <a:p>
            <a:pPr lvl="1">
              <a:lnSpc>
                <a:spcPct val="150000"/>
              </a:lnSpc>
            </a:pPr>
            <a:r>
              <a:rPr lang="en-IN" dirty="0"/>
              <a:t>    neighbours = </a:t>
            </a:r>
            <a:r>
              <a:rPr lang="en-IN" dirty="0" err="1"/>
              <a:t>getNeighbours</a:t>
            </a:r>
            <a:r>
              <a:rPr lang="en-IN" dirty="0"/>
              <a:t>(</a:t>
            </a:r>
            <a:r>
              <a:rPr lang="en-IN" dirty="0" err="1"/>
              <a:t>currentSolution</a:t>
            </a:r>
            <a:r>
              <a:rPr lang="en-IN" dirty="0"/>
              <a:t>)</a:t>
            </a:r>
          </a:p>
          <a:p>
            <a:pPr lvl="1">
              <a:lnSpc>
                <a:spcPct val="150000"/>
              </a:lnSpc>
            </a:pPr>
            <a:r>
              <a:rPr lang="en-IN" dirty="0"/>
              <a:t>    </a:t>
            </a:r>
            <a:r>
              <a:rPr lang="en-IN" dirty="0" err="1"/>
              <a:t>bestNeighbour</a:t>
            </a:r>
            <a:r>
              <a:rPr lang="en-IN" dirty="0"/>
              <a:t>, </a:t>
            </a:r>
            <a:r>
              <a:rPr lang="en-IN" dirty="0" err="1"/>
              <a:t>bestNeighbourRouteLength</a:t>
            </a:r>
            <a:r>
              <a:rPr lang="en-IN" dirty="0"/>
              <a:t> = </a:t>
            </a:r>
            <a:r>
              <a:rPr lang="en-IN" dirty="0" err="1"/>
              <a:t>getBestNeighbour</a:t>
            </a:r>
            <a:r>
              <a:rPr lang="en-IN" dirty="0"/>
              <a:t>(tsp, neighbours)</a:t>
            </a:r>
          </a:p>
          <a:p>
            <a:pPr lvl="1">
              <a:lnSpc>
                <a:spcPct val="150000"/>
              </a:lnSpc>
            </a:pPr>
            <a:endParaRPr lang="en-IN" dirty="0"/>
          </a:p>
          <a:p>
            <a:pPr lvl="1">
              <a:lnSpc>
                <a:spcPct val="150000"/>
              </a:lnSpc>
            </a:pPr>
            <a:r>
              <a:rPr lang="en-IN" dirty="0">
                <a:solidFill>
                  <a:schemeClr val="accent1"/>
                </a:solidFill>
              </a:rPr>
              <a:t>    while</a:t>
            </a:r>
            <a:r>
              <a:rPr lang="en-IN" dirty="0"/>
              <a:t> </a:t>
            </a:r>
            <a:r>
              <a:rPr lang="en-IN" dirty="0" err="1"/>
              <a:t>bestNeighbourRouteLength</a:t>
            </a:r>
            <a:r>
              <a:rPr lang="en-IN" dirty="0"/>
              <a:t> &lt; </a:t>
            </a:r>
            <a:r>
              <a:rPr lang="en-IN" dirty="0" err="1"/>
              <a:t>currentRouteLength</a:t>
            </a:r>
            <a:r>
              <a:rPr lang="en-IN" dirty="0"/>
              <a:t>:</a:t>
            </a:r>
          </a:p>
          <a:p>
            <a:pPr lvl="1">
              <a:lnSpc>
                <a:spcPct val="150000"/>
              </a:lnSpc>
            </a:pPr>
            <a:r>
              <a:rPr lang="en-IN" dirty="0"/>
              <a:t>        </a:t>
            </a:r>
            <a:r>
              <a:rPr lang="en-IN" dirty="0" err="1"/>
              <a:t>currentSolution</a:t>
            </a:r>
            <a:r>
              <a:rPr lang="en-IN" dirty="0"/>
              <a:t> = </a:t>
            </a:r>
            <a:r>
              <a:rPr lang="en-IN" dirty="0" err="1"/>
              <a:t>bestNeighbour</a:t>
            </a:r>
            <a:endParaRPr lang="en-IN" dirty="0"/>
          </a:p>
          <a:p>
            <a:pPr lvl="1">
              <a:lnSpc>
                <a:spcPct val="150000"/>
              </a:lnSpc>
            </a:pPr>
            <a:r>
              <a:rPr lang="en-IN" dirty="0"/>
              <a:t>        </a:t>
            </a:r>
            <a:r>
              <a:rPr lang="en-IN" dirty="0" err="1"/>
              <a:t>currentRouteLength</a:t>
            </a:r>
            <a:r>
              <a:rPr lang="en-IN" dirty="0"/>
              <a:t> = </a:t>
            </a:r>
            <a:r>
              <a:rPr lang="en-IN" dirty="0" err="1"/>
              <a:t>bestNeighbourRouteLength</a:t>
            </a:r>
            <a:endParaRPr lang="en-IN" dirty="0"/>
          </a:p>
          <a:p>
            <a:pPr lvl="1">
              <a:lnSpc>
                <a:spcPct val="150000"/>
              </a:lnSpc>
            </a:pPr>
            <a:r>
              <a:rPr lang="en-IN" dirty="0"/>
              <a:t>        neighbours = </a:t>
            </a:r>
            <a:r>
              <a:rPr lang="en-IN" dirty="0" err="1"/>
              <a:t>getNeighbours</a:t>
            </a:r>
            <a:r>
              <a:rPr lang="en-IN" dirty="0"/>
              <a:t>(</a:t>
            </a:r>
            <a:r>
              <a:rPr lang="en-IN" dirty="0" err="1"/>
              <a:t>currentSolution</a:t>
            </a:r>
            <a:r>
              <a:rPr lang="en-IN" dirty="0"/>
              <a:t>)</a:t>
            </a:r>
          </a:p>
          <a:p>
            <a:pPr lvl="1">
              <a:lnSpc>
                <a:spcPct val="150000"/>
              </a:lnSpc>
            </a:pPr>
            <a:r>
              <a:rPr lang="en-IN" dirty="0"/>
              <a:t>        </a:t>
            </a:r>
            <a:r>
              <a:rPr lang="en-IN" dirty="0" err="1"/>
              <a:t>bestNeighbour</a:t>
            </a:r>
            <a:r>
              <a:rPr lang="en-IN" dirty="0"/>
              <a:t>, </a:t>
            </a:r>
            <a:r>
              <a:rPr lang="en-IN" dirty="0" err="1"/>
              <a:t>bestNeighbourRouteLength</a:t>
            </a:r>
            <a:r>
              <a:rPr lang="en-IN" dirty="0"/>
              <a:t> = </a:t>
            </a:r>
            <a:r>
              <a:rPr lang="en-IN" dirty="0" err="1"/>
              <a:t>getBestNeighbour</a:t>
            </a:r>
            <a:r>
              <a:rPr lang="en-IN" dirty="0"/>
              <a:t>(tsp, neighbours)</a:t>
            </a:r>
          </a:p>
          <a:p>
            <a:pPr lvl="1">
              <a:lnSpc>
                <a:spcPct val="150000"/>
              </a:lnSpc>
            </a:pPr>
            <a:endParaRPr lang="en-IN" dirty="0"/>
          </a:p>
          <a:p>
            <a:pPr lvl="1">
              <a:lnSpc>
                <a:spcPct val="150000"/>
              </a:lnSpc>
            </a:pPr>
            <a:r>
              <a:rPr lang="en-IN" dirty="0">
                <a:solidFill>
                  <a:schemeClr val="accent1"/>
                </a:solidFill>
              </a:rPr>
              <a:t>    return</a:t>
            </a:r>
            <a:r>
              <a:rPr lang="en-IN" dirty="0"/>
              <a:t> </a:t>
            </a:r>
            <a:r>
              <a:rPr lang="en-IN" dirty="0" err="1"/>
              <a:t>currentSolution</a:t>
            </a:r>
            <a:r>
              <a:rPr lang="en-IN" dirty="0"/>
              <a:t>, </a:t>
            </a:r>
            <a:r>
              <a:rPr lang="en-IN" dirty="0" err="1"/>
              <a:t>currentRouteLength</a:t>
            </a:r>
            <a:endParaRPr lang="en-IN" dirty="0"/>
          </a:p>
        </p:txBody>
      </p:sp>
    </p:spTree>
    <p:extLst>
      <p:ext uri="{BB962C8B-B14F-4D97-AF65-F5344CB8AC3E}">
        <p14:creationId xmlns:p14="http://schemas.microsoft.com/office/powerpoint/2010/main" val="384033804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9FE8A26F-2DC8-B3C5-AE09-7194694300B3}"/>
              </a:ext>
            </a:extLst>
          </p:cNvPr>
          <p:cNvSpPr txBox="1"/>
          <p:nvPr/>
        </p:nvSpPr>
        <p:spPr>
          <a:xfrm>
            <a:off x="125128" y="86627"/>
            <a:ext cx="11675445" cy="5093061"/>
          </a:xfrm>
          <a:prstGeom prst="rect">
            <a:avLst/>
          </a:prstGeom>
          <a:noFill/>
        </p:spPr>
        <p:txBody>
          <a:bodyPr wrap="square" rtlCol="0">
            <a:spAutoFit/>
          </a:bodyPr>
          <a:lstStyle/>
          <a:p>
            <a:r>
              <a:rPr lang="en-IN" sz="2400" b="1" dirty="0"/>
              <a:t>INSIGHTS:</a:t>
            </a:r>
          </a:p>
          <a:p>
            <a:endParaRPr lang="en-IN" dirty="0"/>
          </a:p>
          <a:p>
            <a:pPr marL="285750" indent="-285750">
              <a:lnSpc>
                <a:spcPct val="200000"/>
              </a:lnSpc>
              <a:buFont typeface="Wingdings" panose="05000000000000000000" pitchFamily="2" charset="2"/>
              <a:buChar char="q"/>
            </a:pPr>
            <a:r>
              <a:rPr lang="en-US" b="0" i="0" dirty="0">
                <a:solidFill>
                  <a:srgbClr val="292929"/>
                </a:solidFill>
                <a:effectLst/>
              </a:rPr>
              <a:t>First, we make a random solution and calculate its route length. </a:t>
            </a:r>
          </a:p>
          <a:p>
            <a:pPr marL="285750" indent="-285750">
              <a:lnSpc>
                <a:spcPct val="200000"/>
              </a:lnSpc>
              <a:buFont typeface="Wingdings" panose="05000000000000000000" pitchFamily="2" charset="2"/>
              <a:buChar char="q"/>
            </a:pPr>
            <a:endParaRPr lang="en-US" dirty="0">
              <a:solidFill>
                <a:srgbClr val="292929"/>
              </a:solidFill>
            </a:endParaRPr>
          </a:p>
          <a:p>
            <a:pPr marL="285750" indent="-285750">
              <a:lnSpc>
                <a:spcPct val="200000"/>
              </a:lnSpc>
              <a:buFont typeface="Wingdings" panose="05000000000000000000" pitchFamily="2" charset="2"/>
              <a:buChar char="q"/>
            </a:pPr>
            <a:r>
              <a:rPr lang="en-US" b="0" i="0" dirty="0">
                <a:solidFill>
                  <a:srgbClr val="292929"/>
                </a:solidFill>
                <a:effectLst/>
              </a:rPr>
              <a:t>We then create the </a:t>
            </a:r>
            <a:r>
              <a:rPr lang="en-US" b="0" i="0" dirty="0" err="1">
                <a:solidFill>
                  <a:srgbClr val="292929"/>
                </a:solidFill>
                <a:effectLst/>
              </a:rPr>
              <a:t>neighbouring</a:t>
            </a:r>
            <a:r>
              <a:rPr lang="en-US" b="0" i="0" dirty="0">
                <a:solidFill>
                  <a:srgbClr val="292929"/>
                </a:solidFill>
                <a:effectLst/>
              </a:rPr>
              <a:t> solutions, and find the best one. </a:t>
            </a:r>
          </a:p>
          <a:p>
            <a:pPr marL="285750" indent="-285750">
              <a:lnSpc>
                <a:spcPct val="200000"/>
              </a:lnSpc>
              <a:buFont typeface="Wingdings" panose="05000000000000000000" pitchFamily="2" charset="2"/>
              <a:buChar char="q"/>
            </a:pPr>
            <a:endParaRPr lang="en-US" dirty="0">
              <a:solidFill>
                <a:srgbClr val="292929"/>
              </a:solidFill>
            </a:endParaRPr>
          </a:p>
          <a:p>
            <a:pPr marL="285750" indent="-285750">
              <a:lnSpc>
                <a:spcPct val="200000"/>
              </a:lnSpc>
              <a:buFont typeface="Wingdings" panose="05000000000000000000" pitchFamily="2" charset="2"/>
              <a:buChar char="q"/>
            </a:pPr>
            <a:r>
              <a:rPr lang="en-US" b="0" i="0" dirty="0">
                <a:solidFill>
                  <a:srgbClr val="292929"/>
                </a:solidFill>
                <a:effectLst/>
              </a:rPr>
              <a:t>From there on, as long as the best </a:t>
            </a:r>
            <a:r>
              <a:rPr lang="en-US" b="0" i="0" dirty="0" err="1">
                <a:solidFill>
                  <a:srgbClr val="292929"/>
                </a:solidFill>
                <a:effectLst/>
              </a:rPr>
              <a:t>neighbour</a:t>
            </a:r>
            <a:r>
              <a:rPr lang="en-US" b="0" i="0" dirty="0">
                <a:solidFill>
                  <a:srgbClr val="292929"/>
                </a:solidFill>
                <a:effectLst/>
              </a:rPr>
              <a:t> is better than the current solution, we repeat the same pattern with the current solution each time being updated with the best </a:t>
            </a:r>
            <a:r>
              <a:rPr lang="en-US" b="0" i="0" dirty="0" err="1">
                <a:solidFill>
                  <a:srgbClr val="292929"/>
                </a:solidFill>
                <a:effectLst/>
              </a:rPr>
              <a:t>neighbour</a:t>
            </a:r>
            <a:r>
              <a:rPr lang="en-US" b="0" i="0" dirty="0">
                <a:solidFill>
                  <a:srgbClr val="292929"/>
                </a:solidFill>
                <a:effectLst/>
              </a:rPr>
              <a:t>. </a:t>
            </a:r>
          </a:p>
          <a:p>
            <a:pPr marL="285750" indent="-285750">
              <a:lnSpc>
                <a:spcPct val="200000"/>
              </a:lnSpc>
              <a:buFont typeface="Wingdings" panose="05000000000000000000" pitchFamily="2" charset="2"/>
              <a:buChar char="q"/>
            </a:pPr>
            <a:endParaRPr lang="en-US" dirty="0">
              <a:solidFill>
                <a:srgbClr val="292929"/>
              </a:solidFill>
            </a:endParaRPr>
          </a:p>
          <a:p>
            <a:pPr marL="285750" indent="-285750">
              <a:lnSpc>
                <a:spcPct val="200000"/>
              </a:lnSpc>
              <a:buFont typeface="Wingdings" panose="05000000000000000000" pitchFamily="2" charset="2"/>
              <a:buChar char="q"/>
            </a:pPr>
            <a:r>
              <a:rPr lang="en-US" b="0" i="0" dirty="0">
                <a:solidFill>
                  <a:srgbClr val="292929"/>
                </a:solidFill>
                <a:effectLst/>
              </a:rPr>
              <a:t>When this process stops, we return the current solution (and its route length).</a:t>
            </a:r>
            <a:endParaRPr lang="en-IN" dirty="0"/>
          </a:p>
        </p:txBody>
      </p:sp>
    </p:spTree>
    <p:extLst>
      <p:ext uri="{BB962C8B-B14F-4D97-AF65-F5344CB8AC3E}">
        <p14:creationId xmlns:p14="http://schemas.microsoft.com/office/powerpoint/2010/main" val="293617093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8EB1C610-9289-F84E-E1DD-8618DED9734A}"/>
              </a:ext>
            </a:extLst>
          </p:cNvPr>
          <p:cNvSpPr txBox="1"/>
          <p:nvPr/>
        </p:nvSpPr>
        <p:spPr>
          <a:xfrm>
            <a:off x="134754" y="144379"/>
            <a:ext cx="11800572" cy="6001643"/>
          </a:xfrm>
          <a:prstGeom prst="rect">
            <a:avLst/>
          </a:prstGeom>
          <a:noFill/>
        </p:spPr>
        <p:txBody>
          <a:bodyPr wrap="square" rtlCol="0">
            <a:spAutoFit/>
          </a:bodyPr>
          <a:lstStyle/>
          <a:p>
            <a:r>
              <a:rPr lang="it-IT" sz="2400" b="1" i="0" dirty="0">
                <a:effectLst/>
              </a:rPr>
              <a:t>Mini-Max Algorithm in Artificial Intelligence:</a:t>
            </a:r>
          </a:p>
          <a:p>
            <a:endParaRPr lang="en-IN" dirty="0"/>
          </a:p>
          <a:p>
            <a:pPr marL="285750" indent="-285750" algn="just">
              <a:lnSpc>
                <a:spcPct val="150000"/>
              </a:lnSpc>
              <a:buFont typeface="Wingdings" panose="05000000000000000000" pitchFamily="2" charset="2"/>
              <a:buChar char="q"/>
            </a:pPr>
            <a:r>
              <a:rPr lang="en-US" b="0" i="0" dirty="0">
                <a:solidFill>
                  <a:srgbClr val="000000"/>
                </a:solidFill>
                <a:effectLst/>
              </a:rPr>
              <a:t>Mini-max algorithm is a recursive or backtracking algorithm which is used in decision-making and game theory. It provides an optimal move for the player assuming that opponent is also playing optimally.</a:t>
            </a:r>
          </a:p>
          <a:p>
            <a:pPr marL="285750" indent="-285750" algn="just">
              <a:lnSpc>
                <a:spcPct val="150000"/>
              </a:lnSpc>
              <a:buFont typeface="Wingdings" panose="05000000000000000000" pitchFamily="2" charset="2"/>
              <a:buChar char="q"/>
            </a:pPr>
            <a:r>
              <a:rPr lang="en-US" b="0" i="0" dirty="0">
                <a:solidFill>
                  <a:srgbClr val="000000"/>
                </a:solidFill>
                <a:effectLst/>
              </a:rPr>
              <a:t>Mini-Max algorithm uses recursion to search through the game-tree.</a:t>
            </a:r>
          </a:p>
          <a:p>
            <a:pPr marL="285750" indent="-285750" algn="just">
              <a:lnSpc>
                <a:spcPct val="150000"/>
              </a:lnSpc>
              <a:buFont typeface="Wingdings" panose="05000000000000000000" pitchFamily="2" charset="2"/>
              <a:buChar char="q"/>
            </a:pPr>
            <a:r>
              <a:rPr lang="en-US" b="0" i="0" dirty="0">
                <a:solidFill>
                  <a:srgbClr val="000000"/>
                </a:solidFill>
                <a:effectLst/>
              </a:rPr>
              <a:t>Min-Max algorithm is mostly used for game playing in AI. Such as Chess, Checkers, tic-tac-toe, go, and various tow-players game. This Algorithm computes the minimax decision for the current state.</a:t>
            </a:r>
          </a:p>
          <a:p>
            <a:pPr marL="285750" indent="-285750" algn="just">
              <a:lnSpc>
                <a:spcPct val="150000"/>
              </a:lnSpc>
              <a:buFont typeface="Wingdings" panose="05000000000000000000" pitchFamily="2" charset="2"/>
              <a:buChar char="q"/>
            </a:pPr>
            <a:r>
              <a:rPr lang="en-US" b="0" i="0" dirty="0">
                <a:solidFill>
                  <a:srgbClr val="000000"/>
                </a:solidFill>
                <a:effectLst/>
              </a:rPr>
              <a:t>In this algorithm two players play the game, one is called MAX and other is called MIN.</a:t>
            </a:r>
          </a:p>
          <a:p>
            <a:pPr marL="285750" indent="-285750" algn="just">
              <a:lnSpc>
                <a:spcPct val="150000"/>
              </a:lnSpc>
              <a:buFont typeface="Wingdings" panose="05000000000000000000" pitchFamily="2" charset="2"/>
              <a:buChar char="q"/>
            </a:pPr>
            <a:r>
              <a:rPr lang="en-US" b="0" i="0" dirty="0">
                <a:solidFill>
                  <a:srgbClr val="000000"/>
                </a:solidFill>
                <a:effectLst/>
              </a:rPr>
              <a:t>Both the players fight it as the opponent player gets the minimum benefit while they get the maximum benefit.</a:t>
            </a:r>
          </a:p>
          <a:p>
            <a:pPr marL="285750" indent="-285750" algn="just">
              <a:lnSpc>
                <a:spcPct val="150000"/>
              </a:lnSpc>
              <a:buFont typeface="Wingdings" panose="05000000000000000000" pitchFamily="2" charset="2"/>
              <a:buChar char="q"/>
            </a:pPr>
            <a:r>
              <a:rPr lang="en-US" b="0" i="0" dirty="0">
                <a:solidFill>
                  <a:srgbClr val="000000"/>
                </a:solidFill>
                <a:effectLst/>
              </a:rPr>
              <a:t>Both Players of the game are opponent of each other, where MAX will select the maximized value and MIN will select the minimized value.</a:t>
            </a:r>
          </a:p>
          <a:p>
            <a:pPr marL="285750" indent="-285750" algn="just">
              <a:lnSpc>
                <a:spcPct val="150000"/>
              </a:lnSpc>
              <a:buFont typeface="Wingdings" panose="05000000000000000000" pitchFamily="2" charset="2"/>
              <a:buChar char="q"/>
            </a:pPr>
            <a:r>
              <a:rPr lang="en-US" b="0" i="0" dirty="0">
                <a:solidFill>
                  <a:srgbClr val="000000"/>
                </a:solidFill>
                <a:effectLst/>
              </a:rPr>
              <a:t>The minimax algorithm performs a depth-first search algorithm for the exploration of the complete game tree.</a:t>
            </a:r>
          </a:p>
          <a:p>
            <a:pPr marL="285750" indent="-285750" algn="just">
              <a:lnSpc>
                <a:spcPct val="150000"/>
              </a:lnSpc>
              <a:buFont typeface="Wingdings" panose="05000000000000000000" pitchFamily="2" charset="2"/>
              <a:buChar char="q"/>
            </a:pPr>
            <a:r>
              <a:rPr lang="en-US" b="0" i="0" dirty="0">
                <a:solidFill>
                  <a:srgbClr val="000000"/>
                </a:solidFill>
                <a:effectLst/>
              </a:rPr>
              <a:t>The minimax algorithm proceeds all the way down to the terminal node of the tree, then backtrack the tree as the recursion.</a:t>
            </a:r>
          </a:p>
          <a:p>
            <a:endParaRPr lang="en-IN" dirty="0"/>
          </a:p>
        </p:txBody>
      </p:sp>
    </p:spTree>
    <p:extLst>
      <p:ext uri="{BB962C8B-B14F-4D97-AF65-F5344CB8AC3E}">
        <p14:creationId xmlns:p14="http://schemas.microsoft.com/office/powerpoint/2010/main" val="375191556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56E4C81-CD66-93FC-AF62-AF6A602B2346}"/>
              </a:ext>
            </a:extLst>
          </p:cNvPr>
          <p:cNvSpPr txBox="1"/>
          <p:nvPr/>
        </p:nvSpPr>
        <p:spPr>
          <a:xfrm>
            <a:off x="0" y="0"/>
            <a:ext cx="11954577" cy="7429059"/>
          </a:xfrm>
          <a:prstGeom prst="rect">
            <a:avLst/>
          </a:prstGeom>
          <a:noFill/>
        </p:spPr>
        <p:txBody>
          <a:bodyPr wrap="square" rtlCol="0">
            <a:spAutoFit/>
          </a:bodyPr>
          <a:lstStyle/>
          <a:p>
            <a:r>
              <a:rPr lang="en-IN" sz="2400" b="1" i="0" dirty="0">
                <a:effectLst/>
              </a:rPr>
              <a:t>Pseudo-code for </a:t>
            </a:r>
            <a:r>
              <a:rPr lang="en-IN" sz="2400" b="1" i="0" dirty="0" err="1">
                <a:effectLst/>
              </a:rPr>
              <a:t>MinMax</a:t>
            </a:r>
            <a:r>
              <a:rPr lang="en-IN" sz="2400" b="1" i="0" dirty="0">
                <a:effectLst/>
              </a:rPr>
              <a:t> Algorithm:</a:t>
            </a:r>
          </a:p>
          <a:p>
            <a:endParaRPr lang="en-IN" sz="2400" b="1" dirty="0"/>
          </a:p>
          <a:p>
            <a:pPr lvl="1"/>
            <a:r>
              <a:rPr lang="en-IN" sz="2000" i="0" dirty="0">
                <a:effectLst/>
              </a:rPr>
              <a:t>function minimax(node, depth, </a:t>
            </a:r>
            <a:r>
              <a:rPr lang="en-IN" sz="2000" i="0" dirty="0" err="1">
                <a:effectLst/>
              </a:rPr>
              <a:t>maximizingPlayer</a:t>
            </a:r>
            <a:r>
              <a:rPr lang="en-IN" sz="2000" i="0" dirty="0">
                <a:effectLst/>
              </a:rPr>
              <a:t>) is  </a:t>
            </a:r>
          </a:p>
          <a:p>
            <a:pPr lvl="1"/>
            <a:r>
              <a:rPr lang="en-IN" sz="2000" i="0" dirty="0">
                <a:effectLst/>
              </a:rPr>
              <a:t>if depth ==0 or node is a terminal node then  </a:t>
            </a:r>
          </a:p>
          <a:p>
            <a:pPr lvl="1"/>
            <a:r>
              <a:rPr lang="en-IN" sz="2000" i="0" dirty="0">
                <a:effectLst/>
              </a:rPr>
              <a:t>return static evaluation of node  </a:t>
            </a:r>
          </a:p>
          <a:p>
            <a:pPr lvl="1"/>
            <a:r>
              <a:rPr lang="en-IN" sz="2000" i="0" dirty="0">
                <a:effectLst/>
              </a:rPr>
              <a:t>  </a:t>
            </a:r>
          </a:p>
          <a:p>
            <a:pPr lvl="1"/>
            <a:r>
              <a:rPr lang="en-IN" sz="2000" i="0" dirty="0">
                <a:effectLst/>
              </a:rPr>
              <a:t>if </a:t>
            </a:r>
            <a:r>
              <a:rPr lang="en-IN" sz="2000" i="0" dirty="0" err="1">
                <a:effectLst/>
              </a:rPr>
              <a:t>MaximizingPlayer</a:t>
            </a:r>
            <a:r>
              <a:rPr lang="en-IN" sz="2000" i="0" dirty="0">
                <a:effectLst/>
              </a:rPr>
              <a:t> then      // for </a:t>
            </a:r>
            <a:r>
              <a:rPr lang="en-IN" sz="2000" i="0" dirty="0" err="1">
                <a:effectLst/>
              </a:rPr>
              <a:t>Maximizer</a:t>
            </a:r>
            <a:r>
              <a:rPr lang="en-IN" sz="2000" i="0" dirty="0">
                <a:effectLst/>
              </a:rPr>
              <a:t> Player  </a:t>
            </a:r>
          </a:p>
          <a:p>
            <a:pPr lvl="1"/>
            <a:r>
              <a:rPr lang="en-IN" sz="2000" i="0" dirty="0" err="1">
                <a:effectLst/>
              </a:rPr>
              <a:t>maxEva</a:t>
            </a:r>
            <a:r>
              <a:rPr lang="en-IN" sz="2000" i="0" dirty="0">
                <a:effectLst/>
              </a:rPr>
              <a:t>= -infinity            </a:t>
            </a:r>
          </a:p>
          <a:p>
            <a:pPr lvl="1"/>
            <a:r>
              <a:rPr lang="en-IN" sz="2000" i="0" dirty="0">
                <a:effectLst/>
              </a:rPr>
              <a:t> for each child of node do  </a:t>
            </a:r>
          </a:p>
          <a:p>
            <a:pPr lvl="1"/>
            <a:r>
              <a:rPr lang="en-IN" sz="2000" i="0" dirty="0">
                <a:effectLst/>
              </a:rPr>
              <a:t> </a:t>
            </a:r>
            <a:r>
              <a:rPr lang="en-IN" sz="2000" i="0" dirty="0" err="1">
                <a:effectLst/>
              </a:rPr>
              <a:t>eva</a:t>
            </a:r>
            <a:r>
              <a:rPr lang="en-IN" sz="2000" i="0" dirty="0">
                <a:effectLst/>
              </a:rPr>
              <a:t>= minimax(child, depth-1, false)  </a:t>
            </a:r>
          </a:p>
          <a:p>
            <a:pPr lvl="1"/>
            <a:r>
              <a:rPr lang="en-IN" sz="2000" i="0" dirty="0" err="1">
                <a:effectLst/>
              </a:rPr>
              <a:t>maxEva</a:t>
            </a:r>
            <a:r>
              <a:rPr lang="en-IN" sz="2000" i="0" dirty="0">
                <a:effectLst/>
              </a:rPr>
              <a:t>= max(</a:t>
            </a:r>
            <a:r>
              <a:rPr lang="en-IN" sz="2000" i="0" dirty="0" err="1">
                <a:effectLst/>
              </a:rPr>
              <a:t>maxEva,eva</a:t>
            </a:r>
            <a:r>
              <a:rPr lang="en-IN" sz="2000" i="0" dirty="0">
                <a:effectLst/>
              </a:rPr>
              <a:t>)        //gives Maximum of the values  </a:t>
            </a:r>
          </a:p>
          <a:p>
            <a:pPr lvl="1"/>
            <a:r>
              <a:rPr lang="en-IN" sz="2000" i="0" dirty="0">
                <a:effectLst/>
              </a:rPr>
              <a:t>return </a:t>
            </a:r>
            <a:r>
              <a:rPr lang="en-IN" sz="2000" i="0" dirty="0" err="1">
                <a:effectLst/>
              </a:rPr>
              <a:t>maxEva</a:t>
            </a:r>
            <a:r>
              <a:rPr lang="en-IN" sz="2000" i="0" dirty="0">
                <a:effectLst/>
              </a:rPr>
              <a:t>  </a:t>
            </a:r>
          </a:p>
          <a:p>
            <a:pPr lvl="1"/>
            <a:r>
              <a:rPr lang="en-IN" sz="2000" i="0" dirty="0">
                <a:effectLst/>
              </a:rPr>
              <a:t>  </a:t>
            </a:r>
          </a:p>
          <a:p>
            <a:pPr lvl="1"/>
            <a:r>
              <a:rPr lang="en-IN" sz="2000" i="0" dirty="0">
                <a:effectLst/>
              </a:rPr>
              <a:t>else:                        // for Minimizer player  </a:t>
            </a:r>
          </a:p>
          <a:p>
            <a:pPr lvl="1"/>
            <a:r>
              <a:rPr lang="en-IN" sz="2000" i="0" dirty="0">
                <a:effectLst/>
              </a:rPr>
              <a:t> </a:t>
            </a:r>
            <a:r>
              <a:rPr lang="en-IN" sz="2000" i="0" dirty="0" err="1">
                <a:effectLst/>
              </a:rPr>
              <a:t>minEva</a:t>
            </a:r>
            <a:r>
              <a:rPr lang="en-IN" sz="2000" i="0" dirty="0">
                <a:effectLst/>
              </a:rPr>
              <a:t>= +infinity   </a:t>
            </a:r>
          </a:p>
          <a:p>
            <a:pPr lvl="1"/>
            <a:r>
              <a:rPr lang="en-IN" sz="2000" i="0" dirty="0">
                <a:effectLst/>
              </a:rPr>
              <a:t> for each child of node do  </a:t>
            </a:r>
          </a:p>
          <a:p>
            <a:pPr lvl="1"/>
            <a:r>
              <a:rPr lang="en-IN" sz="2000" i="0" dirty="0">
                <a:effectLst/>
              </a:rPr>
              <a:t> </a:t>
            </a:r>
            <a:r>
              <a:rPr lang="en-IN" sz="2000" i="0" dirty="0" err="1">
                <a:effectLst/>
              </a:rPr>
              <a:t>eva</a:t>
            </a:r>
            <a:r>
              <a:rPr lang="en-IN" sz="2000" i="0" dirty="0">
                <a:effectLst/>
              </a:rPr>
              <a:t>= minimax(child, depth-1, true)  </a:t>
            </a:r>
          </a:p>
          <a:p>
            <a:pPr lvl="1"/>
            <a:r>
              <a:rPr lang="en-IN" sz="2000" i="0" dirty="0">
                <a:effectLst/>
              </a:rPr>
              <a:t> </a:t>
            </a:r>
            <a:r>
              <a:rPr lang="en-IN" sz="2000" i="0" dirty="0" err="1">
                <a:effectLst/>
              </a:rPr>
              <a:t>minEva</a:t>
            </a:r>
            <a:r>
              <a:rPr lang="en-IN" sz="2000" i="0" dirty="0">
                <a:effectLst/>
              </a:rPr>
              <a:t>= min(</a:t>
            </a:r>
            <a:r>
              <a:rPr lang="en-IN" sz="2000" i="0" dirty="0" err="1">
                <a:effectLst/>
              </a:rPr>
              <a:t>minEva</a:t>
            </a:r>
            <a:r>
              <a:rPr lang="en-IN" sz="2000" i="0" dirty="0">
                <a:effectLst/>
              </a:rPr>
              <a:t>, </a:t>
            </a:r>
            <a:r>
              <a:rPr lang="en-IN" sz="2000" i="0" dirty="0" err="1">
                <a:effectLst/>
              </a:rPr>
              <a:t>eva</a:t>
            </a:r>
            <a:r>
              <a:rPr lang="en-IN" sz="2000" i="0" dirty="0">
                <a:effectLst/>
              </a:rPr>
              <a:t>)         //gives minimum of the values  </a:t>
            </a:r>
          </a:p>
          <a:p>
            <a:pPr lvl="1"/>
            <a:r>
              <a:rPr lang="en-IN" sz="2000" i="0" dirty="0">
                <a:effectLst/>
              </a:rPr>
              <a:t> return </a:t>
            </a:r>
            <a:r>
              <a:rPr lang="en-IN" sz="2000" i="0" dirty="0" err="1">
                <a:effectLst/>
              </a:rPr>
              <a:t>minEva</a:t>
            </a:r>
            <a:r>
              <a:rPr lang="en-IN" sz="2000" i="0" dirty="0">
                <a:effectLst/>
              </a:rPr>
              <a:t> </a:t>
            </a:r>
          </a:p>
          <a:p>
            <a:pPr lvl="1"/>
            <a:endParaRPr lang="en-IN" sz="2000" dirty="0"/>
          </a:p>
          <a:p>
            <a:pPr algn="just"/>
            <a:r>
              <a:rPr lang="en-US" sz="2000" b="1" i="0" dirty="0">
                <a:solidFill>
                  <a:srgbClr val="333333"/>
                </a:solidFill>
                <a:effectLst/>
                <a:latin typeface="inter-bold"/>
              </a:rPr>
              <a:t>Initial call:</a:t>
            </a:r>
            <a:endParaRPr lang="en-US" sz="2000" b="0" i="0" dirty="0">
              <a:solidFill>
                <a:srgbClr val="333333"/>
              </a:solidFill>
              <a:effectLst/>
              <a:latin typeface="inter-regular"/>
            </a:endParaRPr>
          </a:p>
          <a:p>
            <a:pPr algn="just"/>
            <a:r>
              <a:rPr lang="en-US" sz="2000" b="1" i="0" dirty="0">
                <a:solidFill>
                  <a:srgbClr val="333333"/>
                </a:solidFill>
                <a:effectLst/>
                <a:latin typeface="inter-bold"/>
              </a:rPr>
              <a:t>Minimax(node, 3, true)</a:t>
            </a:r>
            <a:endParaRPr lang="en-US" sz="2000" b="0" i="0" dirty="0">
              <a:solidFill>
                <a:srgbClr val="333333"/>
              </a:solidFill>
              <a:effectLst/>
              <a:latin typeface="inter-regular"/>
            </a:endParaRPr>
          </a:p>
          <a:p>
            <a:pPr lvl="1"/>
            <a:endParaRPr lang="en-IN" sz="2000" i="0" dirty="0">
              <a:effectLst/>
            </a:endParaRPr>
          </a:p>
        </p:txBody>
      </p:sp>
    </p:spTree>
    <p:extLst>
      <p:ext uri="{BB962C8B-B14F-4D97-AF65-F5344CB8AC3E}">
        <p14:creationId xmlns:p14="http://schemas.microsoft.com/office/powerpoint/2010/main" val="3601461559"/>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757C9E58-E446-1A1A-1F9A-E8F5E26E7938}"/>
              </a:ext>
            </a:extLst>
          </p:cNvPr>
          <p:cNvSpPr txBox="1"/>
          <p:nvPr/>
        </p:nvSpPr>
        <p:spPr>
          <a:xfrm>
            <a:off x="115503" y="173255"/>
            <a:ext cx="11810198" cy="5770811"/>
          </a:xfrm>
          <a:prstGeom prst="rect">
            <a:avLst/>
          </a:prstGeom>
          <a:noFill/>
        </p:spPr>
        <p:txBody>
          <a:bodyPr wrap="square" rtlCol="0">
            <a:spAutoFit/>
          </a:bodyPr>
          <a:lstStyle/>
          <a:p>
            <a:pPr algn="just"/>
            <a:r>
              <a:rPr lang="en-US" b="1" i="0" dirty="0">
                <a:effectLst/>
              </a:rPr>
              <a:t>Working of Min-Max Algorithm:</a:t>
            </a:r>
          </a:p>
          <a:p>
            <a:pPr algn="just"/>
            <a:endParaRPr lang="en-US" b="1" i="0" dirty="0">
              <a:effectLst/>
            </a:endParaRPr>
          </a:p>
          <a:p>
            <a:pPr marL="285750" indent="-285750" algn="just">
              <a:lnSpc>
                <a:spcPct val="250000"/>
              </a:lnSpc>
              <a:buFont typeface="Wingdings" panose="05000000000000000000" pitchFamily="2" charset="2"/>
              <a:buChar char="q"/>
            </a:pPr>
            <a:r>
              <a:rPr lang="en-US" b="0" i="0" dirty="0">
                <a:solidFill>
                  <a:srgbClr val="000000"/>
                </a:solidFill>
                <a:effectLst/>
              </a:rPr>
              <a:t>The working of the minimax algorithm can be easily described using an example. Below we have taken an example of game-tree which is representing the two-player game.</a:t>
            </a:r>
          </a:p>
          <a:p>
            <a:pPr marL="285750" indent="-285750" algn="just">
              <a:lnSpc>
                <a:spcPct val="250000"/>
              </a:lnSpc>
              <a:buFont typeface="Wingdings" panose="05000000000000000000" pitchFamily="2" charset="2"/>
              <a:buChar char="q"/>
            </a:pPr>
            <a:r>
              <a:rPr lang="en-US" b="0" i="0" dirty="0">
                <a:solidFill>
                  <a:srgbClr val="000000"/>
                </a:solidFill>
                <a:effectLst/>
              </a:rPr>
              <a:t>In this example, there are two players one is called Maximizer and other is called Minimizer.</a:t>
            </a:r>
          </a:p>
          <a:p>
            <a:pPr marL="285750" indent="-285750" algn="just">
              <a:lnSpc>
                <a:spcPct val="250000"/>
              </a:lnSpc>
              <a:buFont typeface="Wingdings" panose="05000000000000000000" pitchFamily="2" charset="2"/>
              <a:buChar char="q"/>
            </a:pPr>
            <a:r>
              <a:rPr lang="en-US" b="0" i="0" dirty="0">
                <a:solidFill>
                  <a:srgbClr val="000000"/>
                </a:solidFill>
                <a:effectLst/>
              </a:rPr>
              <a:t>Maximizer will try to get the Maximum possible score, and Minimizer will try to get the minimum possible score.</a:t>
            </a:r>
          </a:p>
          <a:p>
            <a:pPr marL="285750" indent="-285750" algn="just">
              <a:lnSpc>
                <a:spcPct val="250000"/>
              </a:lnSpc>
              <a:buFont typeface="Wingdings" panose="05000000000000000000" pitchFamily="2" charset="2"/>
              <a:buChar char="q"/>
            </a:pPr>
            <a:r>
              <a:rPr lang="en-US" b="0" i="0" dirty="0">
                <a:solidFill>
                  <a:srgbClr val="000000"/>
                </a:solidFill>
                <a:effectLst/>
              </a:rPr>
              <a:t>This algorithm applies DFS, so in this game-tree, we have to go all the way through the leaves to reach the terminal nodes.</a:t>
            </a:r>
          </a:p>
          <a:p>
            <a:pPr marL="285750" indent="-285750" algn="just">
              <a:lnSpc>
                <a:spcPct val="250000"/>
              </a:lnSpc>
              <a:buFont typeface="Wingdings" panose="05000000000000000000" pitchFamily="2" charset="2"/>
              <a:buChar char="q"/>
            </a:pPr>
            <a:r>
              <a:rPr lang="en-US" b="0" i="0" dirty="0">
                <a:solidFill>
                  <a:srgbClr val="000000"/>
                </a:solidFill>
                <a:effectLst/>
              </a:rPr>
              <a:t>At the terminal node, the terminal values are given so we will compare those value and backtrack the tree until the initial state occurs. Following are the main steps involved in solving the two-player game tree</a:t>
            </a:r>
          </a:p>
          <a:p>
            <a:endParaRPr lang="en-IN" dirty="0"/>
          </a:p>
        </p:txBody>
      </p:sp>
    </p:spTree>
    <p:extLst>
      <p:ext uri="{BB962C8B-B14F-4D97-AF65-F5344CB8AC3E}">
        <p14:creationId xmlns:p14="http://schemas.microsoft.com/office/powerpoint/2010/main" val="787820098"/>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5BD38342-AA6A-5C1B-0A49-FACE0F8D4073}"/>
              </a:ext>
            </a:extLst>
          </p:cNvPr>
          <p:cNvSpPr txBox="1"/>
          <p:nvPr/>
        </p:nvSpPr>
        <p:spPr>
          <a:xfrm>
            <a:off x="182880" y="173255"/>
            <a:ext cx="11742821" cy="1711366"/>
          </a:xfrm>
          <a:prstGeom prst="rect">
            <a:avLst/>
          </a:prstGeom>
          <a:noFill/>
        </p:spPr>
        <p:txBody>
          <a:bodyPr wrap="square" rtlCol="0">
            <a:spAutoFit/>
          </a:bodyPr>
          <a:lstStyle/>
          <a:p>
            <a:pPr marL="285750" indent="-285750">
              <a:lnSpc>
                <a:spcPct val="150000"/>
              </a:lnSpc>
              <a:buFont typeface="Wingdings" panose="05000000000000000000" pitchFamily="2" charset="2"/>
              <a:buChar char="q"/>
            </a:pPr>
            <a:r>
              <a:rPr lang="en-US" b="1" i="0" dirty="0">
                <a:solidFill>
                  <a:srgbClr val="333333"/>
                </a:solidFill>
                <a:effectLst/>
              </a:rPr>
              <a:t>Step-1:</a:t>
            </a:r>
            <a:r>
              <a:rPr lang="en-US" b="0" i="0" dirty="0">
                <a:solidFill>
                  <a:srgbClr val="333333"/>
                </a:solidFill>
                <a:effectLst/>
              </a:rPr>
              <a:t> In the first step, the algorithm generates the entire game-tree and apply the utility function to get the utility values for the terminal states. In the below tree diagram, let's take A is the initial state of the tree. Suppose maximizer takes first turn which has worst-case initial value =- infinity, and minimizer will take next turn which has worst-case initial value = +infinity.</a:t>
            </a:r>
            <a:endParaRPr lang="en-IN" dirty="0"/>
          </a:p>
        </p:txBody>
      </p:sp>
      <p:pic>
        <p:nvPicPr>
          <p:cNvPr id="2050" name="Picture 2" descr="Mini-Max Algorithm in AI">
            <a:extLst>
              <a:ext uri="{FF2B5EF4-FFF2-40B4-BE49-F238E27FC236}">
                <a16:creationId xmlns:a16="http://schemas.microsoft.com/office/drawing/2014/main" id="{C5AECE49-A5C8-48B3-AB45-6391B1EB0FD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0114" y="1884621"/>
            <a:ext cx="4762500" cy="42576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92470454"/>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692F2953-734F-E3D0-77EE-08ACA1A28415}"/>
              </a:ext>
            </a:extLst>
          </p:cNvPr>
          <p:cNvSpPr txBox="1"/>
          <p:nvPr/>
        </p:nvSpPr>
        <p:spPr>
          <a:xfrm>
            <a:off x="115503" y="86627"/>
            <a:ext cx="11839074" cy="3373359"/>
          </a:xfrm>
          <a:prstGeom prst="rect">
            <a:avLst/>
          </a:prstGeom>
          <a:noFill/>
        </p:spPr>
        <p:txBody>
          <a:bodyPr wrap="square" rtlCol="0">
            <a:spAutoFit/>
          </a:bodyPr>
          <a:lstStyle/>
          <a:p>
            <a:pPr>
              <a:lnSpc>
                <a:spcPct val="150000"/>
              </a:lnSpc>
            </a:pPr>
            <a:r>
              <a:rPr lang="en-US" b="1" i="0" dirty="0">
                <a:solidFill>
                  <a:srgbClr val="333333"/>
                </a:solidFill>
                <a:effectLst/>
              </a:rPr>
              <a:t>Step 2:</a:t>
            </a:r>
            <a:r>
              <a:rPr lang="en-US" b="0" i="0" dirty="0">
                <a:solidFill>
                  <a:srgbClr val="333333"/>
                </a:solidFill>
                <a:effectLst/>
              </a:rPr>
              <a:t> Now, first we find the utilities value for the Maximizer, its initial value is -∞, so we will compare each value in terminal state with initial value of Maximizer and determines the higher nodes values. It will find the maximum among the all.</a:t>
            </a:r>
          </a:p>
          <a:p>
            <a:pPr>
              <a:lnSpc>
                <a:spcPct val="150000"/>
              </a:lnSpc>
            </a:pPr>
            <a:endParaRPr lang="en-US" dirty="0">
              <a:solidFill>
                <a:srgbClr val="333333"/>
              </a:solidFill>
            </a:endParaRPr>
          </a:p>
          <a:p>
            <a:pPr algn="just">
              <a:lnSpc>
                <a:spcPct val="150000"/>
              </a:lnSpc>
              <a:buFont typeface="Arial" panose="020B0604020202020204" pitchFamily="34" charset="0"/>
              <a:buChar char="•"/>
            </a:pPr>
            <a:r>
              <a:rPr lang="en-IN" b="0" i="0" dirty="0">
                <a:solidFill>
                  <a:srgbClr val="000000"/>
                </a:solidFill>
                <a:effectLst/>
              </a:rPr>
              <a:t>For node D         max(-1,- -∞) =&gt; max(-1,4)= 4</a:t>
            </a:r>
          </a:p>
          <a:p>
            <a:pPr algn="just">
              <a:lnSpc>
                <a:spcPct val="150000"/>
              </a:lnSpc>
              <a:buFont typeface="Arial" panose="020B0604020202020204" pitchFamily="34" charset="0"/>
              <a:buChar char="•"/>
            </a:pPr>
            <a:r>
              <a:rPr lang="en-IN" b="0" i="0" dirty="0">
                <a:solidFill>
                  <a:srgbClr val="000000"/>
                </a:solidFill>
                <a:effectLst/>
              </a:rPr>
              <a:t>For Node E         max(2, -∞) =&gt; max(2, 6)= 6</a:t>
            </a:r>
          </a:p>
          <a:p>
            <a:pPr algn="just">
              <a:lnSpc>
                <a:spcPct val="150000"/>
              </a:lnSpc>
              <a:buFont typeface="Arial" panose="020B0604020202020204" pitchFamily="34" charset="0"/>
              <a:buChar char="•"/>
            </a:pPr>
            <a:r>
              <a:rPr lang="en-IN" b="0" i="0" dirty="0">
                <a:solidFill>
                  <a:srgbClr val="000000"/>
                </a:solidFill>
                <a:effectLst/>
              </a:rPr>
              <a:t>For Node F         max(-3, -∞) =&gt; max(-3,-5) = -3</a:t>
            </a:r>
          </a:p>
          <a:p>
            <a:pPr algn="just">
              <a:lnSpc>
                <a:spcPct val="150000"/>
              </a:lnSpc>
              <a:buFont typeface="Arial" panose="020B0604020202020204" pitchFamily="34" charset="0"/>
              <a:buChar char="•"/>
            </a:pPr>
            <a:r>
              <a:rPr lang="en-IN" b="0" i="0" dirty="0">
                <a:solidFill>
                  <a:srgbClr val="000000"/>
                </a:solidFill>
                <a:effectLst/>
              </a:rPr>
              <a:t>For node G         max(0, -∞) = max(0, 7) = 7</a:t>
            </a:r>
          </a:p>
          <a:p>
            <a:pPr>
              <a:lnSpc>
                <a:spcPct val="150000"/>
              </a:lnSpc>
            </a:pPr>
            <a:endParaRPr lang="en-IN" dirty="0"/>
          </a:p>
        </p:txBody>
      </p:sp>
      <p:pic>
        <p:nvPicPr>
          <p:cNvPr id="3074" name="Picture 2" descr="Mini-Max Algorithm in AI">
            <a:extLst>
              <a:ext uri="{FF2B5EF4-FFF2-40B4-BE49-F238E27FC236}">
                <a16:creationId xmlns:a16="http://schemas.microsoft.com/office/drawing/2014/main" id="{79EC5237-832E-2FE2-3B3B-EF81FF38F91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879407" y="2407068"/>
            <a:ext cx="4762500" cy="42576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433525035"/>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AA608150-5EDA-48A4-B2F7-349A20399430}"/>
              </a:ext>
            </a:extLst>
          </p:cNvPr>
          <p:cNvSpPr txBox="1"/>
          <p:nvPr/>
        </p:nvSpPr>
        <p:spPr>
          <a:xfrm>
            <a:off x="163629" y="154004"/>
            <a:ext cx="11752447" cy="2126864"/>
          </a:xfrm>
          <a:prstGeom prst="rect">
            <a:avLst/>
          </a:prstGeom>
          <a:noFill/>
        </p:spPr>
        <p:txBody>
          <a:bodyPr wrap="square" rtlCol="0">
            <a:spAutoFit/>
          </a:bodyPr>
          <a:lstStyle/>
          <a:p>
            <a:pPr algn="just">
              <a:lnSpc>
                <a:spcPct val="150000"/>
              </a:lnSpc>
            </a:pPr>
            <a:r>
              <a:rPr lang="en-US" b="1" i="0" dirty="0">
                <a:solidFill>
                  <a:srgbClr val="333333"/>
                </a:solidFill>
                <a:effectLst/>
              </a:rPr>
              <a:t>Step 3:</a:t>
            </a:r>
            <a:r>
              <a:rPr lang="en-US" b="0" i="0" dirty="0">
                <a:solidFill>
                  <a:srgbClr val="333333"/>
                </a:solidFill>
                <a:effectLst/>
              </a:rPr>
              <a:t> In the next step, it's a turn for minimizer, so it will compare all nodes value with +∞, and will find the 3</a:t>
            </a:r>
            <a:r>
              <a:rPr lang="en-US" b="0" i="0" baseline="30000" dirty="0">
                <a:solidFill>
                  <a:srgbClr val="333333"/>
                </a:solidFill>
                <a:effectLst/>
              </a:rPr>
              <a:t>rd</a:t>
            </a:r>
            <a:r>
              <a:rPr lang="en-US" b="0" i="0" dirty="0">
                <a:solidFill>
                  <a:srgbClr val="333333"/>
                </a:solidFill>
                <a:effectLst/>
              </a:rPr>
              <a:t> layer node values.</a:t>
            </a:r>
          </a:p>
          <a:p>
            <a:pPr marL="742950" lvl="1" indent="-285750" algn="just">
              <a:lnSpc>
                <a:spcPct val="150000"/>
              </a:lnSpc>
              <a:buFont typeface="Wingdings" panose="05000000000000000000" pitchFamily="2" charset="2"/>
              <a:buChar char="q"/>
            </a:pPr>
            <a:r>
              <a:rPr lang="en-US" b="0" i="0" dirty="0">
                <a:solidFill>
                  <a:srgbClr val="000000"/>
                </a:solidFill>
                <a:effectLst/>
              </a:rPr>
              <a:t>For node B= min(4,6) = 4</a:t>
            </a:r>
          </a:p>
          <a:p>
            <a:pPr marL="742950" lvl="1" indent="-285750" algn="just">
              <a:lnSpc>
                <a:spcPct val="150000"/>
              </a:lnSpc>
              <a:buFont typeface="Wingdings" panose="05000000000000000000" pitchFamily="2" charset="2"/>
              <a:buChar char="q"/>
            </a:pPr>
            <a:r>
              <a:rPr lang="en-US" b="0" i="0" dirty="0">
                <a:solidFill>
                  <a:srgbClr val="000000"/>
                </a:solidFill>
                <a:effectLst/>
              </a:rPr>
              <a:t>For node C= min (-3, 7) = -3</a:t>
            </a:r>
          </a:p>
          <a:p>
            <a:pPr>
              <a:lnSpc>
                <a:spcPct val="150000"/>
              </a:lnSpc>
            </a:pPr>
            <a:endParaRPr lang="en-IN" dirty="0"/>
          </a:p>
        </p:txBody>
      </p:sp>
      <p:pic>
        <p:nvPicPr>
          <p:cNvPr id="4098" name="Picture 2" descr="Mini-Max Algorithm in AI">
            <a:extLst>
              <a:ext uri="{FF2B5EF4-FFF2-40B4-BE49-F238E27FC236}">
                <a16:creationId xmlns:a16="http://schemas.microsoft.com/office/drawing/2014/main" id="{B45744D6-C310-54FD-1C81-443AF967F77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8602" y="2280868"/>
            <a:ext cx="4762500" cy="425767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965241394"/>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CCB24953-8CDB-0670-6D90-D47FEA6169D8}"/>
              </a:ext>
            </a:extLst>
          </p:cNvPr>
          <p:cNvSpPr txBox="1"/>
          <p:nvPr/>
        </p:nvSpPr>
        <p:spPr>
          <a:xfrm>
            <a:off x="125128" y="105878"/>
            <a:ext cx="11733196" cy="1754326"/>
          </a:xfrm>
          <a:prstGeom prst="rect">
            <a:avLst/>
          </a:prstGeom>
          <a:noFill/>
        </p:spPr>
        <p:txBody>
          <a:bodyPr wrap="square" rtlCol="0">
            <a:spAutoFit/>
          </a:bodyPr>
          <a:lstStyle/>
          <a:p>
            <a:r>
              <a:rPr lang="en-US" b="1" i="0" dirty="0">
                <a:solidFill>
                  <a:srgbClr val="333333"/>
                </a:solidFill>
                <a:effectLst/>
              </a:rPr>
              <a:t>Step 4:</a:t>
            </a:r>
            <a:r>
              <a:rPr lang="en-US" b="0" i="0" dirty="0">
                <a:solidFill>
                  <a:srgbClr val="333333"/>
                </a:solidFill>
                <a:effectLst/>
              </a:rPr>
              <a:t> Now it's a turn for Maximizer, and it will again choose the maximum of all nodes value and find the maximum value for the root node. In this game tree, there are only 4 layers, hence we reach immediately to the root node, but in real games, there will be more than 4 layers.</a:t>
            </a:r>
          </a:p>
          <a:p>
            <a:endParaRPr lang="en-US" b="0" i="0" dirty="0">
              <a:solidFill>
                <a:srgbClr val="333333"/>
              </a:solidFill>
              <a:effectLst/>
            </a:endParaRPr>
          </a:p>
          <a:p>
            <a:pPr marL="742950" lvl="1" indent="-285750">
              <a:buFont typeface="Wingdings" panose="05000000000000000000" pitchFamily="2" charset="2"/>
              <a:buChar char="q"/>
            </a:pPr>
            <a:r>
              <a:rPr lang="en-US" b="0" i="0" dirty="0">
                <a:solidFill>
                  <a:srgbClr val="000000"/>
                </a:solidFill>
                <a:effectLst/>
              </a:rPr>
              <a:t>For node A max(4, -3)= 4</a:t>
            </a:r>
          </a:p>
          <a:p>
            <a:endParaRPr lang="en-IN" dirty="0"/>
          </a:p>
        </p:txBody>
      </p:sp>
      <p:pic>
        <p:nvPicPr>
          <p:cNvPr id="5122" name="Picture 2" descr="Mini-Max Algorithm in AI">
            <a:extLst>
              <a:ext uri="{FF2B5EF4-FFF2-40B4-BE49-F238E27FC236}">
                <a16:creationId xmlns:a16="http://schemas.microsoft.com/office/drawing/2014/main" id="{B88BBB07-2C7A-03B3-A875-596FD805C72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17984" y="1580184"/>
            <a:ext cx="4534100" cy="4053485"/>
          </a:xfrm>
          <a:prstGeom prst="rect">
            <a:avLst/>
          </a:prstGeom>
          <a:ln>
            <a:noFill/>
          </a:ln>
          <a:effectLst>
            <a:outerShdw blurRad="292100" dist="139700" dir="2700000" algn="tl" rotWithShape="0">
              <a:srgbClr val="333333">
                <a:alpha val="65000"/>
              </a:srgbClr>
            </a:outerShdw>
          </a:effectLst>
          <a:extLst>
            <a:ext uri="{909E8E84-426E-40DD-AFC4-6F175D3DCCD1}">
              <a14:hiddenFill xmlns:a14="http://schemas.microsoft.com/office/drawing/2010/main">
                <a:solidFill>
                  <a:srgbClr val="FFFFFF"/>
                </a:solidFill>
              </a14:hiddenFill>
            </a:ext>
          </a:extLst>
        </p:spPr>
      </p:pic>
      <p:sp>
        <p:nvSpPr>
          <p:cNvPr id="4" name="TextBox 3">
            <a:extLst>
              <a:ext uri="{FF2B5EF4-FFF2-40B4-BE49-F238E27FC236}">
                <a16:creationId xmlns:a16="http://schemas.microsoft.com/office/drawing/2014/main" id="{7A1783EC-3BB5-D18E-132A-335186B5E20F}"/>
              </a:ext>
            </a:extLst>
          </p:cNvPr>
          <p:cNvSpPr txBox="1"/>
          <p:nvPr/>
        </p:nvSpPr>
        <p:spPr>
          <a:xfrm>
            <a:off x="2419550" y="5889942"/>
            <a:ext cx="7144352" cy="369332"/>
          </a:xfrm>
          <a:prstGeom prst="rect">
            <a:avLst/>
          </a:prstGeom>
          <a:noFill/>
        </p:spPr>
        <p:txBody>
          <a:bodyPr wrap="square">
            <a:spAutoFit/>
          </a:bodyPr>
          <a:lstStyle/>
          <a:p>
            <a:r>
              <a:rPr lang="en-US" b="1" i="0" dirty="0">
                <a:solidFill>
                  <a:srgbClr val="333333"/>
                </a:solidFill>
                <a:effectLst/>
              </a:rPr>
              <a:t>That was the complete workflow of the minimax two player game</a:t>
            </a:r>
            <a:endParaRPr lang="en-IN" b="1" dirty="0"/>
          </a:p>
        </p:txBody>
      </p:sp>
    </p:spTree>
    <p:extLst>
      <p:ext uri="{BB962C8B-B14F-4D97-AF65-F5344CB8AC3E}">
        <p14:creationId xmlns:p14="http://schemas.microsoft.com/office/powerpoint/2010/main" val="3787278539"/>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3408DF0C-EAFA-9241-2773-DCF2F1DEA500}"/>
              </a:ext>
            </a:extLst>
          </p:cNvPr>
          <p:cNvSpPr txBox="1"/>
          <p:nvPr/>
        </p:nvSpPr>
        <p:spPr>
          <a:xfrm>
            <a:off x="182880" y="154004"/>
            <a:ext cx="11790947" cy="6001643"/>
          </a:xfrm>
          <a:prstGeom prst="rect">
            <a:avLst/>
          </a:prstGeom>
          <a:noFill/>
        </p:spPr>
        <p:txBody>
          <a:bodyPr wrap="square" rtlCol="0">
            <a:spAutoFit/>
          </a:bodyPr>
          <a:lstStyle/>
          <a:p>
            <a:pPr algn="just"/>
            <a:r>
              <a:rPr lang="en-US" sz="2400" b="1" i="0" dirty="0">
                <a:effectLst/>
              </a:rPr>
              <a:t>Properties of Mini-Max algorithm:</a:t>
            </a:r>
          </a:p>
          <a:p>
            <a:pPr marL="285750" indent="-285750">
              <a:lnSpc>
                <a:spcPct val="150000"/>
              </a:lnSpc>
              <a:buFont typeface="Wingdings" panose="05000000000000000000" pitchFamily="2" charset="2"/>
              <a:buChar char="q"/>
            </a:pPr>
            <a:r>
              <a:rPr lang="en-US" b="1" i="0" dirty="0">
                <a:solidFill>
                  <a:srgbClr val="000000"/>
                </a:solidFill>
                <a:effectLst/>
              </a:rPr>
              <a:t>Complete-</a:t>
            </a:r>
            <a:r>
              <a:rPr lang="en-US" b="0" i="0" dirty="0">
                <a:solidFill>
                  <a:srgbClr val="000000"/>
                </a:solidFill>
                <a:effectLst/>
              </a:rPr>
              <a:t> Min-Max algorithm is Complete. It will definitely find a solution (if exist), in the finite search tree.</a:t>
            </a:r>
          </a:p>
          <a:p>
            <a:pPr marL="285750" indent="-285750">
              <a:lnSpc>
                <a:spcPct val="150000"/>
              </a:lnSpc>
              <a:buFont typeface="Wingdings" panose="05000000000000000000" pitchFamily="2" charset="2"/>
              <a:buChar char="q"/>
            </a:pPr>
            <a:r>
              <a:rPr lang="en-US" b="1" i="0" dirty="0">
                <a:solidFill>
                  <a:srgbClr val="000000"/>
                </a:solidFill>
                <a:effectLst/>
              </a:rPr>
              <a:t>Optimal-</a:t>
            </a:r>
            <a:r>
              <a:rPr lang="en-US" b="0" i="0" dirty="0">
                <a:solidFill>
                  <a:srgbClr val="000000"/>
                </a:solidFill>
                <a:effectLst/>
              </a:rPr>
              <a:t> Min-Max algorithm is optimal if both opponents are playing optimally.</a:t>
            </a:r>
          </a:p>
          <a:p>
            <a:pPr marL="285750" indent="-285750">
              <a:lnSpc>
                <a:spcPct val="150000"/>
              </a:lnSpc>
              <a:buFont typeface="Wingdings" panose="05000000000000000000" pitchFamily="2" charset="2"/>
              <a:buChar char="q"/>
            </a:pPr>
            <a:r>
              <a:rPr lang="en-US" b="1" i="0" dirty="0">
                <a:solidFill>
                  <a:srgbClr val="000000"/>
                </a:solidFill>
                <a:effectLst/>
              </a:rPr>
              <a:t>Time complexity-</a:t>
            </a:r>
            <a:r>
              <a:rPr lang="en-US" b="0" i="0" dirty="0">
                <a:solidFill>
                  <a:srgbClr val="000000"/>
                </a:solidFill>
                <a:effectLst/>
              </a:rPr>
              <a:t> As it performs DFS for the game-tree, so the time complexity of Min-Max algorithm is </a:t>
            </a:r>
            <a:r>
              <a:rPr lang="en-US" b="1" i="0" dirty="0">
                <a:solidFill>
                  <a:srgbClr val="000000"/>
                </a:solidFill>
                <a:effectLst/>
              </a:rPr>
              <a:t>O(b</a:t>
            </a:r>
            <a:r>
              <a:rPr lang="en-US" b="1" i="0" baseline="30000" dirty="0">
                <a:solidFill>
                  <a:srgbClr val="000000"/>
                </a:solidFill>
                <a:effectLst/>
              </a:rPr>
              <a:t>m</a:t>
            </a:r>
            <a:r>
              <a:rPr lang="en-US" b="1" i="0" dirty="0">
                <a:solidFill>
                  <a:srgbClr val="000000"/>
                </a:solidFill>
                <a:effectLst/>
              </a:rPr>
              <a:t>)</a:t>
            </a:r>
            <a:r>
              <a:rPr lang="en-US" b="0" i="0" dirty="0">
                <a:solidFill>
                  <a:srgbClr val="000000"/>
                </a:solidFill>
                <a:effectLst/>
              </a:rPr>
              <a:t>, where b is branching factor of the game-tree, and m is the maximum depth of the tree.</a:t>
            </a:r>
          </a:p>
          <a:p>
            <a:pPr marL="285750" indent="-285750">
              <a:lnSpc>
                <a:spcPct val="150000"/>
              </a:lnSpc>
              <a:buFont typeface="Wingdings" panose="05000000000000000000" pitchFamily="2" charset="2"/>
              <a:buChar char="q"/>
            </a:pPr>
            <a:r>
              <a:rPr lang="en-US" b="1" i="0" dirty="0">
                <a:solidFill>
                  <a:srgbClr val="000000"/>
                </a:solidFill>
                <a:effectLst/>
              </a:rPr>
              <a:t>Space Complexity-</a:t>
            </a:r>
            <a:r>
              <a:rPr lang="en-US" b="0" i="0" dirty="0">
                <a:solidFill>
                  <a:srgbClr val="000000"/>
                </a:solidFill>
                <a:effectLst/>
              </a:rPr>
              <a:t> Space complexity of Mini-max algorithm is also similar to DFS which is </a:t>
            </a:r>
            <a:r>
              <a:rPr lang="en-US" b="1" i="0" dirty="0">
                <a:solidFill>
                  <a:srgbClr val="000000"/>
                </a:solidFill>
                <a:effectLst/>
              </a:rPr>
              <a:t>O(bm)</a:t>
            </a:r>
            <a:r>
              <a:rPr lang="en-US" b="0" i="0" dirty="0">
                <a:solidFill>
                  <a:srgbClr val="000000"/>
                </a:solidFill>
                <a:effectLst/>
              </a:rPr>
              <a:t>.</a:t>
            </a:r>
          </a:p>
          <a:p>
            <a:pPr>
              <a:lnSpc>
                <a:spcPct val="150000"/>
              </a:lnSpc>
            </a:pPr>
            <a:endParaRPr lang="en-US" b="0" i="0" dirty="0">
              <a:solidFill>
                <a:srgbClr val="000000"/>
              </a:solidFill>
              <a:effectLst/>
            </a:endParaRPr>
          </a:p>
          <a:p>
            <a:pPr>
              <a:lnSpc>
                <a:spcPct val="150000"/>
              </a:lnSpc>
            </a:pPr>
            <a:r>
              <a:rPr lang="en-US" sz="2400" b="1" i="0" dirty="0">
                <a:effectLst/>
              </a:rPr>
              <a:t>Limitation of the minimax Algorithm:</a:t>
            </a:r>
          </a:p>
          <a:p>
            <a:pPr>
              <a:lnSpc>
                <a:spcPct val="150000"/>
              </a:lnSpc>
            </a:pPr>
            <a:endParaRPr lang="en-US" sz="2400" b="1" i="0" dirty="0">
              <a:effectLst/>
            </a:endParaRPr>
          </a:p>
          <a:p>
            <a:pPr marL="285750" indent="-285750" algn="just">
              <a:lnSpc>
                <a:spcPct val="150000"/>
              </a:lnSpc>
              <a:buFont typeface="Wingdings" panose="05000000000000000000" pitchFamily="2" charset="2"/>
              <a:buChar char="q"/>
            </a:pPr>
            <a:r>
              <a:rPr lang="en-US" b="0" i="0" dirty="0">
                <a:solidFill>
                  <a:srgbClr val="333333"/>
                </a:solidFill>
                <a:effectLst/>
              </a:rPr>
              <a:t>The main drawback of the minimax algorithm is that it gets really slow for complex games such as Chess, go, etc.</a:t>
            </a:r>
          </a:p>
          <a:p>
            <a:pPr marL="285750" indent="-285750" algn="just">
              <a:lnSpc>
                <a:spcPct val="150000"/>
              </a:lnSpc>
              <a:buFont typeface="Wingdings" panose="05000000000000000000" pitchFamily="2" charset="2"/>
              <a:buChar char="q"/>
            </a:pPr>
            <a:r>
              <a:rPr lang="en-US" b="0" i="0" dirty="0">
                <a:solidFill>
                  <a:srgbClr val="333333"/>
                </a:solidFill>
                <a:effectLst/>
              </a:rPr>
              <a:t>This type of games has a huge branching factor, and the player has lots of choices to decide. </a:t>
            </a:r>
          </a:p>
          <a:p>
            <a:pPr marL="285750" indent="-285750" algn="just">
              <a:lnSpc>
                <a:spcPct val="150000"/>
              </a:lnSpc>
              <a:buFont typeface="Wingdings" panose="05000000000000000000" pitchFamily="2" charset="2"/>
              <a:buChar char="q"/>
            </a:pPr>
            <a:r>
              <a:rPr lang="en-US" b="0" i="0" dirty="0">
                <a:solidFill>
                  <a:srgbClr val="333333"/>
                </a:solidFill>
                <a:effectLst/>
              </a:rPr>
              <a:t>This limitation of the minimax algorithm can be improved from </a:t>
            </a:r>
            <a:r>
              <a:rPr lang="en-US" b="1" i="0" dirty="0">
                <a:solidFill>
                  <a:srgbClr val="333333"/>
                </a:solidFill>
                <a:effectLst/>
              </a:rPr>
              <a:t>alpha-beta pruning</a:t>
            </a:r>
            <a:r>
              <a:rPr lang="en-US" b="0" i="0" dirty="0">
                <a:solidFill>
                  <a:srgbClr val="333333"/>
                </a:solidFill>
                <a:effectLst/>
              </a:rPr>
              <a:t> which we have discussed in the next topic.</a:t>
            </a:r>
          </a:p>
          <a:p>
            <a:endParaRPr lang="en-IN" dirty="0"/>
          </a:p>
        </p:txBody>
      </p:sp>
    </p:spTree>
    <p:extLst>
      <p:ext uri="{BB962C8B-B14F-4D97-AF65-F5344CB8AC3E}">
        <p14:creationId xmlns:p14="http://schemas.microsoft.com/office/powerpoint/2010/main" val="2803327722"/>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a:extLst>
              <a:ext uri="{FF2B5EF4-FFF2-40B4-BE49-F238E27FC236}">
                <a16:creationId xmlns:a16="http://schemas.microsoft.com/office/drawing/2014/main" id="{B9739197-55EE-4BA0-B70F-AD89AA249E7B}"/>
              </a:ext>
            </a:extLst>
          </p:cNvPr>
          <p:cNvSpPr txBox="1"/>
          <p:nvPr/>
        </p:nvSpPr>
        <p:spPr>
          <a:xfrm>
            <a:off x="4535614" y="2659559"/>
            <a:ext cx="3120772" cy="769441"/>
          </a:xfrm>
          <a:prstGeom prst="rect">
            <a:avLst/>
          </a:prstGeom>
          <a:noFill/>
          <a:ln>
            <a:noFill/>
          </a:ln>
          <a:effectLst>
            <a:outerShdw blurRad="149987" dist="250190" dir="8460000" algn="ctr">
              <a:srgbClr val="000000">
                <a:alpha val="28000"/>
              </a:srgbClr>
            </a:outerShdw>
          </a:effectLst>
          <a:scene3d>
            <a:camera prst="orthographicFront">
              <a:rot lat="0" lon="0" rev="0"/>
            </a:camera>
            <a:lightRig rig="contrasting" dir="t">
              <a:rot lat="0" lon="0" rev="1500000"/>
            </a:lightRig>
          </a:scene3d>
          <a:sp3d prstMaterial="metal">
            <a:bevelT w="88900" h="88900"/>
          </a:sp3d>
        </p:spPr>
        <p:txBody>
          <a:bodyPr wrap="square" rtlCol="0">
            <a:spAutoFit/>
          </a:bodyPr>
          <a:lstStyle/>
          <a:p>
            <a:r>
              <a:rPr lang="en-IN" sz="4400" b="1" dirty="0"/>
              <a:t>THE END</a:t>
            </a:r>
            <a:r>
              <a:rPr lang="en-IN" sz="4400" dirty="0"/>
              <a:t> </a:t>
            </a:r>
          </a:p>
        </p:txBody>
      </p:sp>
    </p:spTree>
    <p:extLst>
      <p:ext uri="{BB962C8B-B14F-4D97-AF65-F5344CB8AC3E}">
        <p14:creationId xmlns:p14="http://schemas.microsoft.com/office/powerpoint/2010/main" val="1347885425"/>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1072</TotalTime>
  <Words>6441</Words>
  <Application>Microsoft Office PowerPoint</Application>
  <PresentationFormat>Widescreen</PresentationFormat>
  <Paragraphs>395</Paragraphs>
  <Slides>51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51</vt:i4>
      </vt:variant>
    </vt:vector>
  </HeadingPairs>
  <TitlesOfParts>
    <vt:vector size="59" baseType="lpstr">
      <vt:lpstr>Arial</vt:lpstr>
      <vt:lpstr>Calibri</vt:lpstr>
      <vt:lpstr>Calibri Light</vt:lpstr>
      <vt:lpstr>inter-bold</vt:lpstr>
      <vt:lpstr>inter-regular</vt:lpstr>
      <vt:lpstr>source-serif-pro</vt:lpstr>
      <vt:lpstr>Wingdings</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bhuvanesh chellvam</dc:creator>
  <cp:lastModifiedBy>RAKESH KC</cp:lastModifiedBy>
  <cp:revision>75</cp:revision>
  <dcterms:created xsi:type="dcterms:W3CDTF">2023-05-05T13:29:18Z</dcterms:created>
  <dcterms:modified xsi:type="dcterms:W3CDTF">2023-05-20T10:25:58Z</dcterms:modified>
</cp:coreProperties>
</file>